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oleObject" PartName="/ppt/embeddings/oleObject3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9144000"/>
  <p:notesSz cx="6888150" cy="10018700"/>
  <p:embeddedFontLst>
    <p:embeddedFont>
      <p:font typeface="Tahoma"/>
      <p:regular r:id="rId41"/>
      <p:bold r:id="rId42"/>
    </p:embeddedFont>
    <p:embeddedFont>
      <p:font typeface="Century Gothic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iseEgk6UwX2EmPMlqMg2ZPlNrc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2125E2-3869-4DA9-98E0-7419D8E68C6C}">
  <a:tblStyle styleId="{832125E2-3869-4DA9-98E0-7419D8E68C6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464CC1B8-F397-43B2-974F-2C3414A69F0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Tahoma-bold.fntdata"/><Relationship Id="rId41" Type="http://schemas.openxmlformats.org/officeDocument/2006/relationships/font" Target="fonts/Tahoma-regular.fntdata"/><Relationship Id="rId22" Type="http://schemas.openxmlformats.org/officeDocument/2006/relationships/slide" Target="slides/slide16.xml"/><Relationship Id="rId44" Type="http://schemas.openxmlformats.org/officeDocument/2006/relationships/font" Target="fonts/CenturyGothic-bold.fntdata"/><Relationship Id="rId21" Type="http://schemas.openxmlformats.org/officeDocument/2006/relationships/slide" Target="slides/slide15.xml"/><Relationship Id="rId43" Type="http://schemas.openxmlformats.org/officeDocument/2006/relationships/font" Target="fonts/CenturyGothic-regular.fntdata"/><Relationship Id="rId24" Type="http://schemas.openxmlformats.org/officeDocument/2006/relationships/slide" Target="slides/slide18.xml"/><Relationship Id="rId46" Type="http://schemas.openxmlformats.org/officeDocument/2006/relationships/font" Target="fonts/CenturyGothic-boldItalic.fntdata"/><Relationship Id="rId23" Type="http://schemas.openxmlformats.org/officeDocument/2006/relationships/slide" Target="slides/slide17.xml"/><Relationship Id="rId45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84871" cy="5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00" spcFirstLastPara="1" rIns="96600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01698" y="0"/>
            <a:ext cx="2984871" cy="5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00" spcFirstLastPara="1" rIns="96600" wrap="square" tIns="483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00" spcFirstLastPara="1" rIns="96600" wrap="square" tIns="483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00" spcFirstLastPara="1" rIns="96600" wrap="square" tIns="48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00" spcFirstLastPara="1" rIns="96600" wrap="square" tIns="483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0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0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70:notes"/>
          <p:cNvSpPr txBox="1"/>
          <p:nvPr>
            <p:ph idx="12" type="sldNum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00" spcFirstLastPara="1" rIns="96600" wrap="square" tIns="48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c42faf68_0_7:notes"/>
          <p:cNvSpPr/>
          <p:nvPr>
            <p:ph idx="2" type="sldImg"/>
          </p:nvPr>
        </p:nvSpPr>
        <p:spPr>
          <a:xfrm>
            <a:off x="1190625" y="1252538"/>
            <a:ext cx="45069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f7c42faf68_0_7:notes"/>
          <p:cNvSpPr txBox="1"/>
          <p:nvPr>
            <p:ph idx="1" type="body"/>
          </p:nvPr>
        </p:nvSpPr>
        <p:spPr>
          <a:xfrm>
            <a:off x="688817" y="4821506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f7c42faf68_0_7:notes"/>
          <p:cNvSpPr txBox="1"/>
          <p:nvPr>
            <p:ph idx="12" type="sldNum"/>
          </p:nvPr>
        </p:nvSpPr>
        <p:spPr>
          <a:xfrm>
            <a:off x="3901698" y="9516039"/>
            <a:ext cx="2985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00" spcFirstLastPara="1" rIns="96600" wrap="square" tIns="48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3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3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4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4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5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5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6:notes"/>
          <p:cNvSpPr txBox="1"/>
          <p:nvPr>
            <p:ph idx="12" type="sldNum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00" spcFirstLastPara="1" rIns="96600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76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76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7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7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8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8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9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9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0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0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1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1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2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2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3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3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4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4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5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5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6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6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7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7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8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8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9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9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0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0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1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1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2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2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3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3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4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4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5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5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6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6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7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7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00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0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1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1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02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2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03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3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4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4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05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05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7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57:notes"/>
          <p:cNvSpPr txBox="1"/>
          <p:nvPr>
            <p:ph idx="1" type="body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  <a:noFill/>
          <a:ln>
            <a:noFill/>
          </a:ln>
        </p:spPr>
        <p:txBody>
          <a:bodyPr anchorCtr="0" anchor="t" bIns="48300" lIns="96600" spcFirstLastPara="1" rIns="96600" wrap="square" tIns="4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57:notes"/>
          <p:cNvSpPr txBox="1"/>
          <p:nvPr>
            <p:ph idx="12" type="sldNum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8300" lIns="96600" spcFirstLastPara="1" rIns="96600" wrap="square" tIns="48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5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，文字及物件" type="txAndObj">
  <p:cSld name="TEXT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6"/>
          <p:cNvSpPr txBox="1"/>
          <p:nvPr>
            <p:ph type="title"/>
          </p:nvPr>
        </p:nvSpPr>
        <p:spPr>
          <a:xfrm>
            <a:off x="1150939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6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6"/>
          <p:cNvSpPr txBox="1"/>
          <p:nvPr>
            <p:ph idx="2" type="body"/>
          </p:nvPr>
        </p:nvSpPr>
        <p:spPr>
          <a:xfrm>
            <a:off x="51450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0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0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6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60"/>
          <p:cNvSpPr txBox="1"/>
          <p:nvPr/>
        </p:nvSpPr>
        <p:spPr>
          <a:xfrm>
            <a:off x="3371010" y="6542854"/>
            <a:ext cx="2401980" cy="230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ct val="100000"/>
              <a:buFont typeface="Arial"/>
              <a:buNone/>
            </a:pPr>
            <a:r>
              <a:rPr b="0" i="0" lang="en-US" sz="20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Prof. Suraj Bhoyar, 2018</a:t>
            </a:r>
            <a:endParaRPr b="0" i="0" sz="20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1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1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6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2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2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3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3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3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63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6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6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7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6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6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8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6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9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9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6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13.png"/><Relationship Id="rId7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12.png"/><Relationship Id="rId7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5" name="Google Shape;95;p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4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0"/>
          <p:cNvSpPr txBox="1"/>
          <p:nvPr/>
        </p:nvSpPr>
        <p:spPr>
          <a:xfrm>
            <a:off x="1287262" y="166260"/>
            <a:ext cx="4928058" cy="660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  <a:b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0"/>
          <p:cNvSpPr/>
          <p:nvPr/>
        </p:nvSpPr>
        <p:spPr>
          <a:xfrm>
            <a:off x="197794" y="1322773"/>
            <a:ext cx="1775534" cy="182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0"/>
          <p:cNvSpPr txBox="1"/>
          <p:nvPr/>
        </p:nvSpPr>
        <p:spPr>
          <a:xfrm>
            <a:off x="450376" y="1460311"/>
            <a:ext cx="83387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0"/>
          <p:cNvSpPr/>
          <p:nvPr/>
        </p:nvSpPr>
        <p:spPr>
          <a:xfrm>
            <a:off x="4250437" y="3244334"/>
            <a:ext cx="6431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PLD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70"/>
          <p:cNvSpPr txBox="1"/>
          <p:nvPr/>
        </p:nvSpPr>
        <p:spPr>
          <a:xfrm>
            <a:off x="628650" y="1320476"/>
            <a:ext cx="76485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 Year Engineering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23CSE3011 - </a:t>
            </a:r>
            <a:r>
              <a:rPr b="1" i="0" lang="en-US" sz="2800" u="none" cap="none" strike="noStrike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Analysis of Algorithms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- T.Y. (SEM-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- IV 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Backtracking &amp; Branch-n-Bound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0"/>
          <p:cNvSpPr txBox="1"/>
          <p:nvPr/>
        </p:nvSpPr>
        <p:spPr>
          <a:xfrm>
            <a:off x="1973325" y="5402056"/>
            <a:ext cx="4648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 202</a:t>
            </a:r>
            <a:r>
              <a:rPr lang="en-US" sz="2800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0" lang="en-US" sz="2800" u="none" cap="none" strike="noStrike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-202</a:t>
            </a:r>
            <a:r>
              <a:rPr lang="en-US" sz="2800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="0" i="0" lang="en-US" sz="2800" u="none" cap="none" strike="noStrike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0" lang="en-US" sz="2800" u="none" cap="none" strike="noStrike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SEM-</a:t>
            </a:r>
            <a:r>
              <a:rPr b="1" lang="en-US" sz="2800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f7c42faf68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f7c42faf68_0_7"/>
          <p:cNvSpPr txBox="1"/>
          <p:nvPr/>
        </p:nvSpPr>
        <p:spPr>
          <a:xfrm>
            <a:off x="250527" y="1454860"/>
            <a:ext cx="8769300" cy="5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9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rPr b="1" lang="en-US" sz="2253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- IV  SYLLABUS</a:t>
            </a:r>
            <a:endParaRPr b="1" sz="2253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b="1" sz="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t/>
            </a:r>
            <a:endParaRPr b="1" sz="19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Backtracking: </a:t>
            </a:r>
            <a:r>
              <a:rPr lang="en-US" sz="21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Principle, algorithms: n-queen problem introduction, 4-queen problem solving using state space tree, sum of subsets problem introduction and problem solving using state space tree</a:t>
            </a:r>
            <a:endParaRPr sz="21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Branch-and-Bound: </a:t>
            </a:r>
            <a:r>
              <a:rPr lang="en-US" sz="21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Principle, algorithms: Branch and bound strategies FIFO, LIFO and LC approaches, TSP using branch and bound technique, knapsack problem using branch and bound technique</a:t>
            </a:r>
            <a:endParaRPr sz="21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397" lvl="0" marL="525145" marR="59689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525145" marR="59689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g3f7c42faf68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f7c42faf68_0_7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3"/>
          <p:cNvSpPr txBox="1"/>
          <p:nvPr>
            <p:ph idx="1" type="body"/>
          </p:nvPr>
        </p:nvSpPr>
        <p:spPr>
          <a:xfrm>
            <a:off x="450150" y="1700375"/>
            <a:ext cx="8480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Backtracking is a technique used to solve problems with a large search space, by systematically trying and eliminating possibilities.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standard example of backtracking would be going through a maze. 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At some point, you might have two options of which direction to go: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8" name="Google Shape;118;p73"/>
          <p:cNvSpPr txBox="1"/>
          <p:nvPr>
            <p:ph type="title"/>
          </p:nvPr>
        </p:nvSpPr>
        <p:spPr>
          <a:xfrm>
            <a:off x="678350" y="963351"/>
            <a:ext cx="7886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7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BACKTRACKING: PRINCIPLE</a:t>
            </a:r>
            <a:endParaRPr b="0" i="0" sz="27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9" name="Google Shape;119;p73"/>
          <p:cNvGrpSpPr/>
          <p:nvPr/>
        </p:nvGrpSpPr>
        <p:grpSpPr>
          <a:xfrm>
            <a:off x="3532028" y="4639800"/>
            <a:ext cx="2518161" cy="1871696"/>
            <a:chOff x="4317716" y="3143603"/>
            <a:chExt cx="4554600" cy="3139209"/>
          </a:xfrm>
        </p:grpSpPr>
        <p:grpSp>
          <p:nvGrpSpPr>
            <p:cNvPr id="120" name="Google Shape;120;p73"/>
            <p:cNvGrpSpPr/>
            <p:nvPr/>
          </p:nvGrpSpPr>
          <p:grpSpPr>
            <a:xfrm>
              <a:off x="4317716" y="3143603"/>
              <a:ext cx="4554600" cy="3139209"/>
              <a:chOff x="1620881" y="2802081"/>
              <a:chExt cx="4425132" cy="3427314"/>
            </a:xfrm>
          </p:grpSpPr>
          <p:pic>
            <p:nvPicPr>
              <p:cNvPr descr="maze1.png" id="121" name="Google Shape;121;p7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696592" y="2802081"/>
                <a:ext cx="3349420" cy="34273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" name="Google Shape;122;p73"/>
              <p:cNvSpPr txBox="1"/>
              <p:nvPr/>
            </p:nvSpPr>
            <p:spPr>
              <a:xfrm>
                <a:off x="1620881" y="3448485"/>
                <a:ext cx="1485171" cy="537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n-US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Junction</a:t>
                </a:r>
                <a:endParaRPr/>
              </a:p>
            </p:txBody>
          </p:sp>
          <p:cxnSp>
            <p:nvCxnSpPr>
              <p:cNvPr id="123" name="Google Shape;123;p73"/>
              <p:cNvCxnSpPr/>
              <p:nvPr/>
            </p:nvCxnSpPr>
            <p:spPr>
              <a:xfrm flipH="1" rot="10800000">
                <a:off x="2692964" y="3226048"/>
                <a:ext cx="952457" cy="326667"/>
              </a:xfrm>
              <a:prstGeom prst="straightConnector1">
                <a:avLst/>
              </a:prstGeom>
              <a:noFill/>
              <a:ln cap="flat" cmpd="sng" w="31750">
                <a:solidFill>
                  <a:srgbClr val="FF000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</p:grpSp>
        <p:sp>
          <p:nvSpPr>
            <p:cNvPr id="124" name="Google Shape;124;p73"/>
            <p:cNvSpPr txBox="1"/>
            <p:nvPr/>
          </p:nvSpPr>
          <p:spPr>
            <a:xfrm rot="-5400000">
              <a:off x="6368739" y="5022520"/>
              <a:ext cx="652315" cy="230832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525" u="none" cap="none" strike="noStrike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Portion A</a:t>
              </a:r>
              <a:endParaRPr/>
            </a:p>
          </p:txBody>
        </p:sp>
        <p:sp>
          <p:nvSpPr>
            <p:cNvPr id="125" name="Google Shape;125;p73"/>
            <p:cNvSpPr txBox="1"/>
            <p:nvPr/>
          </p:nvSpPr>
          <p:spPr>
            <a:xfrm>
              <a:off x="6483875" y="3429000"/>
              <a:ext cx="668265" cy="230832"/>
            </a:xfrm>
            <a:prstGeom prst="rect">
              <a:avLst/>
            </a:prstGeom>
            <a:solidFill>
              <a:schemeClr val="lt1">
                <a:alpha val="7607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525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Portion B</a:t>
              </a:r>
              <a:endParaRPr/>
            </a:p>
          </p:txBody>
        </p:sp>
      </p:grpSp>
      <p:grpSp>
        <p:nvGrpSpPr>
          <p:cNvPr id="126" name="Google Shape;126;p73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127" name="Google Shape;127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73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4"/>
          <p:cNvSpPr txBox="1"/>
          <p:nvPr>
            <p:ph idx="1" type="body"/>
          </p:nvPr>
        </p:nvSpPr>
        <p:spPr>
          <a:xfrm>
            <a:off x="450154" y="1700375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One strategy would be to try going through Portion A of the maze.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If you get stuck before you find your way out, then you "backtrack" to the junction.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At this point in time you know that Portion A will NOT lead you out of the maze,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So you then start searching in Portion B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4" name="Google Shape;134;p74"/>
          <p:cNvSpPr txBox="1"/>
          <p:nvPr>
            <p:ph type="title"/>
          </p:nvPr>
        </p:nvSpPr>
        <p:spPr>
          <a:xfrm>
            <a:off x="541175" y="951178"/>
            <a:ext cx="75729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7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BACKTRACKING </a:t>
            </a:r>
            <a:r>
              <a:rPr b="1" i="1" lang="en-US" sz="27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</a:t>
            </a:r>
            <a:r>
              <a:rPr b="1" i="1"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ont</a:t>
            </a:r>
            <a:r>
              <a:rPr b="1" i="1" lang="en-US" sz="27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…]</a:t>
            </a:r>
            <a:endParaRPr b="0" i="0" sz="27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5" name="Google Shape;135;p74"/>
          <p:cNvGrpSpPr/>
          <p:nvPr/>
        </p:nvGrpSpPr>
        <p:grpSpPr>
          <a:xfrm>
            <a:off x="2627025" y="4808404"/>
            <a:ext cx="3300811" cy="1605941"/>
            <a:chOff x="4317716" y="3143603"/>
            <a:chExt cx="5435884" cy="3139209"/>
          </a:xfrm>
        </p:grpSpPr>
        <p:grpSp>
          <p:nvGrpSpPr>
            <p:cNvPr id="136" name="Google Shape;136;p74"/>
            <p:cNvGrpSpPr/>
            <p:nvPr/>
          </p:nvGrpSpPr>
          <p:grpSpPr>
            <a:xfrm>
              <a:off x="4317716" y="3143603"/>
              <a:ext cx="5435884" cy="3139209"/>
              <a:chOff x="1620881" y="2802081"/>
              <a:chExt cx="5281364" cy="3427314"/>
            </a:xfrm>
          </p:grpSpPr>
          <p:pic>
            <p:nvPicPr>
              <p:cNvPr descr="maze1.png" id="137" name="Google Shape;137;p7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52825" y="2802081"/>
                <a:ext cx="3349420" cy="34273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8" name="Google Shape;138;p74"/>
              <p:cNvSpPr txBox="1"/>
              <p:nvPr/>
            </p:nvSpPr>
            <p:spPr>
              <a:xfrm>
                <a:off x="1620881" y="3448485"/>
                <a:ext cx="1454730" cy="62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n-US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Junction</a:t>
                </a:r>
                <a:endParaRPr/>
              </a:p>
            </p:txBody>
          </p:sp>
          <p:cxnSp>
            <p:nvCxnSpPr>
              <p:cNvPr id="139" name="Google Shape;139;p74"/>
              <p:cNvCxnSpPr/>
              <p:nvPr/>
            </p:nvCxnSpPr>
            <p:spPr>
              <a:xfrm flipH="1" rot="10800000">
                <a:off x="2692964" y="3226048"/>
                <a:ext cx="952457" cy="326667"/>
              </a:xfrm>
              <a:prstGeom prst="straightConnector1">
                <a:avLst/>
              </a:prstGeom>
              <a:noFill/>
              <a:ln cap="flat" cmpd="sng" w="31750">
                <a:solidFill>
                  <a:srgbClr val="FF000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</p:grpSp>
        <p:sp>
          <p:nvSpPr>
            <p:cNvPr id="140" name="Google Shape;140;p74"/>
            <p:cNvSpPr txBox="1"/>
            <p:nvPr/>
          </p:nvSpPr>
          <p:spPr>
            <a:xfrm rot="-5400000">
              <a:off x="6316225" y="5024886"/>
              <a:ext cx="757341" cy="226101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525" u="none" cap="none" strike="noStrike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Portion A</a:t>
              </a:r>
              <a:endParaRPr/>
            </a:p>
          </p:txBody>
        </p:sp>
        <p:sp>
          <p:nvSpPr>
            <p:cNvPr id="141" name="Google Shape;141;p74"/>
            <p:cNvSpPr txBox="1"/>
            <p:nvPr/>
          </p:nvSpPr>
          <p:spPr>
            <a:xfrm>
              <a:off x="6483874" y="3429000"/>
              <a:ext cx="668265" cy="267997"/>
            </a:xfrm>
            <a:prstGeom prst="rect">
              <a:avLst/>
            </a:prstGeom>
            <a:solidFill>
              <a:schemeClr val="lt1">
                <a:alpha val="7607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525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Portion B</a:t>
              </a:r>
              <a:endParaRPr/>
            </a:p>
          </p:txBody>
        </p:sp>
      </p:grpSp>
      <p:grpSp>
        <p:nvGrpSpPr>
          <p:cNvPr id="142" name="Google Shape;142;p74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143" name="Google Shape;143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74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5"/>
          <p:cNvSpPr txBox="1"/>
          <p:nvPr>
            <p:ph type="title"/>
          </p:nvPr>
        </p:nvSpPr>
        <p:spPr>
          <a:xfrm>
            <a:off x="628650" y="1131095"/>
            <a:ext cx="7886700" cy="727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BACKTRACKING </a:t>
            </a:r>
            <a:r>
              <a:rPr b="1" i="1"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[Cont…]</a:t>
            </a:r>
            <a:endParaRPr sz="2400"/>
          </a:p>
        </p:txBody>
      </p:sp>
      <p:sp>
        <p:nvSpPr>
          <p:cNvPr id="150" name="Google Shape;150;p75"/>
          <p:cNvSpPr txBox="1"/>
          <p:nvPr>
            <p:ph idx="1" type="body"/>
          </p:nvPr>
        </p:nvSpPr>
        <p:spPr>
          <a:xfrm>
            <a:off x="628650" y="1778375"/>
            <a:ext cx="8191800" cy="3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6195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Times New Roman"/>
              <a:buChar char="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Clearly, at a single junction you could have even more than 2 choices.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Times New Roman"/>
              <a:buChar char="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The backtracking strategy says to try each choice, one after the other,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if you ever get stuck, 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"backtrack"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to the junction and try the next choice.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Times New Roman"/>
              <a:buChar char="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If you try all choices and never found a way out, then there is no solution to the maze.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75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152" name="Google Shape;152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75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4" name="Google Shape;154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4851" y="4744576"/>
            <a:ext cx="1365553" cy="1435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6"/>
          <p:cNvSpPr txBox="1"/>
          <p:nvPr>
            <p:ph type="title"/>
          </p:nvPr>
        </p:nvSpPr>
        <p:spPr>
          <a:xfrm>
            <a:off x="685800" y="109238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0606"/>
              <a:buNone/>
            </a:pPr>
            <a:br>
              <a:rPr lang="en-US" sz="3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BACKTRACKING </a:t>
            </a:r>
            <a:r>
              <a:rPr i="1"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[CONT…]</a:t>
            </a:r>
            <a:br>
              <a:rPr lang="en-US" sz="3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76"/>
          <p:cNvSpPr txBox="1"/>
          <p:nvPr/>
        </p:nvSpPr>
        <p:spPr>
          <a:xfrm>
            <a:off x="1543050" y="3657600"/>
            <a:ext cx="74295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/>
          </a:p>
        </p:txBody>
      </p:sp>
      <p:cxnSp>
        <p:nvCxnSpPr>
          <p:cNvPr id="162" name="Google Shape;162;p76"/>
          <p:cNvCxnSpPr/>
          <p:nvPr/>
        </p:nvCxnSpPr>
        <p:spPr>
          <a:xfrm>
            <a:off x="2225280" y="3829050"/>
            <a:ext cx="569119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163" name="Google Shape;163;p76"/>
          <p:cNvSpPr txBox="1"/>
          <p:nvPr/>
        </p:nvSpPr>
        <p:spPr>
          <a:xfrm>
            <a:off x="2800350" y="3657600"/>
            <a:ext cx="34290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cxnSp>
        <p:nvCxnSpPr>
          <p:cNvPr id="164" name="Google Shape;164;p76"/>
          <p:cNvCxnSpPr/>
          <p:nvPr/>
        </p:nvCxnSpPr>
        <p:spPr>
          <a:xfrm flipH="1" rot="10800000">
            <a:off x="2971800" y="2743200"/>
            <a:ext cx="685800" cy="9144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165" name="Google Shape;165;p76"/>
          <p:cNvCxnSpPr/>
          <p:nvPr/>
        </p:nvCxnSpPr>
        <p:spPr>
          <a:xfrm>
            <a:off x="3028950" y="3829050"/>
            <a:ext cx="5715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166" name="Google Shape;166;p76"/>
          <p:cNvSpPr txBox="1"/>
          <p:nvPr/>
        </p:nvSpPr>
        <p:spPr>
          <a:xfrm>
            <a:off x="3657600" y="2571750"/>
            <a:ext cx="28575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cxnSp>
        <p:nvCxnSpPr>
          <p:cNvPr id="167" name="Google Shape;167;p76"/>
          <p:cNvCxnSpPr/>
          <p:nvPr/>
        </p:nvCxnSpPr>
        <p:spPr>
          <a:xfrm flipH="1" rot="10800000">
            <a:off x="3886200" y="2400300"/>
            <a:ext cx="628650" cy="2286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168" name="Google Shape;168;p76"/>
          <p:cNvCxnSpPr/>
          <p:nvPr/>
        </p:nvCxnSpPr>
        <p:spPr>
          <a:xfrm>
            <a:off x="3886200" y="2800350"/>
            <a:ext cx="514350" cy="17145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169" name="Google Shape;169;p76"/>
          <p:cNvSpPr txBox="1"/>
          <p:nvPr/>
        </p:nvSpPr>
        <p:spPr>
          <a:xfrm>
            <a:off x="4400550" y="2857500"/>
            <a:ext cx="120015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 end</a:t>
            </a:r>
            <a:endParaRPr/>
          </a:p>
        </p:txBody>
      </p:sp>
      <p:sp>
        <p:nvSpPr>
          <p:cNvPr id="170" name="Google Shape;170;p76"/>
          <p:cNvSpPr txBox="1"/>
          <p:nvPr/>
        </p:nvSpPr>
        <p:spPr>
          <a:xfrm>
            <a:off x="4514850" y="2228850"/>
            <a:ext cx="120015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 end</a:t>
            </a:r>
            <a:endParaRPr/>
          </a:p>
        </p:txBody>
      </p:sp>
      <p:cxnSp>
        <p:nvCxnSpPr>
          <p:cNvPr id="171" name="Google Shape;171;p76"/>
          <p:cNvCxnSpPr/>
          <p:nvPr/>
        </p:nvCxnSpPr>
        <p:spPr>
          <a:xfrm flipH="1">
            <a:off x="3943350" y="2514600"/>
            <a:ext cx="628650" cy="2286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172" name="Google Shape;172;p76"/>
          <p:cNvCxnSpPr/>
          <p:nvPr/>
        </p:nvCxnSpPr>
        <p:spPr>
          <a:xfrm rot="10800000">
            <a:off x="3829050" y="2914650"/>
            <a:ext cx="571500" cy="17145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173" name="Google Shape;173;p76"/>
          <p:cNvCxnSpPr/>
          <p:nvPr/>
        </p:nvCxnSpPr>
        <p:spPr>
          <a:xfrm flipH="1">
            <a:off x="3086100" y="2971800"/>
            <a:ext cx="571500" cy="74295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174" name="Google Shape;174;p76"/>
          <p:cNvSpPr txBox="1"/>
          <p:nvPr/>
        </p:nvSpPr>
        <p:spPr>
          <a:xfrm>
            <a:off x="3600450" y="3657600"/>
            <a:ext cx="34290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cxnSp>
        <p:nvCxnSpPr>
          <p:cNvPr id="175" name="Google Shape;175;p76"/>
          <p:cNvCxnSpPr/>
          <p:nvPr/>
        </p:nvCxnSpPr>
        <p:spPr>
          <a:xfrm flipH="1" rot="10800000">
            <a:off x="3886200" y="3600450"/>
            <a:ext cx="514350" cy="17145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176" name="Google Shape;176;p76"/>
          <p:cNvSpPr txBox="1"/>
          <p:nvPr/>
        </p:nvSpPr>
        <p:spPr>
          <a:xfrm>
            <a:off x="4400550" y="3486150"/>
            <a:ext cx="34290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cxnSp>
        <p:nvCxnSpPr>
          <p:cNvPr id="177" name="Google Shape;177;p76"/>
          <p:cNvCxnSpPr/>
          <p:nvPr/>
        </p:nvCxnSpPr>
        <p:spPr>
          <a:xfrm flipH="1" rot="10800000">
            <a:off x="4629150" y="3200400"/>
            <a:ext cx="1143000" cy="28575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178" name="Google Shape;178;p76"/>
          <p:cNvCxnSpPr/>
          <p:nvPr/>
        </p:nvCxnSpPr>
        <p:spPr>
          <a:xfrm>
            <a:off x="4686300" y="3657600"/>
            <a:ext cx="1028700" cy="2286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179" name="Google Shape;179;p76"/>
          <p:cNvSpPr txBox="1"/>
          <p:nvPr/>
        </p:nvSpPr>
        <p:spPr>
          <a:xfrm>
            <a:off x="5657850" y="3771900"/>
            <a:ext cx="120015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 end</a:t>
            </a:r>
            <a:endParaRPr/>
          </a:p>
        </p:txBody>
      </p:sp>
      <p:sp>
        <p:nvSpPr>
          <p:cNvPr id="180" name="Google Shape;180;p76"/>
          <p:cNvSpPr txBox="1"/>
          <p:nvPr/>
        </p:nvSpPr>
        <p:spPr>
          <a:xfrm>
            <a:off x="5772150" y="3028950"/>
            <a:ext cx="120015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 end</a:t>
            </a:r>
            <a:endParaRPr/>
          </a:p>
        </p:txBody>
      </p:sp>
      <p:cxnSp>
        <p:nvCxnSpPr>
          <p:cNvPr id="181" name="Google Shape;181;p76"/>
          <p:cNvCxnSpPr/>
          <p:nvPr/>
        </p:nvCxnSpPr>
        <p:spPr>
          <a:xfrm flipH="1">
            <a:off x="4686300" y="3314700"/>
            <a:ext cx="1143000" cy="28575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182" name="Google Shape;182;p76"/>
          <p:cNvCxnSpPr/>
          <p:nvPr/>
        </p:nvCxnSpPr>
        <p:spPr>
          <a:xfrm rot="10800000">
            <a:off x="4629150" y="3771900"/>
            <a:ext cx="971550" cy="2286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183" name="Google Shape;183;p76"/>
          <p:cNvCxnSpPr/>
          <p:nvPr/>
        </p:nvCxnSpPr>
        <p:spPr>
          <a:xfrm flipH="1">
            <a:off x="3886200" y="3714750"/>
            <a:ext cx="514350" cy="17145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184" name="Google Shape;184;p76"/>
          <p:cNvCxnSpPr/>
          <p:nvPr/>
        </p:nvCxnSpPr>
        <p:spPr>
          <a:xfrm>
            <a:off x="3771900" y="4000500"/>
            <a:ext cx="571500" cy="5715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185" name="Google Shape;185;p76"/>
          <p:cNvSpPr txBox="1"/>
          <p:nvPr/>
        </p:nvSpPr>
        <p:spPr>
          <a:xfrm>
            <a:off x="4286250" y="4457700"/>
            <a:ext cx="34290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cxnSp>
        <p:nvCxnSpPr>
          <p:cNvPr id="186" name="Google Shape;186;p76"/>
          <p:cNvCxnSpPr/>
          <p:nvPr/>
        </p:nvCxnSpPr>
        <p:spPr>
          <a:xfrm flipH="1" rot="10800000">
            <a:off x="4514850" y="4286250"/>
            <a:ext cx="628650" cy="2286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cxnSp>
        <p:nvCxnSpPr>
          <p:cNvPr id="187" name="Google Shape;187;p76"/>
          <p:cNvCxnSpPr/>
          <p:nvPr/>
        </p:nvCxnSpPr>
        <p:spPr>
          <a:xfrm>
            <a:off x="4514850" y="4686300"/>
            <a:ext cx="571500" cy="28575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188" name="Google Shape;188;p76"/>
          <p:cNvSpPr txBox="1"/>
          <p:nvPr/>
        </p:nvSpPr>
        <p:spPr>
          <a:xfrm>
            <a:off x="5029200" y="4857750"/>
            <a:ext cx="120015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success!</a:t>
            </a:r>
            <a:endParaRPr b="0" i="0" sz="10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76"/>
          <p:cNvSpPr txBox="1"/>
          <p:nvPr/>
        </p:nvSpPr>
        <p:spPr>
          <a:xfrm>
            <a:off x="5143500" y="4114800"/>
            <a:ext cx="120015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 end</a:t>
            </a:r>
            <a:endParaRPr/>
          </a:p>
        </p:txBody>
      </p:sp>
      <p:cxnSp>
        <p:nvCxnSpPr>
          <p:cNvPr id="190" name="Google Shape;190;p76"/>
          <p:cNvCxnSpPr/>
          <p:nvPr/>
        </p:nvCxnSpPr>
        <p:spPr>
          <a:xfrm flipH="1">
            <a:off x="4572000" y="4400550"/>
            <a:ext cx="628650" cy="2286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lg" w="lg" type="triangle"/>
          </a:ln>
        </p:spPr>
      </p:cxnSp>
      <p:grpSp>
        <p:nvGrpSpPr>
          <p:cNvPr id="191" name="Google Shape;191;p76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192" name="Google Shape;192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76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7"/>
          <p:cNvSpPr txBox="1"/>
          <p:nvPr>
            <p:ph type="title"/>
          </p:nvPr>
        </p:nvSpPr>
        <p:spPr>
          <a:xfrm>
            <a:off x="628650" y="77647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4 - Outline</a:t>
            </a:r>
            <a:endParaRPr sz="27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7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Backtracking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b="1" lang="en-US" sz="1950"/>
              <a:t>n-queen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/>
              <a:t>Sum of subsets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/>
              <a:t>Branch-n-Bound: Principle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/>
              <a:t>Strategies: FIFO, LIFO and LC approaches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/>
              <a:t>Travelling Salesperson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900"/>
              </a:spcAft>
              <a:buSzPts val="1800"/>
              <a:buChar char="•"/>
            </a:pPr>
            <a:r>
              <a:rPr lang="en-US" sz="1950"/>
              <a:t>Knapsack problem</a:t>
            </a:r>
            <a:endParaRPr/>
          </a:p>
        </p:txBody>
      </p:sp>
      <p:grpSp>
        <p:nvGrpSpPr>
          <p:cNvPr id="200" name="Google Shape;200;p77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201" name="Google Shape;201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77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8"/>
          <p:cNvSpPr txBox="1"/>
          <p:nvPr>
            <p:ph type="title"/>
          </p:nvPr>
        </p:nvSpPr>
        <p:spPr>
          <a:xfrm>
            <a:off x="628650" y="1015220"/>
            <a:ext cx="75096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6347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N-QUEEN PROBLEM</a:t>
            </a:r>
            <a:endParaRPr b="1"/>
          </a:p>
        </p:txBody>
      </p:sp>
      <p:sp>
        <p:nvSpPr>
          <p:cNvPr id="208" name="Google Shape;208;p78"/>
          <p:cNvSpPr txBox="1"/>
          <p:nvPr>
            <p:ph idx="1" type="body"/>
          </p:nvPr>
        </p:nvSpPr>
        <p:spPr>
          <a:xfrm>
            <a:off x="628650" y="1756825"/>
            <a:ext cx="8301600" cy="4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Times New Roman"/>
              <a:buChar char="➢"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Problem surfaced in 1848 by chess player Max Bezzel as 8 queens 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(regulation board size)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Times New Roman"/>
              <a:buChar char="➢"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Premise is to place N queens on N x N board so that they are 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non-attacking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Times New Roman"/>
              <a:buChar char="➢"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A queen is one of six different chess pieces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Times New Roman"/>
              <a:buChar char="➢"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It can move forward &amp; back, side to side and to its diagonal and 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anti-diagonals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2050"/>
              <a:buChar char="➢"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The problem: given N, find all solutions of queen sets and return 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either the number of solutions and/or the patterned boards.</a:t>
            </a:r>
            <a:r>
              <a:rPr lang="en-US" sz="2050"/>
              <a:t> </a:t>
            </a:r>
            <a:endParaRPr sz="2050"/>
          </a:p>
          <a:p>
            <a:pPr indent="-228600" lvl="0" marL="457200" rtl="0" algn="just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882"/>
          </a:p>
        </p:txBody>
      </p:sp>
      <p:grpSp>
        <p:nvGrpSpPr>
          <p:cNvPr id="209" name="Google Shape;209;p78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210" name="Google Shape;210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78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9"/>
          <p:cNvSpPr txBox="1"/>
          <p:nvPr>
            <p:ph type="title"/>
          </p:nvPr>
        </p:nvSpPr>
        <p:spPr>
          <a:xfrm>
            <a:off x="628650" y="948280"/>
            <a:ext cx="75462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6347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ALGORITHM: N-QUEEN PROBLEM</a:t>
            </a:r>
            <a:endParaRPr b="1"/>
          </a:p>
        </p:txBody>
      </p:sp>
      <p:sp>
        <p:nvSpPr>
          <p:cNvPr id="217" name="Google Shape;217;p7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 this problem, a chessboard will be given of 4 X 4 (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i.e., 16 cells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For 4 X 4 chessboard, we have 4 queens to place in the chessboard.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So, just like in the game of chess, a queen can move in horizontal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i.e., row-wise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), vertical (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i.e., column-wise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) and diagonal direction.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So, according to our problem, we have to place all the 4 queens in such a way that no two queens are under attack.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When two queens are in the same row/column/diagonal, we call they are under attack.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590"/>
          </a:p>
        </p:txBody>
      </p:sp>
      <p:grpSp>
        <p:nvGrpSpPr>
          <p:cNvPr id="218" name="Google Shape;218;p79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219" name="Google Shape;219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79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Generate a list of free cells on the next row.	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If no free cells, backtrack (step 2 of previous row)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Place a queen on next free cell &amp; proceed with step 1 for next row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If no next row, proceed to step 3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At this point, you have filled all rows, so count/store as a solution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226" name="Google Shape;226;p80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227" name="Google Shape;227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80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" name="Google Shape;229;p80"/>
          <p:cNvSpPr txBox="1"/>
          <p:nvPr>
            <p:ph type="title"/>
          </p:nvPr>
        </p:nvSpPr>
        <p:spPr>
          <a:xfrm>
            <a:off x="628650" y="948280"/>
            <a:ext cx="75462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6347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ALGORITHM: N-QUEEN PROBLEM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1"/>
          <p:cNvSpPr txBox="1"/>
          <p:nvPr>
            <p:ph type="title"/>
          </p:nvPr>
        </p:nvSpPr>
        <p:spPr>
          <a:xfrm>
            <a:off x="628650" y="1005400"/>
            <a:ext cx="73878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6347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ALGORITHM: </a:t>
            </a:r>
            <a:r>
              <a:rPr b="1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/>
          </a:p>
        </p:txBody>
      </p:sp>
      <p:sp>
        <p:nvSpPr>
          <p:cNvPr id="235" name="Google Shape;235;p81"/>
          <p:cNvSpPr txBox="1"/>
          <p:nvPr>
            <p:ph idx="1" type="body"/>
          </p:nvPr>
        </p:nvSpPr>
        <p:spPr>
          <a:xfrm>
            <a:off x="628650" y="2226477"/>
            <a:ext cx="7886700" cy="4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Total no. of ways by which we can arrange all the four queens in the 16 cells are </a:t>
            </a:r>
            <a:r>
              <a:rPr baseline="30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ways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36" name="Google Shape;236;p81"/>
          <p:cNvGraphicFramePr/>
          <p:nvPr/>
        </p:nvGraphicFramePr>
        <p:xfrm>
          <a:off x="3496596" y="37583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{832125E2-3869-4DA9-98E0-7419D8E68C6C}</a:tableStyleId>
              </a:tblPr>
              <a:tblGrid>
                <a:gridCol w="537700"/>
                <a:gridCol w="537700"/>
                <a:gridCol w="537700"/>
                <a:gridCol w="537700"/>
              </a:tblGrid>
              <a:tr h="52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2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Google Shape;237;p81"/>
          <p:cNvGraphicFramePr/>
          <p:nvPr/>
        </p:nvGraphicFramePr>
        <p:xfrm>
          <a:off x="3496596" y="3429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{832125E2-3869-4DA9-98E0-7419D8E68C6C}</a:tableStyleId>
              </a:tblPr>
              <a:tblGrid>
                <a:gridCol w="537700"/>
                <a:gridCol w="537700"/>
                <a:gridCol w="537700"/>
                <a:gridCol w="5377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0000"/>
                          </a:solidFill>
                        </a:rPr>
                        <a:t>1</a:t>
                      </a:r>
                      <a:endParaRPr b="0"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575" marL="6857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0000"/>
                          </a:solidFill>
                        </a:rPr>
                        <a:t>2</a:t>
                      </a:r>
                      <a:endParaRPr b="0"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575" marL="6857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b="0"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575" marL="6857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0000"/>
                          </a:solidFill>
                        </a:rPr>
                        <a:t>4</a:t>
                      </a:r>
                      <a:endParaRPr b="0"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575" marL="6857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Google Shape;238;p81"/>
          <p:cNvGraphicFramePr/>
          <p:nvPr/>
        </p:nvGraphicFramePr>
        <p:xfrm>
          <a:off x="3075103" y="37683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{832125E2-3869-4DA9-98E0-7419D8E68C6C}</a:tableStyleId>
              </a:tblPr>
              <a:tblGrid>
                <a:gridCol w="339225"/>
              </a:tblGrid>
              <a:tr h="523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0000"/>
                          </a:solidFill>
                        </a:rPr>
                        <a:t>1</a:t>
                      </a:r>
                      <a:endParaRPr b="0"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575" marL="68575" anchor="ctr">
                    <a:solidFill>
                      <a:schemeClr val="lt1"/>
                    </a:solidFill>
                  </a:tcPr>
                </a:tc>
              </a:tr>
              <a:tr h="523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0000"/>
                          </a:solidFill>
                        </a:rPr>
                        <a:t>2</a:t>
                      </a:r>
                      <a:endParaRPr b="0"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575" marL="68575" anchor="ctr">
                    <a:solidFill>
                      <a:schemeClr val="lt1"/>
                    </a:solidFill>
                  </a:tcPr>
                </a:tc>
              </a:tr>
              <a:tr h="523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b="0"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575" marL="68575" anchor="ctr">
                    <a:solidFill>
                      <a:schemeClr val="lt1"/>
                    </a:solidFill>
                  </a:tcPr>
                </a:tc>
              </a:tr>
              <a:tr h="523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FF0000"/>
                          </a:solidFill>
                        </a:rPr>
                        <a:t>4</a:t>
                      </a:r>
                      <a:endParaRPr b="0"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575" marL="6857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239" name="Google Shape;239;p81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240" name="Google Shape;240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81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2"/>
          <p:cNvSpPr txBox="1"/>
          <p:nvPr>
            <p:ph idx="1" type="body"/>
          </p:nvPr>
        </p:nvSpPr>
        <p:spPr>
          <a:xfrm>
            <a:off x="628650" y="2026773"/>
            <a:ext cx="78867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So, let us generate a state-space tree: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7" name="Google Shape;247;p82"/>
          <p:cNvPicPr preferRelativeResize="0"/>
          <p:nvPr/>
        </p:nvPicPr>
        <p:blipFill rotWithShape="1">
          <a:blip r:embed="rId3">
            <a:alphaModFix/>
          </a:blip>
          <a:srcRect b="12401" l="26855" r="13750" t="12187"/>
          <a:stretch/>
        </p:blipFill>
        <p:spPr>
          <a:xfrm>
            <a:off x="1663433" y="2638097"/>
            <a:ext cx="5410029" cy="39317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82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249" name="Google Shape;249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p82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82"/>
          <p:cNvSpPr txBox="1"/>
          <p:nvPr>
            <p:ph type="title"/>
          </p:nvPr>
        </p:nvSpPr>
        <p:spPr>
          <a:xfrm>
            <a:off x="628650" y="1005400"/>
            <a:ext cx="73878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6347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ALGORITHM: </a:t>
            </a:r>
            <a:r>
              <a:rPr b="1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3"/>
          <p:cNvSpPr txBox="1"/>
          <p:nvPr>
            <p:ph idx="1" type="body"/>
          </p:nvPr>
        </p:nvSpPr>
        <p:spPr>
          <a:xfrm>
            <a:off x="628650" y="1768975"/>
            <a:ext cx="78867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So, let us generate a state-space tree: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Total number of nodes =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83"/>
          <p:cNvPicPr preferRelativeResize="0"/>
          <p:nvPr/>
        </p:nvPicPr>
        <p:blipFill rotWithShape="1">
          <a:blip r:embed="rId3">
            <a:alphaModFix/>
          </a:blip>
          <a:srcRect b="12401" l="26855" r="13750" t="12187"/>
          <a:stretch/>
        </p:blipFill>
        <p:spPr>
          <a:xfrm>
            <a:off x="2109399" y="2696936"/>
            <a:ext cx="5652144" cy="39822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83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259" name="Google Shape;259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83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1" name="Google Shape;261;p83"/>
          <p:cNvSpPr txBox="1"/>
          <p:nvPr>
            <p:ph type="title"/>
          </p:nvPr>
        </p:nvSpPr>
        <p:spPr>
          <a:xfrm>
            <a:off x="628650" y="1005400"/>
            <a:ext cx="73878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6347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ALGORITHM: </a:t>
            </a:r>
            <a:r>
              <a:rPr b="1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4"/>
          <p:cNvSpPr txBox="1"/>
          <p:nvPr>
            <p:ph idx="1" type="body"/>
          </p:nvPr>
        </p:nvSpPr>
        <p:spPr>
          <a:xfrm>
            <a:off x="628650" y="1836995"/>
            <a:ext cx="78867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So, let us generate a state-space tree: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7" name="Google Shape;267;p84"/>
          <p:cNvPicPr preferRelativeResize="0"/>
          <p:nvPr/>
        </p:nvPicPr>
        <p:blipFill rotWithShape="1">
          <a:blip r:embed="rId3">
            <a:alphaModFix/>
          </a:blip>
          <a:srcRect b="12401" l="26855" r="13750" t="12187"/>
          <a:stretch/>
        </p:blipFill>
        <p:spPr>
          <a:xfrm>
            <a:off x="2027896" y="2484540"/>
            <a:ext cx="5707618" cy="37989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p84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269" name="Google Shape;269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84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84"/>
          <p:cNvSpPr txBox="1"/>
          <p:nvPr>
            <p:ph type="title"/>
          </p:nvPr>
        </p:nvSpPr>
        <p:spPr>
          <a:xfrm>
            <a:off x="628650" y="1005400"/>
            <a:ext cx="73878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6347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ALGORITHM: </a:t>
            </a:r>
            <a:r>
              <a:rPr b="1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" name="Google Shape;276;p85"/>
          <p:cNvGraphicFramePr/>
          <p:nvPr/>
        </p:nvGraphicFramePr>
        <p:xfrm>
          <a:off x="1685925" y="21526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{464CC1B8-F397-43B2-974F-2C3414A69F03}</a:tableStyleId>
              </a:tblPr>
              <a:tblGrid>
                <a:gridCol w="406000"/>
                <a:gridCol w="407100"/>
                <a:gridCol w="406000"/>
                <a:gridCol w="407100"/>
                <a:gridCol w="4060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7" name="Google Shape;277;p85"/>
          <p:cNvGraphicFramePr/>
          <p:nvPr/>
        </p:nvGraphicFramePr>
        <p:xfrm>
          <a:off x="5257800" y="21526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{464CC1B8-F397-43B2-974F-2C3414A69F03}</a:tableStyleId>
              </a:tblPr>
              <a:tblGrid>
                <a:gridCol w="406000"/>
                <a:gridCol w="407100"/>
                <a:gridCol w="406000"/>
                <a:gridCol w="407100"/>
                <a:gridCol w="4060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8" name="Google Shape;278;p85"/>
          <p:cNvGraphicFramePr/>
          <p:nvPr/>
        </p:nvGraphicFramePr>
        <p:xfrm>
          <a:off x="1700668" y="394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{464CC1B8-F397-43B2-974F-2C3414A69F03}</a:tableStyleId>
              </a:tblPr>
              <a:tblGrid>
                <a:gridCol w="406000"/>
                <a:gridCol w="407100"/>
                <a:gridCol w="406000"/>
                <a:gridCol w="407100"/>
                <a:gridCol w="4060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9" name="Google Shape;279;p85"/>
          <p:cNvGraphicFramePr/>
          <p:nvPr/>
        </p:nvGraphicFramePr>
        <p:xfrm>
          <a:off x="5257800" y="394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{464CC1B8-F397-43B2-974F-2C3414A69F03}</a:tableStyleId>
              </a:tblPr>
              <a:tblGrid>
                <a:gridCol w="406000"/>
                <a:gridCol w="407100"/>
                <a:gridCol w="406000"/>
                <a:gridCol w="407100"/>
                <a:gridCol w="4060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0" name="Google Shape;280;p85"/>
          <p:cNvSpPr/>
          <p:nvPr/>
        </p:nvSpPr>
        <p:spPr>
          <a:xfrm>
            <a:off x="4343400" y="2743200"/>
            <a:ext cx="514350" cy="4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489BE7"/>
              </a:gs>
              <a:gs pos="100000">
                <a:srgbClr val="91CCFF"/>
              </a:gs>
            </a:gsLst>
            <a:lin ang="16200000" scaled="0"/>
          </a:gradFill>
          <a:ln cap="flat" cmpd="sng" w="9525">
            <a:solidFill>
              <a:srgbClr val="5497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p85"/>
          <p:cNvSpPr/>
          <p:nvPr/>
        </p:nvSpPr>
        <p:spPr>
          <a:xfrm>
            <a:off x="4343400" y="4572000"/>
            <a:ext cx="514350" cy="4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489BE7"/>
              </a:gs>
              <a:gs pos="100000">
                <a:srgbClr val="91CCFF"/>
              </a:gs>
            </a:gsLst>
            <a:lin ang="16200000" scaled="0"/>
          </a:gradFill>
          <a:ln cap="flat" cmpd="sng" w="9525">
            <a:solidFill>
              <a:srgbClr val="5497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85"/>
          <p:cNvSpPr/>
          <p:nvPr/>
        </p:nvSpPr>
        <p:spPr>
          <a:xfrm rot="-1800000">
            <a:off x="4171950" y="3754809"/>
            <a:ext cx="800100" cy="171450"/>
          </a:xfrm>
          <a:prstGeom prst="lef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489BE7"/>
              </a:gs>
              <a:gs pos="100000">
                <a:srgbClr val="91CCFF"/>
              </a:gs>
            </a:gsLst>
            <a:lin ang="16200000" scaled="0"/>
          </a:gradFill>
          <a:ln cap="flat" cmpd="sng" w="9525">
            <a:solidFill>
              <a:srgbClr val="5497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83" name="Google Shape;283;p85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284" name="Google Shape;284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85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" name="Google Shape;286;p85"/>
          <p:cNvSpPr txBox="1"/>
          <p:nvPr>
            <p:ph type="title"/>
          </p:nvPr>
        </p:nvSpPr>
        <p:spPr>
          <a:xfrm>
            <a:off x="628650" y="1005400"/>
            <a:ext cx="73878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6347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ALGORITHM: </a:t>
            </a:r>
            <a:r>
              <a:rPr b="1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oogle Shape;291;p86"/>
          <p:cNvGraphicFramePr/>
          <p:nvPr/>
        </p:nvGraphicFramePr>
        <p:xfrm>
          <a:off x="1685925" y="21431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{464CC1B8-F397-43B2-974F-2C3414A69F03}</a:tableStyleId>
              </a:tblPr>
              <a:tblGrid>
                <a:gridCol w="408700"/>
                <a:gridCol w="409775"/>
                <a:gridCol w="408700"/>
                <a:gridCol w="409775"/>
                <a:gridCol w="4087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2" name="Google Shape;292;p86"/>
          <p:cNvGraphicFramePr/>
          <p:nvPr/>
        </p:nvGraphicFramePr>
        <p:xfrm>
          <a:off x="5257801" y="21431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{464CC1B8-F397-43B2-974F-2C3414A69F03}</a:tableStyleId>
              </a:tblPr>
              <a:tblGrid>
                <a:gridCol w="396275"/>
                <a:gridCol w="397325"/>
                <a:gridCol w="396275"/>
                <a:gridCol w="397325"/>
                <a:gridCol w="396275"/>
              </a:tblGrid>
              <a:tr h="34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3" name="Google Shape;293;p86"/>
          <p:cNvGraphicFramePr/>
          <p:nvPr/>
        </p:nvGraphicFramePr>
        <p:xfrm>
          <a:off x="1722906" y="40124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{464CC1B8-F397-43B2-974F-2C3414A69F03}</a:tableStyleId>
              </a:tblPr>
              <a:tblGrid>
                <a:gridCol w="408700"/>
                <a:gridCol w="409775"/>
                <a:gridCol w="408700"/>
                <a:gridCol w="409775"/>
                <a:gridCol w="4087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4" name="Google Shape;294;p86"/>
          <p:cNvGraphicFramePr/>
          <p:nvPr/>
        </p:nvGraphicFramePr>
        <p:xfrm>
          <a:off x="5257800" y="40124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{464CC1B8-F397-43B2-974F-2C3414A69F03}</a:tableStyleId>
              </a:tblPr>
              <a:tblGrid>
                <a:gridCol w="396275"/>
                <a:gridCol w="397325"/>
                <a:gridCol w="396275"/>
                <a:gridCol w="397325"/>
                <a:gridCol w="39627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5" name="Google Shape;295;p86"/>
          <p:cNvSpPr/>
          <p:nvPr/>
        </p:nvSpPr>
        <p:spPr>
          <a:xfrm>
            <a:off x="4343400" y="2743200"/>
            <a:ext cx="514350" cy="4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489BE7"/>
              </a:gs>
              <a:gs pos="100000">
                <a:srgbClr val="91CCFF"/>
              </a:gs>
            </a:gsLst>
            <a:lin ang="16200000" scaled="0"/>
          </a:gradFill>
          <a:ln cap="flat" cmpd="sng" w="9525">
            <a:solidFill>
              <a:srgbClr val="5497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6" name="Google Shape;296;p86"/>
          <p:cNvSpPr/>
          <p:nvPr/>
        </p:nvSpPr>
        <p:spPr>
          <a:xfrm>
            <a:off x="4343400" y="4572000"/>
            <a:ext cx="514350" cy="4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489BE7"/>
              </a:gs>
              <a:gs pos="100000">
                <a:srgbClr val="91CCFF"/>
              </a:gs>
            </a:gsLst>
            <a:lin ang="16200000" scaled="0"/>
          </a:gradFill>
          <a:ln cap="flat" cmpd="sng" w="9525">
            <a:solidFill>
              <a:srgbClr val="5497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7" name="Google Shape;297;p86"/>
          <p:cNvSpPr/>
          <p:nvPr/>
        </p:nvSpPr>
        <p:spPr>
          <a:xfrm rot="-1800000">
            <a:off x="4171950" y="3754809"/>
            <a:ext cx="800100" cy="171450"/>
          </a:xfrm>
          <a:prstGeom prst="lef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489BE7"/>
              </a:gs>
              <a:gs pos="100000">
                <a:srgbClr val="91CCFF"/>
              </a:gs>
            </a:gsLst>
            <a:lin ang="16200000" scaled="0"/>
          </a:gradFill>
          <a:ln cap="flat" cmpd="sng" w="9525">
            <a:solidFill>
              <a:srgbClr val="5497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98" name="Google Shape;298;p86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299" name="Google Shape;299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86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1" name="Google Shape;301;p86"/>
          <p:cNvSpPr txBox="1"/>
          <p:nvPr>
            <p:ph type="title"/>
          </p:nvPr>
        </p:nvSpPr>
        <p:spPr>
          <a:xfrm>
            <a:off x="628650" y="1005400"/>
            <a:ext cx="73878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6347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ALGORITHM: </a:t>
            </a:r>
            <a:r>
              <a:rPr b="1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" name="Google Shape;306;p87"/>
          <p:cNvGraphicFramePr/>
          <p:nvPr/>
        </p:nvGraphicFramePr>
        <p:xfrm>
          <a:off x="1828800" y="20574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{464CC1B8-F397-43B2-974F-2C3414A69F03}</a:tableStyleId>
              </a:tblPr>
              <a:tblGrid>
                <a:gridCol w="445300"/>
                <a:gridCol w="446475"/>
                <a:gridCol w="445300"/>
                <a:gridCol w="446475"/>
                <a:gridCol w="445300"/>
              </a:tblGrid>
              <a:tr h="34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7" name="Google Shape;307;p87"/>
          <p:cNvGraphicFramePr/>
          <p:nvPr/>
        </p:nvGraphicFramePr>
        <p:xfrm>
          <a:off x="5057775" y="20574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{464CC1B8-F397-43B2-974F-2C3414A69F03}</a:tableStyleId>
              </a:tblPr>
              <a:tblGrid>
                <a:gridCol w="445300"/>
                <a:gridCol w="446475"/>
                <a:gridCol w="445300"/>
                <a:gridCol w="446475"/>
                <a:gridCol w="445300"/>
              </a:tblGrid>
              <a:tr h="34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</a:t>
                      </a:r>
                      <a:endParaRPr/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4300" marB="3430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8" name="Google Shape;308;p87"/>
          <p:cNvSpPr txBox="1"/>
          <p:nvPr/>
        </p:nvSpPr>
        <p:spPr>
          <a:xfrm>
            <a:off x="3429000" y="4572000"/>
            <a:ext cx="2171700" cy="669414"/>
          </a:xfrm>
          <a:prstGeom prst="rect">
            <a:avLst/>
          </a:prstGeom>
          <a:gradFill>
            <a:gsLst>
              <a:gs pos="0">
                <a:srgbClr val="FF7714"/>
              </a:gs>
              <a:gs pos="100000">
                <a:srgbClr val="FFA773"/>
              </a:gs>
            </a:gsLst>
            <a:lin ang="16200000" scaled="0"/>
          </a:gradFill>
          <a:ln cap="flat" cmpd="sng" w="9525">
            <a:solidFill>
              <a:srgbClr val="EB79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DONE</a:t>
            </a:r>
            <a:endParaRPr/>
          </a:p>
        </p:txBody>
      </p:sp>
      <p:sp>
        <p:nvSpPr>
          <p:cNvPr id="309" name="Google Shape;309;p87"/>
          <p:cNvSpPr/>
          <p:nvPr/>
        </p:nvSpPr>
        <p:spPr>
          <a:xfrm>
            <a:off x="4343400" y="2743200"/>
            <a:ext cx="514350" cy="4572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489BE7"/>
              </a:gs>
              <a:gs pos="100000">
                <a:srgbClr val="91CCFF"/>
              </a:gs>
            </a:gsLst>
            <a:lin ang="16200000" scaled="0"/>
          </a:gradFill>
          <a:ln cap="flat" cmpd="sng" w="9525">
            <a:solidFill>
              <a:srgbClr val="5497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10" name="Google Shape;310;p87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311" name="Google Shape;311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87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87"/>
          <p:cNvSpPr txBox="1"/>
          <p:nvPr>
            <p:ph type="title"/>
          </p:nvPr>
        </p:nvSpPr>
        <p:spPr>
          <a:xfrm>
            <a:off x="628650" y="1005400"/>
            <a:ext cx="73878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6347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ALGORITHM: </a:t>
            </a:r>
            <a:r>
              <a:rPr b="1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8"/>
          <p:cNvSpPr txBox="1"/>
          <p:nvPr>
            <p:ph type="title"/>
          </p:nvPr>
        </p:nvSpPr>
        <p:spPr>
          <a:xfrm>
            <a:off x="628650" y="77647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4 - Outline</a:t>
            </a:r>
            <a:endParaRPr sz="27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8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Backtracking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n-queen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b="1" lang="en-US" sz="1950"/>
              <a:t>Sum of subsets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/>
              <a:t>Branch-n-Bound: Principle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/>
              <a:t>Strategies: FIFO, LIFO and LC approaches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/>
              <a:t>Travelling Salesperson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900"/>
              </a:spcAft>
              <a:buSzPts val="1800"/>
              <a:buChar char="•"/>
            </a:pPr>
            <a:r>
              <a:rPr lang="en-US" sz="1950"/>
              <a:t>Knapsack problem</a:t>
            </a:r>
            <a:endParaRPr/>
          </a:p>
        </p:txBody>
      </p:sp>
      <p:grpSp>
        <p:nvGrpSpPr>
          <p:cNvPr id="320" name="Google Shape;320;p88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321" name="Google Shape;321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88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9"/>
          <p:cNvSpPr txBox="1"/>
          <p:nvPr>
            <p:ph type="title"/>
          </p:nvPr>
        </p:nvSpPr>
        <p:spPr>
          <a:xfrm>
            <a:off x="628650" y="1131098"/>
            <a:ext cx="7886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SUBSETS</a:t>
            </a:r>
            <a:endParaRPr b="1"/>
          </a:p>
        </p:txBody>
      </p:sp>
      <p:sp>
        <p:nvSpPr>
          <p:cNvPr id="328" name="Google Shape;328;p89"/>
          <p:cNvSpPr txBox="1"/>
          <p:nvPr>
            <p:ph idx="1" type="body"/>
          </p:nvPr>
        </p:nvSpPr>
        <p:spPr>
          <a:xfrm>
            <a:off x="628650" y="222646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In this problem, a set of weights will be given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We have to take subset of those weights such that their sum is exactly equal to a value 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i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The solution set is represented as 0/1 form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29" name="Google Shape;329;p89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330" name="Google Shape;330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89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0"/>
          <p:cNvSpPr txBox="1"/>
          <p:nvPr>
            <p:ph type="title"/>
          </p:nvPr>
        </p:nvSpPr>
        <p:spPr>
          <a:xfrm>
            <a:off x="628650" y="113109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SUBSETS</a:t>
            </a:r>
            <a:endParaRPr i="1"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7" name="Google Shape;337;p90"/>
          <p:cNvPicPr preferRelativeResize="0"/>
          <p:nvPr/>
        </p:nvPicPr>
        <p:blipFill rotWithShape="1">
          <a:blip r:embed="rId3">
            <a:alphaModFix/>
          </a:blip>
          <a:srcRect b="15986" l="9920" r="24275" t="24652"/>
          <a:stretch/>
        </p:blipFill>
        <p:spPr>
          <a:xfrm>
            <a:off x="1231228" y="1941257"/>
            <a:ext cx="6681545" cy="339028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90"/>
          <p:cNvSpPr txBox="1"/>
          <p:nvPr/>
        </p:nvSpPr>
        <p:spPr>
          <a:xfrm>
            <a:off x="1390000" y="5684804"/>
            <a:ext cx="688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forward and backward moves take </a:t>
            </a:r>
            <a:r>
              <a:rPr b="1" i="0" lang="en-US" sz="19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O(1) time</a:t>
            </a:r>
            <a:endParaRPr sz="2300"/>
          </a:p>
        </p:txBody>
      </p:sp>
      <p:grpSp>
        <p:nvGrpSpPr>
          <p:cNvPr id="339" name="Google Shape;339;p90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340" name="Google Shape;340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p90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1"/>
          <p:cNvSpPr txBox="1"/>
          <p:nvPr>
            <p:ph idx="1" type="body"/>
          </p:nvPr>
        </p:nvSpPr>
        <p:spPr>
          <a:xfrm>
            <a:off x="628650" y="2226475"/>
            <a:ext cx="8118900" cy="43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2070">
                <a:latin typeface="Times New Roman"/>
                <a:ea typeface="Times New Roman"/>
                <a:cs typeface="Times New Roman"/>
                <a:sym typeface="Times New Roman"/>
              </a:rPr>
              <a:t>W[1:6] = {5, 10, 12, 13, 15, 18}</a:t>
            </a:r>
            <a:endParaRPr sz="20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2070">
                <a:latin typeface="Times New Roman"/>
                <a:ea typeface="Times New Roman"/>
                <a:cs typeface="Times New Roman"/>
                <a:sym typeface="Times New Roman"/>
              </a:rPr>
              <a:t>n=6, m=30; where </a:t>
            </a:r>
            <a:r>
              <a:rPr i="1" lang="en-US" sz="207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70">
                <a:latin typeface="Times New Roman"/>
                <a:ea typeface="Times New Roman"/>
                <a:cs typeface="Times New Roman"/>
                <a:sym typeface="Times New Roman"/>
              </a:rPr>
              <a:t> is the number of number of weights, </a:t>
            </a:r>
            <a:r>
              <a:rPr i="1" lang="en-US" sz="207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070">
                <a:latin typeface="Times New Roman"/>
                <a:ea typeface="Times New Roman"/>
                <a:cs typeface="Times New Roman"/>
                <a:sym typeface="Times New Roman"/>
              </a:rPr>
              <a:t> is the target value</a:t>
            </a:r>
            <a:endParaRPr sz="20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2070">
                <a:latin typeface="Times New Roman"/>
                <a:ea typeface="Times New Roman"/>
                <a:cs typeface="Times New Roman"/>
                <a:sym typeface="Times New Roman"/>
              </a:rPr>
              <a:t>So, selection of the above weights can be done in various ways. </a:t>
            </a:r>
            <a:endParaRPr sz="20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2070">
                <a:latin typeface="Times New Roman"/>
                <a:ea typeface="Times New Roman"/>
                <a:cs typeface="Times New Roman"/>
                <a:sym typeface="Times New Roman"/>
              </a:rPr>
              <a:t>Hence, let us try all possible ways of their selection and find out which </a:t>
            </a:r>
            <a:endParaRPr sz="20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70">
                <a:latin typeface="Times New Roman"/>
                <a:ea typeface="Times New Roman"/>
                <a:cs typeface="Times New Roman"/>
                <a:sym typeface="Times New Roman"/>
              </a:rPr>
              <a:t>of those selection is giving us the exact value of </a:t>
            </a:r>
            <a:r>
              <a:rPr i="1" lang="en-US" sz="207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070">
                <a:latin typeface="Times New Roman"/>
                <a:ea typeface="Times New Roman"/>
                <a:cs typeface="Times New Roman"/>
                <a:sym typeface="Times New Roman"/>
              </a:rPr>
              <a:t> (i.e., equals to 30)</a:t>
            </a:r>
            <a:endParaRPr sz="20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2070">
                <a:latin typeface="Times New Roman"/>
                <a:ea typeface="Times New Roman"/>
                <a:cs typeface="Times New Roman"/>
                <a:sym typeface="Times New Roman"/>
              </a:rPr>
              <a:t>To solve the problem, we will have to draw a state-space tree for the </a:t>
            </a:r>
            <a:endParaRPr sz="207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70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sz="207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47" name="Google Shape;347;p91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348" name="Google Shape;348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91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" name="Google Shape;350;p91"/>
          <p:cNvSpPr txBox="1"/>
          <p:nvPr>
            <p:ph type="title"/>
          </p:nvPr>
        </p:nvSpPr>
        <p:spPr>
          <a:xfrm>
            <a:off x="781050" y="1283498"/>
            <a:ext cx="7886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SUBSETS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2"/>
          <p:cNvSpPr txBox="1"/>
          <p:nvPr>
            <p:ph type="title"/>
          </p:nvPr>
        </p:nvSpPr>
        <p:spPr>
          <a:xfrm>
            <a:off x="628650" y="113109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SUBSETS: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</a:t>
            </a:r>
            <a:r>
              <a:rPr b="1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[Cont..]</a:t>
            </a:r>
            <a:endParaRPr b="1" i="1"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6" name="Google Shape;356;p9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7058" l="20639" r="17716" t="13405"/>
          <a:stretch/>
        </p:blipFill>
        <p:spPr>
          <a:xfrm>
            <a:off x="1219475" y="2226475"/>
            <a:ext cx="6835200" cy="41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92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358" name="Google Shape;358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92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3"/>
          <p:cNvSpPr txBox="1"/>
          <p:nvPr>
            <p:ph type="title"/>
          </p:nvPr>
        </p:nvSpPr>
        <p:spPr>
          <a:xfrm>
            <a:off x="628650" y="77647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4 - Outline</a:t>
            </a:r>
            <a:endParaRPr sz="27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9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Backtracking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n-queen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Sum of subsets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b="1" lang="en-US" sz="1950"/>
              <a:t>Branch-n-Bound: Principle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/>
              <a:t>Strategies: FIFO, LIFO and LC approaches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/>
              <a:t>Travelling Salesperson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900"/>
              </a:spcAft>
              <a:buSzPts val="1800"/>
              <a:buChar char="•"/>
            </a:pPr>
            <a:r>
              <a:rPr lang="en-US" sz="1950"/>
              <a:t>Knapsack problem</a:t>
            </a:r>
            <a:endParaRPr/>
          </a:p>
        </p:txBody>
      </p:sp>
      <p:grpSp>
        <p:nvGrpSpPr>
          <p:cNvPr id="366" name="Google Shape;366;p93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367" name="Google Shape;367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93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4"/>
          <p:cNvSpPr txBox="1"/>
          <p:nvPr>
            <p:ph type="title"/>
          </p:nvPr>
        </p:nvSpPr>
        <p:spPr>
          <a:xfrm>
            <a:off x="628650" y="1052875"/>
            <a:ext cx="78867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 AND BOUND: PRINCIPLE</a:t>
            </a:r>
            <a:endParaRPr b="1"/>
          </a:p>
        </p:txBody>
      </p:sp>
      <p:sp>
        <p:nvSpPr>
          <p:cNvPr id="374" name="Google Shape;374;p9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Branch and bound builds the state-space tree and find the optimal solution quickly by pruning few of the tree branches which does not satisfy the bound.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Backtracking can be useful when some other optimization techniques like greedy or dynamic programming fail. Such algorithms are typically slower than their counterparts.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 the worst case, it may run in exponential time, but careful selection of bounds and branches makes an algorithm to run reasonably faster.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375" name="Google Shape;375;p94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376" name="Google Shape;376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94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5"/>
          <p:cNvSpPr txBox="1"/>
          <p:nvPr>
            <p:ph idx="1" type="body"/>
          </p:nvPr>
        </p:nvSpPr>
        <p:spPr>
          <a:xfrm>
            <a:off x="628650" y="1646180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Branch and bound approach is used to solve minimization problems and not maximization problems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Anyway, we can convert a maximization problem to minimization problem and solve it.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One example of minimization optimization problem is Job sequencing with deadline where we need to pay the penalty for not doing a job instead of earning profits for doing a job.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383" name="Google Shape;383;p95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384" name="Google Shape;384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" name="Google Shape;385;p95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95"/>
          <p:cNvSpPr txBox="1"/>
          <p:nvPr>
            <p:ph type="title"/>
          </p:nvPr>
        </p:nvSpPr>
        <p:spPr>
          <a:xfrm>
            <a:off x="628650" y="1052875"/>
            <a:ext cx="78867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 AND BOUND: PRINCIPLE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6"/>
          <p:cNvSpPr txBox="1"/>
          <p:nvPr>
            <p:ph type="title"/>
          </p:nvPr>
        </p:nvSpPr>
        <p:spPr>
          <a:xfrm>
            <a:off x="628650" y="68103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4 - Outline</a:t>
            </a:r>
            <a:endParaRPr sz="27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9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Backtracking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n-queen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Sum of subsets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Branch-n-Bound: Principle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b="1" lang="en-US" sz="1950"/>
              <a:t>Strategies: FIFO, LIFO and LC approaches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/>
              <a:t>Travelling Salesperson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900"/>
              </a:spcAft>
              <a:buSzPts val="1800"/>
              <a:buChar char="•"/>
            </a:pPr>
            <a:r>
              <a:rPr lang="en-US" sz="1950"/>
              <a:t>Knapsack problem</a:t>
            </a:r>
            <a:endParaRPr/>
          </a:p>
        </p:txBody>
      </p:sp>
      <p:grpSp>
        <p:nvGrpSpPr>
          <p:cNvPr id="393" name="Google Shape;393;p96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394" name="Google Shape;394;p9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96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97"/>
          <p:cNvSpPr txBox="1"/>
          <p:nvPr>
            <p:ph type="title"/>
          </p:nvPr>
        </p:nvSpPr>
        <p:spPr>
          <a:xfrm>
            <a:off x="628650" y="1015214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 AND BOUND STRATEGIES: </a:t>
            </a:r>
            <a:r>
              <a:rPr b="1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</a:t>
            </a:r>
            <a:endParaRPr b="1"/>
          </a:p>
        </p:txBody>
      </p:sp>
      <p:pic>
        <p:nvPicPr>
          <p:cNvPr id="401" name="Google Shape;401;p9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11" y="2494450"/>
            <a:ext cx="4344300" cy="278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2" name="Google Shape;402;p97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403" name="Google Shape;403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97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5" name="Google Shape;405;p97"/>
          <p:cNvSpPr txBox="1"/>
          <p:nvPr/>
        </p:nvSpPr>
        <p:spPr>
          <a:xfrm>
            <a:off x="378975" y="2472778"/>
            <a:ext cx="3410700" cy="3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 of generating entire tree,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always pick-up the nodes with minimum cost/least cost and try to explore that one,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that quickly we can reach the solution.</a:t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00"/>
          <p:cNvSpPr txBox="1"/>
          <p:nvPr>
            <p:ph type="title"/>
          </p:nvPr>
        </p:nvSpPr>
        <p:spPr>
          <a:xfrm>
            <a:off x="628650" y="77647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4 - Outline</a:t>
            </a:r>
            <a:endParaRPr sz="27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10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Backtracking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n-queen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Sum of subsets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Branch-n-Bound: Principle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Strategies: FIFO, LIFO and LC approaches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1800"/>
              <a:buChar char="•"/>
            </a:pPr>
            <a:r>
              <a:rPr lang="en-US" sz="1950">
                <a:solidFill>
                  <a:srgbClr val="D8D8D8"/>
                </a:solidFill>
              </a:rPr>
              <a:t>Travelling Salesperson Problem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900"/>
              </a:spcBef>
              <a:spcAft>
                <a:spcPts val="900"/>
              </a:spcAft>
              <a:buSzPts val="1800"/>
              <a:buChar char="•"/>
            </a:pPr>
            <a:r>
              <a:rPr b="1" lang="en-US" sz="1950"/>
              <a:t>Knapsack problem</a:t>
            </a:r>
            <a:endParaRPr/>
          </a:p>
        </p:txBody>
      </p:sp>
      <p:grpSp>
        <p:nvGrpSpPr>
          <p:cNvPr id="412" name="Google Shape;412;p100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413" name="Google Shape;413;p10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100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1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5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0" name="Google Shape;420;p101"/>
          <p:cNvSpPr txBox="1"/>
          <p:nvPr>
            <p:ph type="title"/>
          </p:nvPr>
        </p:nvSpPr>
        <p:spPr>
          <a:xfrm>
            <a:off x="628650" y="77647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0/1 KNAPSACK PROBLEM </a:t>
            </a:r>
            <a:endParaRPr b="1"/>
          </a:p>
        </p:txBody>
      </p:sp>
      <p:sp>
        <p:nvSpPr>
          <p:cNvPr id="421" name="Google Shape;421;p10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Positive integer P</a:t>
            </a:r>
            <a:r>
              <a:rPr baseline="-25000" lang="en-US" sz="1800"/>
              <a:t>1</a:t>
            </a:r>
            <a:r>
              <a:rPr lang="en-US" sz="1800"/>
              <a:t>, P</a:t>
            </a:r>
            <a:r>
              <a:rPr baseline="-25000" lang="en-US" sz="1800"/>
              <a:t>2</a:t>
            </a:r>
            <a:r>
              <a:rPr lang="en-US" sz="1800"/>
              <a:t>,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 lang="en-US" sz="1800"/>
              <a:t>, P</a:t>
            </a:r>
            <a:r>
              <a:rPr baseline="-25000" lang="en-US" sz="1800"/>
              <a:t>n</a:t>
            </a:r>
            <a:r>
              <a:rPr lang="en-US" sz="1800"/>
              <a:t> (profit)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1800"/>
              <a:t>			      W</a:t>
            </a:r>
            <a:r>
              <a:rPr baseline="-25000" lang="en-US" sz="1800"/>
              <a:t>1</a:t>
            </a:r>
            <a:r>
              <a:rPr lang="en-US" sz="1800"/>
              <a:t>, W</a:t>
            </a:r>
            <a:r>
              <a:rPr baseline="-25000" lang="en-US" sz="1800"/>
              <a:t>2</a:t>
            </a:r>
            <a:r>
              <a:rPr lang="en-US" sz="1800"/>
              <a:t>,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 lang="en-US" sz="1800"/>
              <a:t>, W</a:t>
            </a:r>
            <a:r>
              <a:rPr baseline="-25000" lang="en-US" sz="1800"/>
              <a:t>n</a:t>
            </a:r>
            <a:r>
              <a:rPr lang="en-US" sz="1800"/>
              <a:t> (weight)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1800"/>
              <a:t>		                M (capacity)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graphicFrame>
        <p:nvGraphicFramePr>
          <p:cNvPr id="422" name="Google Shape;422;p101"/>
          <p:cNvGraphicFramePr/>
          <p:nvPr/>
        </p:nvGraphicFramePr>
        <p:xfrm>
          <a:off x="2400300" y="3429001"/>
          <a:ext cx="5086350" cy="2322910"/>
        </p:xfrm>
        <a:graphic>
          <a:graphicData uri="http://schemas.openxmlformats.org/presentationml/2006/ole">
            <mc:AlternateContent>
              <mc:Choice Requires="v">
                <p:oleObj r:id="rId4" imgH="2322910" imgW="5086350" progId="Word.Document.8" spid="_x0000_s1">
                  <p:embed/>
                </p:oleObj>
              </mc:Choice>
              <mc:Fallback>
                <p:oleObj r:id="rId5" imgH="2322910" imgW="5086350" progId="Word.Document.8">
                  <p:embed/>
                  <p:pic>
                    <p:nvPicPr>
                      <p:cNvPr id="422" name="Google Shape;422;p10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400300" y="3429001"/>
                        <a:ext cx="5086350" cy="23229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3" name="Google Shape;423;p101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424" name="Google Shape;424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" name="Google Shape;425;p101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02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5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1" name="Google Shape;431;p102"/>
          <p:cNvSpPr txBox="1"/>
          <p:nvPr>
            <p:ph type="title"/>
          </p:nvPr>
        </p:nvSpPr>
        <p:spPr>
          <a:xfrm>
            <a:off x="628650" y="7459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175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0/1 KNAPSACK PROBLEM </a:t>
            </a:r>
            <a:r>
              <a:rPr b="1" i="1" lang="en-US" sz="2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[Cont...]</a:t>
            </a:r>
            <a:endParaRPr b="1" sz="2175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102"/>
          <p:cNvSpPr txBox="1"/>
          <p:nvPr>
            <p:ph idx="1" type="body"/>
          </p:nvPr>
        </p:nvSpPr>
        <p:spPr>
          <a:xfrm>
            <a:off x="2030016" y="2370536"/>
            <a:ext cx="5829300" cy="3458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 sz="1500"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 sz="1500"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 sz="1500"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 sz="1500"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 sz="1500"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 sz="1500"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 sz="1500"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 sz="1500"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 sz="1500"/>
          </a:p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 sz="1500"/>
          </a:p>
          <a:p>
            <a:pPr indent="-3429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730"/>
              <a:buFont typeface="Noto Sans Symbols"/>
              <a:buNone/>
            </a:pPr>
            <a:r>
              <a:rPr lang="en-US" sz="1500"/>
              <a:t>	Fig. 6-27 The Branching Mechanism in the Branch-and-Bound Strategy to Solve 0/1 Knapsack Problem.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730"/>
              <a:buNone/>
            </a:pPr>
            <a:r>
              <a:t/>
            </a:r>
            <a:endParaRPr sz="1500"/>
          </a:p>
        </p:txBody>
      </p:sp>
      <p:sp>
        <p:nvSpPr>
          <p:cNvPr id="433" name="Google Shape;433;p102"/>
          <p:cNvSpPr/>
          <p:nvPr/>
        </p:nvSpPr>
        <p:spPr>
          <a:xfrm>
            <a:off x="3032522" y="2832498"/>
            <a:ext cx="6858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434" name="Google Shape;434;p102"/>
          <p:cNvGraphicFramePr/>
          <p:nvPr/>
        </p:nvGraphicFramePr>
        <p:xfrm>
          <a:off x="2686050" y="3028951"/>
          <a:ext cx="4457700" cy="1727597"/>
        </p:xfrm>
        <a:graphic>
          <a:graphicData uri="http://schemas.openxmlformats.org/presentationml/2006/ole">
            <mc:AlternateContent>
              <mc:Choice Requires="v">
                <p:oleObj r:id="rId4" imgH="1727597" imgW="4457700" progId="PI3.Image" spid="_x0000_s1">
                  <p:embed/>
                </p:oleObj>
              </mc:Choice>
              <mc:Fallback>
                <p:oleObj r:id="rId5" imgH="1727597" imgW="4457700" progId="PI3.Image">
                  <p:embed/>
                  <p:pic>
                    <p:nvPicPr>
                      <p:cNvPr id="434" name="Google Shape;434;p10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686050" y="3028951"/>
                        <a:ext cx="4457700" cy="1727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5" name="Google Shape;435;p102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436" name="Google Shape;436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102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03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5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3" name="Google Shape;443;p103"/>
          <p:cNvSpPr txBox="1"/>
          <p:nvPr>
            <p:ph type="title"/>
          </p:nvPr>
        </p:nvSpPr>
        <p:spPr>
          <a:xfrm>
            <a:off x="628650" y="68103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FIND THE UPPER BOUND?</a:t>
            </a:r>
            <a:endParaRPr b="1"/>
          </a:p>
        </p:txBody>
      </p:sp>
      <p:sp>
        <p:nvSpPr>
          <p:cNvPr id="444" name="Google Shape;444;p103"/>
          <p:cNvSpPr txBox="1"/>
          <p:nvPr>
            <p:ph idx="1" type="body"/>
          </p:nvPr>
        </p:nvSpPr>
        <p:spPr>
          <a:xfrm>
            <a:off x="628650" y="1825625"/>
            <a:ext cx="8191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By quickly finding a feasible solution in a greedy manner -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“</a:t>
            </a:r>
            <a:r>
              <a:rPr i="1" lang="en-US" sz="2000"/>
              <a:t>starting from the smallest available i, scanning towards the largest i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’</a:t>
            </a:r>
            <a:r>
              <a:rPr i="1" lang="en-US" sz="2000"/>
              <a:t>s until M is exceeded. The upper bound can be calculated.</a:t>
            </a:r>
            <a:r>
              <a:rPr lang="en-US"/>
              <a:t>”</a:t>
            </a:r>
            <a:endParaRPr/>
          </a:p>
        </p:txBody>
      </p:sp>
      <p:grpSp>
        <p:nvGrpSpPr>
          <p:cNvPr id="445" name="Google Shape;445;p103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446" name="Google Shape;446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" name="Google Shape;447;p103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04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5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3" name="Google Shape;453;p104"/>
          <p:cNvSpPr txBox="1"/>
          <p:nvPr>
            <p:ph type="title"/>
          </p:nvPr>
        </p:nvSpPr>
        <p:spPr>
          <a:xfrm>
            <a:off x="601266" y="68937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0/1 KNAPSACK PROBLEM</a:t>
            </a:r>
            <a:endParaRPr b="1"/>
          </a:p>
        </p:txBody>
      </p:sp>
      <p:sp>
        <p:nvSpPr>
          <p:cNvPr id="454" name="Google Shape;454;p104"/>
          <p:cNvSpPr txBox="1"/>
          <p:nvPr>
            <p:ph idx="1" type="body"/>
          </p:nvPr>
        </p:nvSpPr>
        <p:spPr>
          <a:xfrm>
            <a:off x="2030016" y="2370536"/>
            <a:ext cx="5829300" cy="3630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Char char="•"/>
            </a:pPr>
            <a:r>
              <a:rPr lang="en-US" sz="1500"/>
              <a:t>E.g. n = 6, M = 34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None/>
            </a:pPr>
            <a:r>
              <a:t/>
            </a:r>
            <a:endParaRPr sz="15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None/>
            </a:pPr>
            <a:r>
              <a:t/>
            </a:r>
            <a:endParaRPr sz="15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None/>
            </a:pPr>
            <a:r>
              <a:t/>
            </a:r>
            <a:endParaRPr sz="15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None/>
            </a:pPr>
            <a:r>
              <a:t/>
            </a:r>
            <a:endParaRPr sz="15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None/>
            </a:pPr>
            <a:r>
              <a:t/>
            </a:r>
            <a:endParaRPr sz="15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None/>
            </a:pPr>
            <a:r>
              <a:t/>
            </a:r>
            <a:endParaRPr sz="15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None/>
            </a:pPr>
            <a:r>
              <a:t/>
            </a:r>
            <a:endParaRPr sz="1500"/>
          </a:p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Char char="•"/>
            </a:pPr>
            <a:r>
              <a:rPr lang="en-US" sz="1500"/>
              <a:t>A feasible solution: 	X</a:t>
            </a:r>
            <a:r>
              <a:rPr baseline="-25000" lang="en-US" sz="1500"/>
              <a:t>1</a:t>
            </a:r>
            <a:r>
              <a:rPr lang="en-US" sz="1500"/>
              <a:t> = 1, X</a:t>
            </a:r>
            <a:r>
              <a:rPr baseline="-25000" lang="en-US" sz="1500"/>
              <a:t>2</a:t>
            </a:r>
            <a:r>
              <a:rPr lang="en-US" sz="1500"/>
              <a:t> = 1, X</a:t>
            </a:r>
            <a:r>
              <a:rPr baseline="-25000" lang="en-US" sz="1500"/>
              <a:t>3</a:t>
            </a:r>
            <a:r>
              <a:rPr lang="en-US" sz="1500"/>
              <a:t> = 0, X</a:t>
            </a:r>
            <a:r>
              <a:rPr baseline="-25000" lang="en-US" sz="1500"/>
              <a:t>4</a:t>
            </a:r>
            <a:r>
              <a:rPr lang="en-US" sz="1500"/>
              <a:t> = 0, 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Font typeface="Noto Sans Symbols"/>
              <a:buNone/>
            </a:pPr>
            <a:r>
              <a:rPr lang="en-US" sz="1500"/>
              <a:t>	X</a:t>
            </a:r>
            <a:r>
              <a:rPr baseline="-25000" lang="en-US" sz="1500"/>
              <a:t>5</a:t>
            </a:r>
            <a:r>
              <a:rPr lang="en-US" sz="1500"/>
              <a:t> = 0, X</a:t>
            </a:r>
            <a:r>
              <a:rPr baseline="-25000" lang="en-US" sz="1500"/>
              <a:t>6</a:t>
            </a:r>
            <a:r>
              <a:rPr lang="en-US" sz="1500"/>
              <a:t> = 0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Font typeface="Noto Sans Symbols"/>
              <a:buNone/>
            </a:pPr>
            <a:r>
              <a:rPr lang="en-US" sz="1500"/>
              <a:t>	-(P</a:t>
            </a:r>
            <a:r>
              <a:rPr baseline="-25000" lang="en-US" sz="1500"/>
              <a:t>1</a:t>
            </a:r>
            <a:r>
              <a:rPr lang="en-US" sz="1500"/>
              <a:t>+P</a:t>
            </a:r>
            <a:r>
              <a:rPr baseline="-25000" lang="en-US" sz="1500"/>
              <a:t>2</a:t>
            </a:r>
            <a:r>
              <a:rPr lang="en-US" sz="1500"/>
              <a:t>) = -16 (</a:t>
            </a:r>
            <a:r>
              <a:rPr lang="en-US" sz="1500">
                <a:solidFill>
                  <a:schemeClr val="hlink"/>
                </a:solidFill>
              </a:rPr>
              <a:t>upper bound</a:t>
            </a:r>
            <a:r>
              <a:rPr lang="en-US" sz="1500"/>
              <a:t>)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Font typeface="Noto Sans Symbols"/>
              <a:buNone/>
            </a:pPr>
            <a:r>
              <a:rPr lang="en-US" sz="1500"/>
              <a:t>	Any solution higher than -16 can not be an optimal solution.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Font typeface="Noto Sans Symbols"/>
              <a:buNone/>
            </a:pPr>
            <a:r>
              <a:rPr lang="en-US" sz="1500"/>
              <a:t> </a:t>
            </a:r>
            <a:endParaRPr/>
          </a:p>
        </p:txBody>
      </p:sp>
      <p:grpSp>
        <p:nvGrpSpPr>
          <p:cNvPr id="455" name="Google Shape;455;p104"/>
          <p:cNvGrpSpPr/>
          <p:nvPr/>
        </p:nvGrpSpPr>
        <p:grpSpPr>
          <a:xfrm>
            <a:off x="2457451" y="2800350"/>
            <a:ext cx="4174331" cy="1638300"/>
            <a:chOff x="-3" y="-3"/>
            <a:chExt cx="3506" cy="1888"/>
          </a:xfrm>
        </p:grpSpPr>
        <p:grpSp>
          <p:nvGrpSpPr>
            <p:cNvPr id="456" name="Google Shape;456;p104"/>
            <p:cNvGrpSpPr/>
            <p:nvPr/>
          </p:nvGrpSpPr>
          <p:grpSpPr>
            <a:xfrm>
              <a:off x="0" y="0"/>
              <a:ext cx="3500" cy="1882"/>
              <a:chOff x="0" y="0"/>
              <a:chExt cx="3500" cy="1882"/>
            </a:xfrm>
          </p:grpSpPr>
          <p:grpSp>
            <p:nvGrpSpPr>
              <p:cNvPr id="457" name="Google Shape;457;p104"/>
              <p:cNvGrpSpPr/>
              <p:nvPr/>
            </p:nvGrpSpPr>
            <p:grpSpPr>
              <a:xfrm>
                <a:off x="0" y="0"/>
                <a:ext cx="500" cy="480"/>
                <a:chOff x="0" y="0"/>
                <a:chExt cx="500" cy="480"/>
              </a:xfrm>
            </p:grpSpPr>
            <p:sp>
              <p:nvSpPr>
                <p:cNvPr id="458" name="Google Shape;458;p104"/>
                <p:cNvSpPr/>
                <p:nvPr/>
              </p:nvSpPr>
              <p:spPr>
                <a:xfrm>
                  <a:off x="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59" name="Google Shape;459;p104"/>
                <p:cNvSpPr/>
                <p:nvPr/>
              </p:nvSpPr>
              <p:spPr>
                <a:xfrm>
                  <a:off x="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60" name="Google Shape;460;p104"/>
              <p:cNvGrpSpPr/>
              <p:nvPr/>
            </p:nvGrpSpPr>
            <p:grpSpPr>
              <a:xfrm>
                <a:off x="500" y="0"/>
                <a:ext cx="500" cy="480"/>
                <a:chOff x="500" y="0"/>
                <a:chExt cx="500" cy="480"/>
              </a:xfrm>
            </p:grpSpPr>
            <p:sp>
              <p:nvSpPr>
                <p:cNvPr id="461" name="Google Shape;461;p104"/>
                <p:cNvSpPr/>
                <p:nvPr/>
              </p:nvSpPr>
              <p:spPr>
                <a:xfrm>
                  <a:off x="5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62" name="Google Shape;462;p104"/>
                <p:cNvSpPr/>
                <p:nvPr/>
              </p:nvSpPr>
              <p:spPr>
                <a:xfrm>
                  <a:off x="50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63" name="Google Shape;463;p104"/>
              <p:cNvGrpSpPr/>
              <p:nvPr/>
            </p:nvGrpSpPr>
            <p:grpSpPr>
              <a:xfrm>
                <a:off x="1000" y="0"/>
                <a:ext cx="500" cy="480"/>
                <a:chOff x="1000" y="0"/>
                <a:chExt cx="500" cy="480"/>
              </a:xfrm>
            </p:grpSpPr>
            <p:sp>
              <p:nvSpPr>
                <p:cNvPr id="464" name="Google Shape;464;p104"/>
                <p:cNvSpPr/>
                <p:nvPr/>
              </p:nvSpPr>
              <p:spPr>
                <a:xfrm>
                  <a:off x="10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2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65" name="Google Shape;465;p104"/>
                <p:cNvSpPr/>
                <p:nvPr/>
              </p:nvSpPr>
              <p:spPr>
                <a:xfrm>
                  <a:off x="100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66" name="Google Shape;466;p104"/>
              <p:cNvGrpSpPr/>
              <p:nvPr/>
            </p:nvGrpSpPr>
            <p:grpSpPr>
              <a:xfrm>
                <a:off x="1500" y="0"/>
                <a:ext cx="500" cy="480"/>
                <a:chOff x="1500" y="0"/>
                <a:chExt cx="500" cy="480"/>
              </a:xfrm>
            </p:grpSpPr>
            <p:sp>
              <p:nvSpPr>
                <p:cNvPr id="467" name="Google Shape;467;p104"/>
                <p:cNvSpPr/>
                <p:nvPr/>
              </p:nvSpPr>
              <p:spPr>
                <a:xfrm>
                  <a:off x="15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3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68" name="Google Shape;468;p104"/>
                <p:cNvSpPr/>
                <p:nvPr/>
              </p:nvSpPr>
              <p:spPr>
                <a:xfrm>
                  <a:off x="150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69" name="Google Shape;469;p104"/>
              <p:cNvGrpSpPr/>
              <p:nvPr/>
            </p:nvGrpSpPr>
            <p:grpSpPr>
              <a:xfrm>
                <a:off x="2000" y="0"/>
                <a:ext cx="500" cy="480"/>
                <a:chOff x="2000" y="0"/>
                <a:chExt cx="500" cy="480"/>
              </a:xfrm>
            </p:grpSpPr>
            <p:sp>
              <p:nvSpPr>
                <p:cNvPr id="470" name="Google Shape;470;p104"/>
                <p:cNvSpPr/>
                <p:nvPr/>
              </p:nvSpPr>
              <p:spPr>
                <a:xfrm>
                  <a:off x="20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4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1" name="Google Shape;471;p104"/>
                <p:cNvSpPr/>
                <p:nvPr/>
              </p:nvSpPr>
              <p:spPr>
                <a:xfrm>
                  <a:off x="200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72" name="Google Shape;472;p104"/>
              <p:cNvGrpSpPr/>
              <p:nvPr/>
            </p:nvGrpSpPr>
            <p:grpSpPr>
              <a:xfrm>
                <a:off x="2500" y="0"/>
                <a:ext cx="500" cy="480"/>
                <a:chOff x="2500" y="0"/>
                <a:chExt cx="500" cy="480"/>
              </a:xfrm>
            </p:grpSpPr>
            <p:sp>
              <p:nvSpPr>
                <p:cNvPr id="473" name="Google Shape;473;p104"/>
                <p:cNvSpPr/>
                <p:nvPr/>
              </p:nvSpPr>
              <p:spPr>
                <a:xfrm>
                  <a:off x="25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5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4" name="Google Shape;474;p104"/>
                <p:cNvSpPr/>
                <p:nvPr/>
              </p:nvSpPr>
              <p:spPr>
                <a:xfrm>
                  <a:off x="250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75" name="Google Shape;475;p104"/>
              <p:cNvGrpSpPr/>
              <p:nvPr/>
            </p:nvGrpSpPr>
            <p:grpSpPr>
              <a:xfrm>
                <a:off x="3000" y="0"/>
                <a:ext cx="500" cy="480"/>
                <a:chOff x="3000" y="0"/>
                <a:chExt cx="500" cy="480"/>
              </a:xfrm>
            </p:grpSpPr>
            <p:sp>
              <p:nvSpPr>
                <p:cNvPr id="476" name="Google Shape;476;p104"/>
                <p:cNvSpPr/>
                <p:nvPr/>
              </p:nvSpPr>
              <p:spPr>
                <a:xfrm>
                  <a:off x="30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6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7" name="Google Shape;477;p104"/>
                <p:cNvSpPr/>
                <p:nvPr/>
              </p:nvSpPr>
              <p:spPr>
                <a:xfrm>
                  <a:off x="300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78" name="Google Shape;478;p104"/>
              <p:cNvGrpSpPr/>
              <p:nvPr/>
            </p:nvGrpSpPr>
            <p:grpSpPr>
              <a:xfrm>
                <a:off x="0" y="480"/>
                <a:ext cx="500" cy="480"/>
                <a:chOff x="0" y="480"/>
                <a:chExt cx="500" cy="480"/>
              </a:xfrm>
            </p:grpSpPr>
            <p:sp>
              <p:nvSpPr>
                <p:cNvPr id="479" name="Google Shape;479;p104"/>
                <p:cNvSpPr/>
                <p:nvPr/>
              </p:nvSpPr>
              <p:spPr>
                <a:xfrm>
                  <a:off x="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</a:t>
                  </a:r>
                  <a:r>
                    <a:rPr b="0" baseline="-2500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0" name="Google Shape;480;p104"/>
                <p:cNvSpPr/>
                <p:nvPr/>
              </p:nvSpPr>
              <p:spPr>
                <a:xfrm>
                  <a:off x="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81" name="Google Shape;481;p104"/>
              <p:cNvGrpSpPr/>
              <p:nvPr/>
            </p:nvGrpSpPr>
            <p:grpSpPr>
              <a:xfrm>
                <a:off x="500" y="480"/>
                <a:ext cx="500" cy="480"/>
                <a:chOff x="500" y="480"/>
                <a:chExt cx="500" cy="480"/>
              </a:xfrm>
            </p:grpSpPr>
            <p:sp>
              <p:nvSpPr>
                <p:cNvPr id="482" name="Google Shape;482;p104"/>
                <p:cNvSpPr/>
                <p:nvPr/>
              </p:nvSpPr>
              <p:spPr>
                <a:xfrm>
                  <a:off x="5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6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3" name="Google Shape;483;p104"/>
                <p:cNvSpPr/>
                <p:nvPr/>
              </p:nvSpPr>
              <p:spPr>
                <a:xfrm>
                  <a:off x="50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84" name="Google Shape;484;p104"/>
              <p:cNvGrpSpPr/>
              <p:nvPr/>
            </p:nvGrpSpPr>
            <p:grpSpPr>
              <a:xfrm>
                <a:off x="1000" y="480"/>
                <a:ext cx="500" cy="480"/>
                <a:chOff x="1000" y="480"/>
                <a:chExt cx="500" cy="480"/>
              </a:xfrm>
            </p:grpSpPr>
            <p:sp>
              <p:nvSpPr>
                <p:cNvPr id="485" name="Google Shape;485;p104"/>
                <p:cNvSpPr/>
                <p:nvPr/>
              </p:nvSpPr>
              <p:spPr>
                <a:xfrm>
                  <a:off x="10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10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6" name="Google Shape;486;p104"/>
                <p:cNvSpPr/>
                <p:nvPr/>
              </p:nvSpPr>
              <p:spPr>
                <a:xfrm>
                  <a:off x="100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87" name="Google Shape;487;p104"/>
              <p:cNvGrpSpPr/>
              <p:nvPr/>
            </p:nvGrpSpPr>
            <p:grpSpPr>
              <a:xfrm>
                <a:off x="1500" y="480"/>
                <a:ext cx="500" cy="480"/>
                <a:chOff x="1500" y="480"/>
                <a:chExt cx="500" cy="480"/>
              </a:xfrm>
            </p:grpSpPr>
            <p:sp>
              <p:nvSpPr>
                <p:cNvPr id="488" name="Google Shape;488;p104"/>
                <p:cNvSpPr/>
                <p:nvPr/>
              </p:nvSpPr>
              <p:spPr>
                <a:xfrm>
                  <a:off x="15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4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9" name="Google Shape;489;p104"/>
                <p:cNvSpPr/>
                <p:nvPr/>
              </p:nvSpPr>
              <p:spPr>
                <a:xfrm>
                  <a:off x="150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90" name="Google Shape;490;p104"/>
              <p:cNvGrpSpPr/>
              <p:nvPr/>
            </p:nvGrpSpPr>
            <p:grpSpPr>
              <a:xfrm>
                <a:off x="2000" y="480"/>
                <a:ext cx="500" cy="480"/>
                <a:chOff x="2000" y="480"/>
                <a:chExt cx="500" cy="480"/>
              </a:xfrm>
            </p:grpSpPr>
            <p:sp>
              <p:nvSpPr>
                <p:cNvPr id="491" name="Google Shape;491;p104"/>
                <p:cNvSpPr/>
                <p:nvPr/>
              </p:nvSpPr>
              <p:spPr>
                <a:xfrm>
                  <a:off x="20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5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2" name="Google Shape;492;p104"/>
                <p:cNvSpPr/>
                <p:nvPr/>
              </p:nvSpPr>
              <p:spPr>
                <a:xfrm>
                  <a:off x="200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93" name="Google Shape;493;p104"/>
              <p:cNvGrpSpPr/>
              <p:nvPr/>
            </p:nvGrpSpPr>
            <p:grpSpPr>
              <a:xfrm>
                <a:off x="2500" y="480"/>
                <a:ext cx="500" cy="480"/>
                <a:chOff x="2500" y="480"/>
                <a:chExt cx="500" cy="480"/>
              </a:xfrm>
            </p:grpSpPr>
            <p:sp>
              <p:nvSpPr>
                <p:cNvPr id="494" name="Google Shape;494;p104"/>
                <p:cNvSpPr/>
                <p:nvPr/>
              </p:nvSpPr>
              <p:spPr>
                <a:xfrm>
                  <a:off x="25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6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5" name="Google Shape;495;p104"/>
                <p:cNvSpPr/>
                <p:nvPr/>
              </p:nvSpPr>
              <p:spPr>
                <a:xfrm>
                  <a:off x="250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96" name="Google Shape;496;p104"/>
              <p:cNvGrpSpPr/>
              <p:nvPr/>
            </p:nvGrpSpPr>
            <p:grpSpPr>
              <a:xfrm>
                <a:off x="3000" y="480"/>
                <a:ext cx="500" cy="480"/>
                <a:chOff x="3000" y="480"/>
                <a:chExt cx="500" cy="480"/>
              </a:xfrm>
            </p:grpSpPr>
            <p:sp>
              <p:nvSpPr>
                <p:cNvPr id="497" name="Google Shape;497;p104"/>
                <p:cNvSpPr/>
                <p:nvPr/>
              </p:nvSpPr>
              <p:spPr>
                <a:xfrm>
                  <a:off x="30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4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8" name="Google Shape;498;p104"/>
                <p:cNvSpPr/>
                <p:nvPr/>
              </p:nvSpPr>
              <p:spPr>
                <a:xfrm>
                  <a:off x="300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499" name="Google Shape;499;p104"/>
              <p:cNvGrpSpPr/>
              <p:nvPr/>
            </p:nvGrpSpPr>
            <p:grpSpPr>
              <a:xfrm>
                <a:off x="0" y="960"/>
                <a:ext cx="500" cy="480"/>
                <a:chOff x="0" y="960"/>
                <a:chExt cx="500" cy="480"/>
              </a:xfrm>
            </p:grpSpPr>
            <p:sp>
              <p:nvSpPr>
                <p:cNvPr id="500" name="Google Shape;500;p104"/>
                <p:cNvSpPr/>
                <p:nvPr/>
              </p:nvSpPr>
              <p:spPr>
                <a:xfrm>
                  <a:off x="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W</a:t>
                  </a:r>
                  <a:r>
                    <a:rPr b="0" baseline="-2500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01" name="Google Shape;501;p104"/>
                <p:cNvSpPr/>
                <p:nvPr/>
              </p:nvSpPr>
              <p:spPr>
                <a:xfrm>
                  <a:off x="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502" name="Google Shape;502;p104"/>
              <p:cNvGrpSpPr/>
              <p:nvPr/>
            </p:nvGrpSpPr>
            <p:grpSpPr>
              <a:xfrm>
                <a:off x="500" y="960"/>
                <a:ext cx="500" cy="480"/>
                <a:chOff x="500" y="960"/>
                <a:chExt cx="500" cy="480"/>
              </a:xfrm>
            </p:grpSpPr>
            <p:sp>
              <p:nvSpPr>
                <p:cNvPr id="503" name="Google Shape;503;p104"/>
                <p:cNvSpPr/>
                <p:nvPr/>
              </p:nvSpPr>
              <p:spPr>
                <a:xfrm>
                  <a:off x="5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10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04" name="Google Shape;504;p104"/>
                <p:cNvSpPr/>
                <p:nvPr/>
              </p:nvSpPr>
              <p:spPr>
                <a:xfrm>
                  <a:off x="50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505" name="Google Shape;505;p104"/>
              <p:cNvGrpSpPr/>
              <p:nvPr/>
            </p:nvGrpSpPr>
            <p:grpSpPr>
              <a:xfrm>
                <a:off x="1000" y="960"/>
                <a:ext cx="500" cy="480"/>
                <a:chOff x="1000" y="960"/>
                <a:chExt cx="500" cy="480"/>
              </a:xfrm>
            </p:grpSpPr>
            <p:sp>
              <p:nvSpPr>
                <p:cNvPr id="506" name="Google Shape;506;p104"/>
                <p:cNvSpPr/>
                <p:nvPr/>
              </p:nvSpPr>
              <p:spPr>
                <a:xfrm>
                  <a:off x="10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19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07" name="Google Shape;507;p104"/>
                <p:cNvSpPr/>
                <p:nvPr/>
              </p:nvSpPr>
              <p:spPr>
                <a:xfrm>
                  <a:off x="100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508" name="Google Shape;508;p104"/>
              <p:cNvGrpSpPr/>
              <p:nvPr/>
            </p:nvGrpSpPr>
            <p:grpSpPr>
              <a:xfrm>
                <a:off x="1500" y="960"/>
                <a:ext cx="500" cy="480"/>
                <a:chOff x="1500" y="960"/>
                <a:chExt cx="500" cy="480"/>
              </a:xfrm>
            </p:grpSpPr>
            <p:sp>
              <p:nvSpPr>
                <p:cNvPr id="509" name="Google Shape;509;p104"/>
                <p:cNvSpPr/>
                <p:nvPr/>
              </p:nvSpPr>
              <p:spPr>
                <a:xfrm>
                  <a:off x="15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8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10" name="Google Shape;510;p104"/>
                <p:cNvSpPr/>
                <p:nvPr/>
              </p:nvSpPr>
              <p:spPr>
                <a:xfrm>
                  <a:off x="150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511" name="Google Shape;511;p104"/>
              <p:cNvGrpSpPr/>
              <p:nvPr/>
            </p:nvGrpSpPr>
            <p:grpSpPr>
              <a:xfrm>
                <a:off x="2000" y="960"/>
                <a:ext cx="500" cy="480"/>
                <a:chOff x="2000" y="960"/>
                <a:chExt cx="500" cy="480"/>
              </a:xfrm>
            </p:grpSpPr>
            <p:sp>
              <p:nvSpPr>
                <p:cNvPr id="512" name="Google Shape;512;p104"/>
                <p:cNvSpPr/>
                <p:nvPr/>
              </p:nvSpPr>
              <p:spPr>
                <a:xfrm>
                  <a:off x="20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10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13" name="Google Shape;513;p104"/>
                <p:cNvSpPr/>
                <p:nvPr/>
              </p:nvSpPr>
              <p:spPr>
                <a:xfrm>
                  <a:off x="200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514" name="Google Shape;514;p104"/>
              <p:cNvGrpSpPr/>
              <p:nvPr/>
            </p:nvGrpSpPr>
            <p:grpSpPr>
              <a:xfrm>
                <a:off x="2500" y="960"/>
                <a:ext cx="500" cy="480"/>
                <a:chOff x="2500" y="960"/>
                <a:chExt cx="500" cy="480"/>
              </a:xfrm>
            </p:grpSpPr>
            <p:sp>
              <p:nvSpPr>
                <p:cNvPr id="515" name="Google Shape;515;p104"/>
                <p:cNvSpPr/>
                <p:nvPr/>
              </p:nvSpPr>
              <p:spPr>
                <a:xfrm>
                  <a:off x="25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12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16" name="Google Shape;516;p104"/>
                <p:cNvSpPr/>
                <p:nvPr/>
              </p:nvSpPr>
              <p:spPr>
                <a:xfrm>
                  <a:off x="250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517" name="Google Shape;517;p104"/>
              <p:cNvGrpSpPr/>
              <p:nvPr/>
            </p:nvGrpSpPr>
            <p:grpSpPr>
              <a:xfrm>
                <a:off x="3000" y="960"/>
                <a:ext cx="500" cy="480"/>
                <a:chOff x="3000" y="960"/>
                <a:chExt cx="500" cy="480"/>
              </a:xfrm>
            </p:grpSpPr>
            <p:sp>
              <p:nvSpPr>
                <p:cNvPr id="518" name="Google Shape;518;p104"/>
                <p:cNvSpPr/>
                <p:nvPr/>
              </p:nvSpPr>
              <p:spPr>
                <a:xfrm>
                  <a:off x="30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8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19" name="Google Shape;519;p104"/>
                <p:cNvSpPr/>
                <p:nvPr/>
              </p:nvSpPr>
              <p:spPr>
                <a:xfrm>
                  <a:off x="300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grpSp>
            <p:nvGrpSpPr>
              <p:cNvPr id="520" name="Google Shape;520;p104"/>
              <p:cNvGrpSpPr/>
              <p:nvPr/>
            </p:nvGrpSpPr>
            <p:grpSpPr>
              <a:xfrm>
                <a:off x="0" y="1440"/>
                <a:ext cx="3500" cy="442"/>
                <a:chOff x="0" y="1440"/>
                <a:chExt cx="3500" cy="442"/>
              </a:xfrm>
            </p:grpSpPr>
            <p:sp>
              <p:nvSpPr>
                <p:cNvPr id="521" name="Google Shape;521;p104"/>
                <p:cNvSpPr/>
                <p:nvPr/>
              </p:nvSpPr>
              <p:spPr>
                <a:xfrm>
                  <a:off x="11" y="1440"/>
                  <a:ext cx="3478" cy="4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(P</a:t>
                  </a:r>
                  <a:r>
                    <a:rPr b="0" baseline="-2500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</a:t>
                  </a: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/W</a:t>
                  </a:r>
                  <a:r>
                    <a:rPr b="0" baseline="-2500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</a:t>
                  </a: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≥</a:t>
                  </a: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rPr>
                    <a:t> P</a:t>
                  </a:r>
                  <a:r>
                    <a:rPr b="0" baseline="-2500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i+1</a:t>
                  </a: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/W</a:t>
                  </a:r>
                  <a:r>
                    <a:rPr b="0" baseline="-2500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i+1</a:t>
                  </a:r>
                  <a:r>
                    <a:rPr b="0" i="0" lang="en-US" sz="1500" u="none" cap="none" strike="noStrike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)</a:t>
                  </a:r>
                  <a:endParaRPr b="0" i="0" sz="9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5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22" name="Google Shape;522;p104"/>
                <p:cNvSpPr/>
                <p:nvPr/>
              </p:nvSpPr>
              <p:spPr>
                <a:xfrm>
                  <a:off x="0" y="1440"/>
                  <a:ext cx="3500" cy="4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</p:grpSp>
        <p:sp>
          <p:nvSpPr>
            <p:cNvPr id="523" name="Google Shape;523;p104"/>
            <p:cNvSpPr/>
            <p:nvPr/>
          </p:nvSpPr>
          <p:spPr>
            <a:xfrm>
              <a:off x="-3" y="-3"/>
              <a:ext cx="3506" cy="1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24" name="Google Shape;524;p104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525" name="Google Shape;525;p10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6" name="Google Shape;526;p104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0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50" u="none" cap="none" strike="noStrike">
              <a:solidFill>
                <a:schemeClr val="accen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2" name="Google Shape;532;p105"/>
          <p:cNvSpPr txBox="1"/>
          <p:nvPr>
            <p:ph type="title"/>
          </p:nvPr>
        </p:nvSpPr>
        <p:spPr>
          <a:xfrm>
            <a:off x="969566" y="76716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FIND THE LOWER BOUND?</a:t>
            </a:r>
            <a:endParaRPr b="1"/>
          </a:p>
        </p:txBody>
      </p:sp>
      <p:sp>
        <p:nvSpPr>
          <p:cNvPr id="533" name="Google Shape;533;p105"/>
          <p:cNvSpPr txBox="1"/>
          <p:nvPr>
            <p:ph idx="1" type="body"/>
          </p:nvPr>
        </p:nvSpPr>
        <p:spPr>
          <a:xfrm>
            <a:off x="878400" y="1785825"/>
            <a:ext cx="77931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B</a:t>
            </a:r>
            <a:r>
              <a:rPr lang="en-US" sz="1800"/>
              <a:t>y relaxing our restriction from X</a:t>
            </a:r>
            <a:r>
              <a:rPr baseline="-25000" lang="en-US" sz="1800"/>
              <a:t>i</a:t>
            </a:r>
            <a:r>
              <a:rPr lang="en-US" sz="1800"/>
              <a:t> = 0 or 1 to 0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≤</a:t>
            </a:r>
            <a:r>
              <a:rPr lang="en-US" sz="1800"/>
              <a:t> X</a:t>
            </a:r>
            <a:r>
              <a:rPr baseline="-25000" lang="en-US" sz="1800"/>
              <a:t>i</a:t>
            </a:r>
            <a:r>
              <a:rPr lang="en-US" sz="1800"/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≤</a:t>
            </a:r>
            <a:r>
              <a:rPr lang="en-US" sz="1800"/>
              <a:t> 1 (knapsack problem)</a:t>
            </a:r>
            <a:endParaRPr/>
          </a:p>
        </p:txBody>
      </p:sp>
      <p:graphicFrame>
        <p:nvGraphicFramePr>
          <p:cNvPr id="534" name="Google Shape;534;p105"/>
          <p:cNvGraphicFramePr/>
          <p:nvPr/>
        </p:nvGraphicFramePr>
        <p:xfrm>
          <a:off x="1487450" y="2386462"/>
          <a:ext cx="7027900" cy="4136914"/>
        </p:xfrm>
        <a:graphic>
          <a:graphicData uri="http://schemas.openxmlformats.org/presentationml/2006/ole">
            <mc:AlternateContent>
              <mc:Choice Requires="v">
                <p:oleObj r:id="rId4" imgH="4136914" imgW="7027900" progId="Word.Document.8" spid="_x0000_s1">
                  <p:embed/>
                </p:oleObj>
              </mc:Choice>
              <mc:Fallback>
                <p:oleObj r:id="rId5" imgH="4136914" imgW="7027900" progId="Word.Document.8">
                  <p:embed/>
                  <p:pic>
                    <p:nvPicPr>
                      <p:cNvPr id="534" name="Google Shape;534;p10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487450" y="2386462"/>
                        <a:ext cx="7027900" cy="4136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5" name="Google Shape;535;p105"/>
          <p:cNvGrpSpPr/>
          <p:nvPr/>
        </p:nvGrpSpPr>
        <p:grpSpPr>
          <a:xfrm>
            <a:off x="269498" y="210741"/>
            <a:ext cx="5950424" cy="831628"/>
            <a:chOff x="269498" y="221251"/>
            <a:chExt cx="5950424" cy="831628"/>
          </a:xfrm>
        </p:grpSpPr>
        <p:pic>
          <p:nvPicPr>
            <p:cNvPr id="536" name="Google Shape;536;p10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105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7"/>
          <p:cNvSpPr/>
          <p:nvPr/>
        </p:nvSpPr>
        <p:spPr>
          <a:xfrm>
            <a:off x="0" y="2967335"/>
            <a:ext cx="9144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i="0" sz="1400" u="none" cap="none" strike="noStrike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4" name="Google Shape;544;p5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Design and Analysis of Algorithm       Unit 3</a:t>
            </a:r>
            <a:endParaRPr/>
          </a:p>
        </p:txBody>
      </p:sp>
      <p:sp>
        <p:nvSpPr>
          <p:cNvPr id="545" name="Google Shape;545;p5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46" name="Google Shape;546;p57"/>
          <p:cNvGrpSpPr/>
          <p:nvPr/>
        </p:nvGrpSpPr>
        <p:grpSpPr>
          <a:xfrm>
            <a:off x="269498" y="221251"/>
            <a:ext cx="5950424" cy="831628"/>
            <a:chOff x="269498" y="221251"/>
            <a:chExt cx="5950424" cy="831628"/>
          </a:xfrm>
        </p:grpSpPr>
        <p:pic>
          <p:nvPicPr>
            <p:cNvPr id="547" name="Google Shape;547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498" y="221251"/>
              <a:ext cx="5950424" cy="831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8" name="Google Shape;548;p57"/>
            <p:cNvSpPr txBox="1"/>
            <p:nvPr/>
          </p:nvSpPr>
          <p:spPr>
            <a:xfrm>
              <a:off x="1104382" y="288180"/>
              <a:ext cx="4928058" cy="66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Dept. of Computer Science &amp; Engineering</a:t>
              </a:r>
              <a:r>
                <a:rPr b="1" i="0" lang="en-U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1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2018-03-07T17:43:46Z</dcterms:created>
  <dc:creator>User</dc:creator>
</cp:coreProperties>
</file>