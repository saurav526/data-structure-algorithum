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y="6858000" cx="9144000"/>
  <p:notesSz cx="6858000" cy="9144000"/>
  <p:embeddedFontLst>
    <p:embeddedFont>
      <p:font typeface="Arim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inUkQZZ/IPSkCzqSK0C4nir02J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4C3286C-5A0E-4416-AC53-8BD5E961B7F0}">
  <a:tblStyle styleId="{24C3286C-5A0E-4416-AC53-8BD5E961B7F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6EA"/>
          </a:solidFill>
        </a:fill>
      </a:tcStyle>
    </a:wholeTbl>
    <a:band1H>
      <a:tcTxStyle b="off" i="off"/>
      <a:tcStyle>
        <a:fill>
          <a:solidFill>
            <a:srgbClr val="FFECD2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FECD2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Arimo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Arim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font" Target="fonts/Arimo-bold.fntdata"/><Relationship Id="rId16" Type="http://schemas.openxmlformats.org/officeDocument/2006/relationships/slide" Target="slides/slide10.xml"/><Relationship Id="rId38" Type="http://schemas.openxmlformats.org/officeDocument/2006/relationships/font" Target="fonts/Arim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7c977377e_0_7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f7c977377e_0_7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f7c977377e_0_7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c977377e_0_104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f7c977377e_0_104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f7c977377e_0_104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f7c977377e_0_114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g3f7c977377e_0_114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g3f7c977377e_0_114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7c977377e_0_123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g3f7c977377e_0_123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3f7c977377e_0_123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7c977377e_0_132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f7c977377e_0_132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g3f7c977377e_0_132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7c977377e_0_141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g3f7c977377e_0_141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f7c977377e_0_141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7c977377e_0_150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f7c977377e_0_150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f7c977377e_0_150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7c977377e_0_159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f7c977377e_0_159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f7c977377e_0_159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7c977377e_0_173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3f7c977377e_0_173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3f7c977377e_0_173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7c977377e_0_193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g3f7c977377e_0_193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3f7c977377e_0_193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7c977377e_0_208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f7c977377e_0_208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f7c977377e_0_208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7c977377e_0_219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g3f7c977377e_0_219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g3f7c977377e_0_219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7c977377e_0_229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f7c977377e_0_229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g3f7c977377e_0_229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7c977377e_0_238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f7c977377e_0_238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8" name="Google Shape;238;g3f7c977377e_0_238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7c977377e_0_247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g3f7c977377e_0_247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g3f7c977377e_0_247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7c977377e_0_257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f7c977377e_0_257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f7c977377e_0_257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7c977377e_0_267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f7c977377e_0_267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f7c977377e_0_267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7c977377e_0_277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g3f7c977377e_0_277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8" name="Google Shape;278;g3f7c977377e_0_277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7c977377e_0_287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g3f7c977377e_0_287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g3f7c977377e_0_287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f7c977377e_0_298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7" name="Google Shape;297;g3f7c977377e_0_298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g3f7c977377e_0_298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7c977377e_0_308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g3f7c977377e_0_308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9" name="Google Shape;309;g3f7c977377e_0_308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7c977377e_0_320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g3f7c977377e_0_320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g3f7c977377e_0_320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7c977377e_0_332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f7c977377e_0_332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2" name="Google Shape;332;g3f7c977377e_0_332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7c977377e_0_343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g3f7c977377e_0_343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3f7c977377e_0_343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7c977377e_0_355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g3f7c977377e_0_355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g3f7c977377e_0_355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7c977377e_0_367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" name="Google Shape;365;g3f7c977377e_0_367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g3f7c977377e_0_367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7c977377e_0_377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f7c977377e_0_377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g3f7c977377e_0_377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7c977377e_0_386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g3f7c977377e_0_386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g3f7c977377e_0_386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7c977377e_0_396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f7c977377e_0_396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g3f7c977377e_0_396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f7c977377e_0_407:notes"/>
          <p:cNvSpPr/>
          <p:nvPr>
            <p:ph idx="2" type="sldImg"/>
          </p:nvPr>
        </p:nvSpPr>
        <p:spPr>
          <a:xfrm>
            <a:off x="1185414" y="1143183"/>
            <a:ext cx="44871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3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3f7c977377e_0_407:notes"/>
          <p:cNvSpPr txBox="1"/>
          <p:nvPr>
            <p:ph idx="1" type="body"/>
          </p:nvPr>
        </p:nvSpPr>
        <p:spPr>
          <a:xfrm>
            <a:off x="685802" y="4400556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750" lIns="93500" spcFirstLastPara="1" rIns="93500" wrap="square" tIns="467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g3f7c977377e_0_407:notes"/>
          <p:cNvSpPr txBox="1"/>
          <p:nvPr>
            <p:ph idx="12" type="sldNum"/>
          </p:nvPr>
        </p:nvSpPr>
        <p:spPr>
          <a:xfrm>
            <a:off x="3884620" y="8685225"/>
            <a:ext cx="2971800" cy="45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6750" lIns="93500" spcFirstLastPara="1" rIns="93500" wrap="square" tIns="467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3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3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" name="Google Shape;31;p3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9pPr>
          </a:lstStyle>
          <a:p/>
        </p:txBody>
      </p:sp>
      <p:sp>
        <p:nvSpPr>
          <p:cNvPr id="35" name="Google Shape;35;p3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3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0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/>
            </a:lvl9pPr>
          </a:lstStyle>
          <a:p/>
        </p:txBody>
      </p:sp>
      <p:sp>
        <p:nvSpPr>
          <p:cNvPr id="41" name="Google Shape;41;p40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/>
            </a:lvl9pPr>
          </a:lstStyle>
          <a:p/>
        </p:txBody>
      </p:sp>
      <p:sp>
        <p:nvSpPr>
          <p:cNvPr id="42" name="Google Shape;42;p4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4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9pPr>
          </a:lstStyle>
          <a:p/>
        </p:txBody>
      </p:sp>
      <p:sp>
        <p:nvSpPr>
          <p:cNvPr id="48" name="Google Shape;48;p4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9pPr>
          </a:lstStyle>
          <a:p/>
        </p:txBody>
      </p:sp>
      <p:sp>
        <p:nvSpPr>
          <p:cNvPr id="49" name="Google Shape;49;p4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b="1" sz="1600"/>
            </a:lvl9pPr>
          </a:lstStyle>
          <a:p/>
        </p:txBody>
      </p:sp>
      <p:sp>
        <p:nvSpPr>
          <p:cNvPr id="50" name="Google Shape;50;p4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»"/>
              <a:defRPr sz="1600"/>
            </a:lvl9pPr>
          </a:lstStyle>
          <a:p/>
        </p:txBody>
      </p:sp>
      <p:sp>
        <p:nvSpPr>
          <p:cNvPr id="51" name="Google Shape;51;p4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4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" name="Google Shape;57;p4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sz="2000"/>
            </a:lvl9pPr>
          </a:lstStyle>
          <a:p/>
        </p:txBody>
      </p:sp>
      <p:sp>
        <p:nvSpPr>
          <p:cNvPr id="61" name="Google Shape;61;p4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9pPr>
          </a:lstStyle>
          <a:p/>
        </p:txBody>
      </p:sp>
      <p:sp>
        <p:nvSpPr>
          <p:cNvPr id="62" name="Google Shape;62;p4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" name="Google Shape;64;p4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  <a:defRPr sz="900"/>
            </a:lvl9pPr>
          </a:lstStyle>
          <a:p/>
        </p:txBody>
      </p:sp>
      <p:sp>
        <p:nvSpPr>
          <p:cNvPr id="69" name="Google Shape;69;p4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4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5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4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4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6"/>
          <p:cNvSpPr txBox="1"/>
          <p:nvPr>
            <p:ph type="title"/>
          </p:nvPr>
        </p:nvSpPr>
        <p:spPr>
          <a:xfrm rot="5400000">
            <a:off x="4743450" y="2381250"/>
            <a:ext cx="548640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6"/>
          <p:cNvSpPr txBox="1"/>
          <p:nvPr>
            <p:ph idx="1" type="body"/>
          </p:nvPr>
        </p:nvSpPr>
        <p:spPr>
          <a:xfrm rot="5400000">
            <a:off x="781050" y="514350"/>
            <a:ext cx="548640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81" name="Google Shape;81;p4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3" name="Google Shape;83;p4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/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35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E5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0" name="Google Shape;90;p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 txBox="1"/>
          <p:nvPr/>
        </p:nvSpPr>
        <p:spPr>
          <a:xfrm>
            <a:off x="628650" y="1320476"/>
            <a:ext cx="76485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 Year Engineering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23CSE3011 </a:t>
            </a:r>
            <a:r>
              <a:rPr b="1" i="0" lang="en-US" sz="2800" u="none" cap="none" strike="noStrike">
                <a:solidFill>
                  <a:srgbClr val="CC00C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Design and Analysis of Algorithms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b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- T.Y. (SEM-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</a:t>
            </a: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- V 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Storage Management</a:t>
            </a:r>
            <a:r>
              <a:rPr b="1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27886" y="166260"/>
            <a:ext cx="5787433" cy="820632"/>
          </a:xfrm>
          <a:prstGeom prst="rect">
            <a:avLst/>
          </a:prstGeom>
          <a:solidFill>
            <a:srgbClr val="7030A0"/>
          </a:solidFill>
          <a:ln cap="flat" cmpd="sng" w="9525">
            <a:solidFill>
              <a:srgbClr val="D0461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MIT School of Computing</a:t>
            </a:r>
            <a:b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Department of Computer Science &amp; Engineering</a:t>
            </a:r>
            <a:endParaRPr b="1" i="0" sz="16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961175" y="5480445"/>
            <a:ext cx="5787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AY 2026-2027    </a:t>
            </a:r>
            <a:r>
              <a:rPr b="1" lang="en-US" sz="2800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SEM-V</a:t>
            </a:r>
            <a:endParaRPr b="1" sz="2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</a:rPr>
            </a:b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3f7c977377e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3f7c977377e_0_7"/>
          <p:cNvSpPr txBox="1"/>
          <p:nvPr/>
        </p:nvSpPr>
        <p:spPr>
          <a:xfrm>
            <a:off x="250527" y="1454860"/>
            <a:ext cx="8769300" cy="50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9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rPr b="1" lang="en-US" sz="2253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UNIT - V  SYLLABUS</a:t>
            </a:r>
            <a:endParaRPr b="1" sz="2253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rPr b="1" lang="en-US" sz="1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b="1" sz="8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</a:pPr>
            <a:r>
              <a:t/>
            </a:r>
            <a:endParaRPr b="1" sz="19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NP-hard and NP-Complete Problems: </a:t>
            </a:r>
            <a:r>
              <a:rPr lang="en-US" sz="21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 concepts, deterministic and non-deterministic algorithms, NP-hard and NP-complete classes, Cook‘s theorem;</a:t>
            </a:r>
            <a:endParaRPr sz="21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Approximation Algorithms </a:t>
            </a:r>
            <a:r>
              <a:rPr lang="en-US" sz="2155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the NP-Hard Traveling Salesman Problem: Nearest-neighbour algorithm, Twice-around-the-tree algorithm.</a:t>
            </a:r>
            <a:endParaRPr sz="21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5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397" lvl="0" marL="525145" marR="59689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525145" marR="59689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g3f7c977377e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f7c977377e_0_7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g3f7c977377e_0_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f7c977377e_0_104"/>
          <p:cNvSpPr txBox="1"/>
          <p:nvPr/>
        </p:nvSpPr>
        <p:spPr>
          <a:xfrm>
            <a:off x="250525" y="1781152"/>
            <a:ext cx="8769300" cy="48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115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saw in previous units, There are problems that are difficult to solve algorithmically. 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same time, some of them are so important that we cannot just sigh in resignation and do nothing. 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unit outlines several ways of dealing with such difficult problems. 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other distinction between backtracking and branch-and-bound lies in the order in which nodes of the state-space tree are generated. 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115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backtracking, this tree is usually developed</a:t>
            </a:r>
            <a:b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depth-first (i.e., similar to DFS). </a:t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2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➢"/>
            </a:pPr>
            <a:r>
              <a:rPr lang="en-US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Branch-and-bound can generate nodes according to several rules: the most natural one is the so-called best-first rule explained </a:t>
            </a:r>
            <a:br>
              <a:rPr lang="en-US" sz="3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525145" marR="59689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g3f7c977377e_0_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f7c977377e_0_104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7c977377e_0_104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f7c977377e_0_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g3f7c977377e_0_114"/>
          <p:cNvSpPr txBox="1"/>
          <p:nvPr/>
        </p:nvSpPr>
        <p:spPr>
          <a:xfrm>
            <a:off x="250525" y="1976055"/>
            <a:ext cx="8769300" cy="4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principal idea is to construct solutions one component at a time and evaluate such partially constructed candidates as follows.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partially constructed solution can be developed further without violating the problem’s constraints, it is done by taking the first remaining legitimate option for the next component.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there is no legitimate option for the next component, no alternatives for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any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remaining component need to be considered.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this case, the algorithm backtracks to replace the last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 of the partially constructed solution with its next option.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525145" marR="59689" rtl="0" algn="just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sz="2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1" name="Google Shape;121;g3f7c977377e_0_1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f7c977377e_0_114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7c977377e_0_114"/>
          <p:cNvSpPr txBox="1"/>
          <p:nvPr/>
        </p:nvSpPr>
        <p:spPr>
          <a:xfrm>
            <a:off x="645597" y="1023225"/>
            <a:ext cx="7858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Backtracking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g3f7c977377e_0_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g3f7c977377e_0_123"/>
          <p:cNvSpPr txBox="1"/>
          <p:nvPr/>
        </p:nvSpPr>
        <p:spPr>
          <a:xfrm>
            <a:off x="250525" y="1976055"/>
            <a:ext cx="8769300" cy="47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convenient to implement this kind of processing by constructing a tree of choices being made, called the </a:t>
            </a:r>
            <a:r>
              <a:rPr b="1"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state-space tree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root represents an initial state before the search for a solution begins.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nodes of the first level in the tree represent the choices made for the first component of a solution, the nodes of the second level represent the choices for the second component, and so</a:t>
            </a:r>
            <a:b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on.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8300" lvl="0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Char char="➢"/>
            </a:pP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node in a state-space tree is said to be </a:t>
            </a:r>
            <a:r>
              <a:rPr b="1"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promising 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it corresponds to a partially constructed solution that may still lead to a complete solution; otherwise it is called </a:t>
            </a:r>
            <a:r>
              <a:rPr b="1" i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nonpromising</a:t>
            </a:r>
            <a:r>
              <a:rPr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g3f7c977377e_0_1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f7c977377e_0_123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7c977377e_0_123"/>
          <p:cNvSpPr txBox="1"/>
          <p:nvPr/>
        </p:nvSpPr>
        <p:spPr>
          <a:xfrm>
            <a:off x="645597" y="1023225"/>
            <a:ext cx="7858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Backtracking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g3f7c977377e_0_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3f7c977377e_0_132"/>
          <p:cNvSpPr txBox="1"/>
          <p:nvPr/>
        </p:nvSpPr>
        <p:spPr>
          <a:xfrm>
            <a:off x="250525" y="1976055"/>
            <a:ext cx="8769300" cy="26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7465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➢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 class problems are hard to implement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➢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to verify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➢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Exponential in nature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➢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verified in polynomial time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➢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Non-tractable problems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9144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Calibri"/>
              <a:buChar char="➢"/>
            </a:pPr>
            <a:r>
              <a:rPr lang="en-US" sz="2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problems are of type NP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g3f7c977377e_0_1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g3f7c977377e_0_132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f7c977377e_0_132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 sz="40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 Class Problems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g3f7c977377e_0_1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f7c977377e_0_141"/>
          <p:cNvSpPr txBox="1"/>
          <p:nvPr/>
        </p:nvSpPr>
        <p:spPr>
          <a:xfrm>
            <a:off x="250525" y="1976055"/>
            <a:ext cx="8769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backtracking, for n queen problem it should be pointed out that a single solution to the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-queens problem for any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≥ 4 can be found in linear time</a:t>
            </a: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g3f7c977377e_0_1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3f7c977377e_0_141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7c977377e_0_141"/>
          <p:cNvSpPr txBox="1"/>
          <p:nvPr/>
        </p:nvSpPr>
        <p:spPr>
          <a:xfrm>
            <a:off x="645597" y="1023225"/>
            <a:ext cx="7858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-Queens Problem</a:t>
            </a: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4000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g3f7c977377e_0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3f7c977377e_0_150"/>
          <p:cNvSpPr txBox="1"/>
          <p:nvPr/>
        </p:nvSpPr>
        <p:spPr>
          <a:xfrm>
            <a:off x="250525" y="1976055"/>
            <a:ext cx="8769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66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class problems are easy to implement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verify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Polynomial in nature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6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Tractable problems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1" name="Google Shape;161;g3f7c977377e_0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f7c977377e_0_150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7c977377e_0_150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P-Class Problems</a:t>
            </a:r>
            <a:endParaRPr b="1" i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g3f7c977377e_0_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g3f7c977377e_0_159"/>
          <p:cNvSpPr txBox="1"/>
          <p:nvPr/>
        </p:nvSpPr>
        <p:spPr>
          <a:xfrm>
            <a:off x="250525" y="1976055"/>
            <a:ext cx="87693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 and B are  two problems then problem A reduces to problem B iff there is a way to solve A by deterministic algorithm that solves B in polynomial time.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⮚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is reducible to B then A ∝ B.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⮚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is reducible to B and B in P then A in P.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127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⮚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A not in P implies B not in P</a:t>
            </a:r>
            <a:r>
              <a:rPr lang="en-US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1" name="Google Shape;171;g3f7c977377e_0_1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f7c977377e_0_159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f7c977377e_0_159"/>
          <p:cNvSpPr txBox="1"/>
          <p:nvPr/>
        </p:nvSpPr>
        <p:spPr>
          <a:xfrm>
            <a:off x="645597" y="1023225"/>
            <a:ext cx="7858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Reduction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4" name="Google Shape;174;g3f7c977377e_0_159"/>
          <p:cNvCxnSpPr/>
          <p:nvPr/>
        </p:nvCxnSpPr>
        <p:spPr>
          <a:xfrm flipH="1" rot="10800000">
            <a:off x="3548918" y="5151662"/>
            <a:ext cx="1663500" cy="3900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miter lim="8000"/>
            <a:headEnd len="sm" w="sm" type="none"/>
            <a:tailEnd len="med" w="med" type="stealth"/>
          </a:ln>
        </p:spPr>
      </p:cxnSp>
      <p:sp>
        <p:nvSpPr>
          <p:cNvPr id="175" name="Google Shape;175;g3f7c977377e_0_159"/>
          <p:cNvSpPr/>
          <p:nvPr>
            <p:ph idx="1" type="body"/>
          </p:nvPr>
        </p:nvSpPr>
        <p:spPr>
          <a:xfrm>
            <a:off x="5127276" y="4386933"/>
            <a:ext cx="1536900" cy="14397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BA94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76" name="Google Shape;176;g3f7c977377e_0_159"/>
          <p:cNvSpPr/>
          <p:nvPr>
            <p:ph idx="1" type="body"/>
          </p:nvPr>
        </p:nvSpPr>
        <p:spPr>
          <a:xfrm>
            <a:off x="2012026" y="4386933"/>
            <a:ext cx="1536900" cy="1439700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BA94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>
                <a:solidFill>
                  <a:schemeClr val="lt1"/>
                </a:solidFill>
              </a:rPr>
              <a:t>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g3f7c977377e_0_1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f7c977377e_0_173"/>
          <p:cNvSpPr txBox="1"/>
          <p:nvPr/>
        </p:nvSpPr>
        <p:spPr>
          <a:xfrm>
            <a:off x="250525" y="1976055"/>
            <a:ext cx="87693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⮚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problem is NP hard if every problem in NP can be polynomial reduced to it.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⮚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Basically NP hard are optimization problems.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4" name="Google Shape;184;g3f7c977377e_0_1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3f7c977377e_0_173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g3f7c977377e_0_173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 Hard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" name="Google Shape;187;g3f7c977377e_0_173"/>
          <p:cNvSpPr/>
          <p:nvPr/>
        </p:nvSpPr>
        <p:spPr>
          <a:xfrm>
            <a:off x="1198266" y="3359520"/>
            <a:ext cx="2461200" cy="2577900"/>
          </a:xfrm>
          <a:prstGeom prst="ellipse">
            <a:avLst/>
          </a:prstGeom>
          <a:solidFill>
            <a:srgbClr val="0000BF"/>
          </a:solidFill>
          <a:ln cap="flat" cmpd="sng" w="12700">
            <a:solidFill>
              <a:srgbClr val="BA94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/>
          </a:p>
        </p:txBody>
      </p:sp>
      <p:sp>
        <p:nvSpPr>
          <p:cNvPr id="188" name="Google Shape;188;g3f7c977377e_0_173"/>
          <p:cNvSpPr/>
          <p:nvPr/>
        </p:nvSpPr>
        <p:spPr>
          <a:xfrm>
            <a:off x="1644148" y="4546319"/>
            <a:ext cx="1332600" cy="1391100"/>
          </a:xfrm>
          <a:prstGeom prst="ellipse">
            <a:avLst/>
          </a:prstGeom>
          <a:solidFill>
            <a:srgbClr val="8E8EFF"/>
          </a:solidFill>
          <a:ln cap="flat" cmpd="sng" w="12700">
            <a:solidFill>
              <a:srgbClr val="BA94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mo"/>
              <a:buNone/>
            </a:pPr>
            <a:r>
              <a:t/>
            </a:r>
            <a:endParaRPr sz="1600">
              <a:solidFill>
                <a:schemeClr val="dk1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g3f7c977377e_0_173"/>
          <p:cNvSpPr/>
          <p:nvPr/>
        </p:nvSpPr>
        <p:spPr>
          <a:xfrm>
            <a:off x="3546725" y="4339055"/>
            <a:ext cx="612900" cy="379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656FF"/>
          </a:solidFill>
          <a:ln cap="flat" cmpd="sng" w="12700">
            <a:solidFill>
              <a:srgbClr val="BA94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" name="Google Shape;190;g3f7c977377e_0_173"/>
          <p:cNvSpPr/>
          <p:nvPr/>
        </p:nvSpPr>
        <p:spPr>
          <a:xfrm>
            <a:off x="4159617" y="3762302"/>
            <a:ext cx="2149800" cy="1533000"/>
          </a:xfrm>
          <a:prstGeom prst="ellipse">
            <a:avLst/>
          </a:prstGeom>
          <a:solidFill>
            <a:srgbClr val="00B050"/>
          </a:solidFill>
          <a:ln cap="flat" cmpd="sng" w="12700">
            <a:solidFill>
              <a:srgbClr val="BA944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g3f7c977377e_0_173"/>
          <p:cNvSpPr txBox="1"/>
          <p:nvPr/>
        </p:nvSpPr>
        <p:spPr>
          <a:xfrm>
            <a:off x="1838528" y="4011298"/>
            <a:ext cx="95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NP</a:t>
            </a:r>
            <a:endParaRPr b="0" i="0" sz="1600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192" name="Google Shape;192;g3f7c977377e_0_173"/>
          <p:cNvSpPr txBox="1"/>
          <p:nvPr/>
        </p:nvSpPr>
        <p:spPr>
          <a:xfrm>
            <a:off x="4833450" y="4168675"/>
            <a:ext cx="1039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 Hard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3f7c977377e_0_1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3f7c977377e_0_193"/>
          <p:cNvSpPr txBox="1"/>
          <p:nvPr/>
        </p:nvSpPr>
        <p:spPr>
          <a:xfrm>
            <a:off x="250525" y="1976055"/>
            <a:ext cx="8769300" cy="356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⮚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problem is called NP complete if it is in NP and it is NP-Hard.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⮚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intersection of NP and NP hard is NP complete problem.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⮚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Basically NP complete are decision problems.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⮚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If problem A is a Decision problem and problem B is Optimization problem then it is possible A ∝ B.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⮚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 : Knapsack decision problem can be converted into knapsack optimization problem.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⮚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NP-Complete problems are NP-Hard but all NP-Hard problems are not NP-Complete.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0" name="Google Shape;200;g3f7c977377e_0_1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f7c977377e_0_193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g3f7c977377e_0_193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 Complete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g3f7c977377e_0_193"/>
          <p:cNvSpPr txBox="1"/>
          <p:nvPr/>
        </p:nvSpPr>
        <p:spPr>
          <a:xfrm>
            <a:off x="1838528" y="4011298"/>
            <a:ext cx="95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NP</a:t>
            </a:r>
            <a:endParaRPr b="0" i="0" sz="1600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f7c977377e_0_2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f7c977377e_0_2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g3f7c977377e_0_208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3f7c977377e_0_208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 Complete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g3f7c977377e_0_208"/>
          <p:cNvSpPr txBox="1"/>
          <p:nvPr/>
        </p:nvSpPr>
        <p:spPr>
          <a:xfrm>
            <a:off x="1838528" y="4011298"/>
            <a:ext cx="953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mo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rPr>
              <a:t>NP</a:t>
            </a:r>
            <a:endParaRPr b="0" i="0" sz="1600" u="none" cap="none" strike="noStrike">
              <a:solidFill>
                <a:schemeClr val="lt1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pic>
        <p:nvPicPr>
          <p:cNvPr id="214" name="Google Shape;214;g3f7c977377e_0_2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950" y="1758950"/>
            <a:ext cx="7990849" cy="495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g3f7c977377e_0_2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f7c977377e_0_219"/>
          <p:cNvSpPr txBox="1"/>
          <p:nvPr/>
        </p:nvSpPr>
        <p:spPr>
          <a:xfrm>
            <a:off x="250525" y="1976055"/>
            <a:ext cx="8769300" cy="2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Computational complexity -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1371600" rtl="0" algn="l">
              <a:lnSpc>
                <a:spcPct val="75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Polynomial(P)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" lvl="0" marL="228600" rtl="0" algn="l">
              <a:lnSpc>
                <a:spcPct val="75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1371600" rtl="0" algn="l">
              <a:lnSpc>
                <a:spcPct val="75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○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 deterministic polynomial(NP-Class)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828800" rtl="0" algn="l">
              <a:lnSpc>
                <a:spcPct val="75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■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NP- Hard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700" lvl="0" marL="342900" rtl="0" algn="l">
              <a:lnSpc>
                <a:spcPct val="75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2" marL="1828800" rtl="0" algn="l">
              <a:lnSpc>
                <a:spcPct val="75000"/>
              </a:lnSpc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■"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NP-Complete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22" name="Google Shape;222;g3f7c977377e_0_2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f7c977377e_0_219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7c977377e_0_219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g3f7c977377e_0_2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3f7c977377e_0_229"/>
          <p:cNvSpPr txBox="1"/>
          <p:nvPr/>
        </p:nvSpPr>
        <p:spPr>
          <a:xfrm>
            <a:off x="250525" y="1976055"/>
            <a:ext cx="8769300" cy="50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algorithm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uses random numbers to decide what to do next anywhere in its logic (at least once)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called Randomized Algorithm.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in Randomized Quick Sort, we use random number to pick the next pivot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course, if we use an algorithm whose output is just an approximation of the actual optimal solution, we would like to know how accurate this approximation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quantify the accuracy of an approximate solution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 problem of minimizing some function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the size of the relative error of this approximation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 of approximation algorithms are 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Guaranteed to run in polynomial time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Guaranteed to get a solution which is close to the optimal solution (near optimal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2" name="Google Shape;232;g3f7c977377e_0_2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g3f7c977377e_0_229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7c977377e_0_229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Approximation Algorithms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f7c977377e_0_2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f7c977377e_0_238"/>
          <p:cNvSpPr txBox="1"/>
          <p:nvPr/>
        </p:nvSpPr>
        <p:spPr>
          <a:xfrm>
            <a:off x="250525" y="1976055"/>
            <a:ext cx="8769300" cy="50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algorithm </a:t>
            </a: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that uses random numbers to decide what to do next anywhere in its logic (at least once)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called Randomized Algorithm.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example, in Randomized Quick Sort, we use random number to pick the next pivot 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course, if we use an algorithm whose output is just an approximation of the actual optimal solution, we would like to know how accurate this approximation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can quantify the accuracy of an approximate solution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 problem of minimizing some function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the size of the relative error of this approximation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Properties of approximation algorithms are 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Guaranteed to run in polynomial time</a:t>
            </a:r>
            <a:endParaRPr>
              <a:solidFill>
                <a:schemeClr val="dk1"/>
              </a:solidFill>
            </a:endParaRPr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AutoNum type="arabicPeriod"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Guaranteed to get a solution which is close to the optimal solution (near optimal</a:t>
            </a:r>
            <a:endParaRPr b="1"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42" name="Google Shape;242;g3f7c977377e_0_2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f7c977377e_0_238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g3f7c977377e_0_238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Approximation Algorithms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g3f7c977377e_0_2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g3f7c977377e_0_2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f7c977377e_0_247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f7c977377e_0_247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Approximation Algorithms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4" name="Google Shape;254;g3f7c977377e_0_2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438" y="1891488"/>
            <a:ext cx="8239125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g3f7c977377e_0_2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f7c977377e_0_2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f7c977377e_0_257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f7c977377e_0_257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Approximation Algorithms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g3f7c977377e_0_2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6713" y="1942569"/>
            <a:ext cx="8410575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g3f7c977377e_0_2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3f7c977377e_0_2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3f7c977377e_0_267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g3f7c977377e_0_267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Approximation Algorithms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g3f7c977377e_0_2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850" y="1823625"/>
            <a:ext cx="8465676" cy="487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g3f7c977377e_0_2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3f7c977377e_0_2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3f7c977377e_0_277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g3f7c977377e_0_277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Approximation Algorithms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4" name="Google Shape;284;g3f7c977377e_0_27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9211" y="1962731"/>
            <a:ext cx="7858200" cy="4727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g3f7c977377e_0_2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g3f7c977377e_0_2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3f7c977377e_0_287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f7c977377e_0_287"/>
          <p:cNvSpPr txBox="1"/>
          <p:nvPr/>
        </p:nvSpPr>
        <p:spPr>
          <a:xfrm>
            <a:off x="645597" y="1023225"/>
            <a:ext cx="785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Nearest-neighbor algorithm for TSP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g3f7c977377e_0_287"/>
          <p:cNvSpPr txBox="1"/>
          <p:nvPr/>
        </p:nvSpPr>
        <p:spPr>
          <a:xfrm>
            <a:off x="586800" y="1729737"/>
            <a:ext cx="78582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following well-known greedy algorithm is based on the 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nearest-neighbor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Heuristic: always go next to the nearest unvisited city.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1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Choose an arbitrary city as the start.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2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Repeat the following operation until all the cities have     	been visited: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go to the unvisited city nearest the one visited last (ties 	can be broken arbitrarily).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3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 to the starting city.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g3f7c977377e_0_2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g3f7c977377e_0_2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f7c977377e_0_298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f7c977377e_0_298"/>
          <p:cNvSpPr txBox="1"/>
          <p:nvPr/>
        </p:nvSpPr>
        <p:spPr>
          <a:xfrm>
            <a:off x="645597" y="1023225"/>
            <a:ext cx="785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Nearest-neighbor algorithm for TSP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g3f7c977377e_0_298"/>
          <p:cNvSpPr txBox="1"/>
          <p:nvPr/>
        </p:nvSpPr>
        <p:spPr>
          <a:xfrm>
            <a:off x="586800" y="1729707"/>
            <a:ext cx="78582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nearest-neighbour algorithm for the instance of TSP represented by graph given below. Also find accuracy ratio for the same.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5" name="Google Shape;305;g3f7c977377e_0_2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4500" y="3340100"/>
            <a:ext cx="4128075" cy="277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3f7c977377e_0_3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g3f7c977377e_0_30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f7c977377e_0_308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f7c977377e_0_308"/>
          <p:cNvSpPr txBox="1"/>
          <p:nvPr/>
        </p:nvSpPr>
        <p:spPr>
          <a:xfrm>
            <a:off x="645597" y="1023225"/>
            <a:ext cx="785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Nearest-neighbor algorithm for TSP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g3f7c977377e_0_308"/>
          <p:cNvSpPr txBox="1"/>
          <p:nvPr/>
        </p:nvSpPr>
        <p:spPr>
          <a:xfrm>
            <a:off x="586800" y="1729707"/>
            <a:ext cx="7858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:</a:t>
            </a:r>
            <a:r>
              <a:rPr lang="en-US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 we will apply exhaustive search. That is, we will find all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possible tours from node a.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6" name="Google Shape;316;g3f7c977377e_0_308"/>
          <p:cNvGraphicFramePr/>
          <p:nvPr/>
        </p:nvGraphicFramePr>
        <p:xfrm>
          <a:off x="4389430" y="32584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{24C3286C-5A0E-4416-AC53-8BD5E961B7F0}</a:tableStyleId>
              </a:tblPr>
              <a:tblGrid>
                <a:gridCol w="2329300"/>
                <a:gridCol w="23293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Tour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Length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i="1" lang="en-US" sz="1800" u="none" cap="none" strike="noStrike"/>
                        <a:t>a – b-c-d- a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i="1" lang="en-US" sz="1800" u="none" cap="none" strike="noStrike"/>
                        <a:t>a - b-d-c- 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i="1" lang="en-US" sz="1800" u="none" cap="none" strike="noStrike"/>
                        <a:t>a - c-b-d- 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i="1" lang="en-US" sz="1800" u="none" cap="none" strike="noStrike"/>
                        <a:t>a – c-d-b- 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8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i="1" lang="en-US" sz="1800" u="none" cap="none" strike="noStrike"/>
                        <a:t>a –d-b-c- a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14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i="1" lang="en-US" sz="1800" u="none" cap="none" strike="noStrike"/>
                        <a:t>a – d-c-b –a 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/>
                        <a:t>10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id="317" name="Google Shape;317;g3f7c977377e_0_30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3700" y="3169800"/>
            <a:ext cx="3191475" cy="27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g3f7c977377e_0_3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g3f7c977377e_0_3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f7c977377e_0_320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g3f7c977377e_0_320"/>
          <p:cNvSpPr txBox="1"/>
          <p:nvPr/>
        </p:nvSpPr>
        <p:spPr>
          <a:xfrm>
            <a:off x="645597" y="1023225"/>
            <a:ext cx="785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Nearest-neighbor algorithm for TSP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g3f7c977377e_0_320"/>
          <p:cNvSpPr txBox="1"/>
          <p:nvPr/>
        </p:nvSpPr>
        <p:spPr>
          <a:xfrm>
            <a:off x="586800" y="1729707"/>
            <a:ext cx="78582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 :</a:t>
            </a:r>
            <a:r>
              <a:rPr lang="en-US">
                <a:solidFill>
                  <a:schemeClr val="dk1"/>
                </a:solidFill>
              </a:rPr>
              <a:t> 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optimal solution, as can be easily checked by exhaustive search, is the tour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∗: </a:t>
            </a:r>
            <a:r>
              <a:rPr i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− b − d − c − a of length 8.</a:t>
            </a:r>
            <a:endParaRPr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Thus, the accuracy ratio of this approximation is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8" name="Google Shape;328;g3f7c977377e_0_3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4365" y="3989325"/>
            <a:ext cx="8603065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g3f7c977377e_0_3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g3f7c977377e_0_3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f7c977377e_0_332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f7c977377e_0_332"/>
          <p:cNvSpPr txBox="1"/>
          <p:nvPr/>
        </p:nvSpPr>
        <p:spPr>
          <a:xfrm>
            <a:off x="645597" y="1023225"/>
            <a:ext cx="785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Nearest-neighbor algorithm for TSP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8" name="Google Shape;338;g3f7c977377e_0_332"/>
          <p:cNvSpPr txBox="1"/>
          <p:nvPr/>
        </p:nvSpPr>
        <p:spPr>
          <a:xfrm>
            <a:off x="586800" y="1729702"/>
            <a:ext cx="7858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Apply twice around the tree algorithm on the graph given below - 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9" name="Google Shape;339;g3f7c977377e_0_3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61900" y="2968150"/>
            <a:ext cx="3581399" cy="3052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g3f7c977377e_0_3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g3f7c977377e_0_3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3f7c977377e_0_343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3f7c977377e_0_343"/>
          <p:cNvSpPr txBox="1"/>
          <p:nvPr/>
        </p:nvSpPr>
        <p:spPr>
          <a:xfrm>
            <a:off x="645597" y="1023225"/>
            <a:ext cx="785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Nearest-neighbor algorithm for TSP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g3f7c977377e_0_343"/>
          <p:cNvSpPr txBox="1"/>
          <p:nvPr/>
        </p:nvSpPr>
        <p:spPr>
          <a:xfrm>
            <a:off x="586800" y="1729700"/>
            <a:ext cx="78582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Solution: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 twice-around-the-tree walk that starts and ends at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is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b, c, b, d, e, d, b, a.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Eliminating repetitions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yields the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i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Hamiltonian circuit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1"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b, c, d, e, a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length 39.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50" name="Google Shape;350;g3f7c977377e_0_3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36449" y="3889575"/>
            <a:ext cx="2730550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:\MIT\DAA\PPTs\IMG_20191017_134155.jpg" id="351" name="Google Shape;351;g3f7c977377e_0_343"/>
          <p:cNvPicPr preferRelativeResize="0"/>
          <p:nvPr/>
        </p:nvPicPr>
        <p:blipFill rotWithShape="1">
          <a:blip r:embed="rId6">
            <a:alphaModFix/>
          </a:blip>
          <a:srcRect b="5620" l="0" r="0" t="23593"/>
          <a:stretch/>
        </p:blipFill>
        <p:spPr>
          <a:xfrm>
            <a:off x="6365400" y="3874975"/>
            <a:ext cx="266428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g3f7c977377e_0_3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g3f7c977377e_0_3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3f7c977377e_0_355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3f7c977377e_0_355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 Circuit Problem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g3f7c977377e_0_355"/>
          <p:cNvSpPr txBox="1"/>
          <p:nvPr/>
        </p:nvSpPr>
        <p:spPr>
          <a:xfrm>
            <a:off x="586800" y="1729700"/>
            <a:ext cx="78582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 Hamiltonian cycle is a cycle that contains all vertices in a graph exactly once.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Hamilton cycle for the graph:     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a-b-c-e-f-d-a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2" name="Google Shape;362;g3f7c977377e_0_3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6253" y="3429000"/>
            <a:ext cx="3816944" cy="288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g3f7c977377e_0_3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g3f7c977377e_0_3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g3f7c977377e_0_367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3f7c977377e_0_367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 Circuit Problem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2" name="Google Shape;372;g3f7c977377e_0_367"/>
          <p:cNvSpPr txBox="1"/>
          <p:nvPr/>
        </p:nvSpPr>
        <p:spPr>
          <a:xfrm>
            <a:off x="305875" y="1729700"/>
            <a:ext cx="86241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3429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Given a graph G = (V, E) we have to find the Hamiltonian Circuit using Backtracking approach.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We can assume that if a Hamiltonian circuit exists, it starts at vertex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Accordingly, we make vertex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root of the state-space tree 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first component of our future solution, if it exists, is a first intermediate vertex of a Hamiltonian circuit to be constructed.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3429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Using the alphabet order to break the three-way tie among the vertices adjacent to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select vertex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From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algorithm proceeds to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to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to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finally to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f,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proves to be a dead end.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g3f7c977377e_0_3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f7c977377e_0_3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g3f7c977377e_0_377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g3f7c977377e_0_377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 Circuit Problem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2" name="Google Shape;382;g3f7c977377e_0_377"/>
          <p:cNvSpPr txBox="1"/>
          <p:nvPr/>
        </p:nvSpPr>
        <p:spPr>
          <a:xfrm>
            <a:off x="305875" y="1729700"/>
            <a:ext cx="8624100" cy="41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the algorithm backtracks from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then to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then to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which provides the first alternative for the algorithm to pursue.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Going from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eventually proves useless, and the algorithm has to</a:t>
            </a:r>
            <a:b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backtrack from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then to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there, it goes to the vertices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from which it can legitimately return to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yielding the Hamiltonian circuit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55600" lvl="0" marL="457200" rtl="0" algn="just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If we wanted to find another Hamiltonian circuit, we could continue this process by backtracking from the leaf of the solution found. 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g3f7c977377e_0_3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g3f7c977377e_0_38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g3f7c977377e_0_386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g3f7c977377e_0_386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 Circuit Problem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2" name="Google Shape;392;g3f7c977377e_0_38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411" y="1817710"/>
            <a:ext cx="7584024" cy="46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8" name="Google Shape;398;g3f7c977377e_0_3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g3f7c977377e_0_3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g3f7c977377e_0_396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f7c977377e_0_396"/>
          <p:cNvSpPr txBox="1"/>
          <p:nvPr/>
        </p:nvSpPr>
        <p:spPr>
          <a:xfrm>
            <a:off x="645597" y="1023225"/>
            <a:ext cx="78582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Hamilton Circuit Problem</a:t>
            </a:r>
            <a:endParaRPr b="1" sz="4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g3f7c977377e_0_396"/>
          <p:cNvSpPr txBox="1"/>
          <p:nvPr/>
        </p:nvSpPr>
        <p:spPr>
          <a:xfrm>
            <a:off x="560334" y="2058618"/>
            <a:ext cx="7992300" cy="1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we wanted to find another Hamiltonian circuit, we could continue this process by backtracking from the leaf of the solution found.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g3f7c977377e_0_4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0"/>
            <a:ext cx="9144001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g3f7c977377e_0_4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4842" y="123715"/>
            <a:ext cx="5950425" cy="831628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g3f7c977377e_0_407"/>
          <p:cNvSpPr txBox="1"/>
          <p:nvPr/>
        </p:nvSpPr>
        <p:spPr>
          <a:xfrm>
            <a:off x="1287262" y="166260"/>
            <a:ext cx="49281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Dept. of Computer Science &amp; Engineering</a:t>
            </a:r>
            <a:r>
              <a:rPr b="1" i="0" lang="en-US" sz="2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b="1" i="0" sz="2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f7c977377e_0_407"/>
          <p:cNvSpPr txBox="1"/>
          <p:nvPr/>
        </p:nvSpPr>
        <p:spPr>
          <a:xfrm>
            <a:off x="645597" y="2631140"/>
            <a:ext cx="7858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5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Default Color Scheme 5">
      <a:dk1>
        <a:srgbClr val="000000"/>
      </a:dk1>
      <a:lt1>
        <a:srgbClr val="FFFFFF"/>
      </a:lt1>
      <a:dk2>
        <a:srgbClr val="808080"/>
      </a:dk2>
      <a:lt2>
        <a:srgbClr val="000000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9"/>
      </a:accent5>
      <a:accent6>
        <a:srgbClr val="0000E5"/>
      </a:accent6>
      <a:hlink>
        <a:srgbClr val="CC00CC"/>
      </a:hlink>
      <a:folHlink>
        <a:srgbClr val="C0C0C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2003-12-20T10:40:35Z</dcterms:created>
  <dc:creator>Owner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870a1a193cdb45968f408a0376b34210</vt:lpwstr>
  </property>
</Properties>
</file>