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9144000"/>
  <p:notesSz cx="6888150" cy="10018700"/>
  <p:embeddedFontLst>
    <p:embeddedFont>
      <p:font typeface="Nunit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9" roundtripDataSignature="AMtx7mgWCCGcEI6260EqMD5s3u/LtjHv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Nunito-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Nunito-italic.fntdata"/><Relationship Id="rId12" Type="http://schemas.openxmlformats.org/officeDocument/2006/relationships/slide" Target="slides/slide7.xml"/><Relationship Id="rId56" Type="http://schemas.openxmlformats.org/officeDocument/2006/relationships/font" Target="fonts/Nunito-bold.fntdata"/><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Nuni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3.png"/><Relationship Id="rId3"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4871" cy="502676"/>
          </a:xfrm>
          <a:prstGeom prst="rect">
            <a:avLst/>
          </a:prstGeom>
          <a:noFill/>
          <a:ln>
            <a:noFill/>
          </a:ln>
        </p:spPr>
        <p:txBody>
          <a:bodyPr anchorCtr="0" anchor="t"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01698" y="0"/>
            <a:ext cx="2984871" cy="502676"/>
          </a:xfrm>
          <a:prstGeom prst="rect">
            <a:avLst/>
          </a:prstGeom>
          <a:noFill/>
          <a:ln>
            <a:noFill/>
          </a:ln>
        </p:spPr>
        <p:txBody>
          <a:bodyPr anchorCtr="0" anchor="t"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16039"/>
            <a:ext cx="2984871" cy="502674"/>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0" name="Google Shape;50;p1: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4" name="Google Shape;64;p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7" name="Google Shape;77;p2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2eb705b752_0_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0" name="Google Shape;90;g22eb705b752_0_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2eb705b752_0_2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04" name="Google Shape;104;g22eb705b752_0_2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eb705b752_0_3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18" name="Google Shape;118;g22eb705b752_0_3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2eb705b752_0_4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32" name="Google Shape;132;g22eb705b752_0_4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2eb705b752_0_6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46" name="Google Shape;146;g22eb705b752_0_6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2eb705b752_0_7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60" name="Google Shape;160;g22eb705b752_0_7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2eb705b752_0_9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74" name="Google Shape;174;g22eb705b752_0_9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2eb705b752_0_10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88" name="Google Shape;188;g22eb705b752_0_10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2eb705b752_0_12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01" name="Google Shape;201;g22eb705b752_0_12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2eb705b752_0_13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14" name="Google Shape;214;g22eb705b752_0_13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2eb705b752_0_17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27" name="Google Shape;227;g22eb705b752_0_17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2eb705b752_0_14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40" name="Google Shape;240;g22eb705b752_0_14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2eb705b752_0_16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53" name="Google Shape;253;g22eb705b752_0_16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2eb705b752_0_18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66" name="Google Shape;266;g22eb705b752_0_18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2eb705b752_0_20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79" name="Google Shape;279;g22eb705b752_0_20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2eb705b752_0_21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92" name="Google Shape;292;g22eb705b752_0_21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2eb705b752_0_22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06" name="Google Shape;306;g22eb705b752_0_22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2eb705b752_0_24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20" name="Google Shape;320;g22eb705b752_0_24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2eb705b752_0_25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34" name="Google Shape;334;g22eb705b752_0_25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2eb705b752_0_27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48" name="Google Shape;348;g22eb705b752_0_27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2eb705b752_0_28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62" name="Google Shape;362;g22eb705b752_0_28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2eb705b752_0_29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76" name="Google Shape;376;g22eb705b752_0_29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2eb705b752_0_31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90" name="Google Shape;390;g22eb705b752_0_31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03" name="Google Shape;403;p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16" name="Google Shape;416;p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36" name="Google Shape;436;p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54" name="Google Shape;454;p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68" name="Google Shape;468;p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82" name="Google Shape;482;p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98" name="Google Shape;498;p1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11" name="Google Shape;511;p1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24" name="Google Shape;524;p1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37" name="Google Shape;537;p1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50" name="Google Shape;550;p1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63" name="Google Shape;563;p1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76" name="Google Shape;576;p1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89" name="Google Shape;589;p1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02" name="Google Shape;602;p1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15" name="Google Shape;615;p1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64" name="Google Shape;664;p2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79" name="Google Shape;679;p2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2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92" name="Google Shape;692;p2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06" name="Google Shape;706;p2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20" name="Google Shape;720;p2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2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35" name="Google Shape;735;p2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49" name="Google Shape;749;p2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8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8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 name="Shape 21"/>
        <p:cNvGrpSpPr/>
        <p:nvPr/>
      </p:nvGrpSpPr>
      <p:grpSpPr>
        <a:xfrm>
          <a:off x="0" y="0"/>
          <a:ext cx="0" cy="0"/>
          <a:chOff x="0" y="0"/>
          <a:chExt cx="0" cy="0"/>
        </a:xfrm>
      </p:grpSpPr>
      <p:sp>
        <p:nvSpPr>
          <p:cNvPr id="22" name="Google Shape;22;p9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4" name="Google Shape;24;p9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5" name="Google Shape;25;p9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9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92"/>
          <p:cNvSpPr/>
          <p:nvPr>
            <p:ph idx="2" type="pic"/>
          </p:nvPr>
        </p:nvSpPr>
        <p:spPr>
          <a:xfrm>
            <a:off x="3887391" y="987426"/>
            <a:ext cx="4629150" cy="4873625"/>
          </a:xfrm>
          <a:prstGeom prst="rect">
            <a:avLst/>
          </a:prstGeom>
          <a:noFill/>
          <a:ln>
            <a:noFill/>
          </a:ln>
        </p:spPr>
      </p:sp>
      <p:sp>
        <p:nvSpPr>
          <p:cNvPr id="31" name="Google Shape;31;p9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2" name="Google Shape;32;p9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9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5" name="Shape 35"/>
        <p:cNvGrpSpPr/>
        <p:nvPr/>
      </p:nvGrpSpPr>
      <p:grpSpPr>
        <a:xfrm>
          <a:off x="0" y="0"/>
          <a:ext cx="0" cy="0"/>
          <a:chOff x="0" y="0"/>
          <a:chExt cx="0" cy="0"/>
        </a:xfrm>
      </p:grpSpPr>
      <p:sp>
        <p:nvSpPr>
          <p:cNvPr id="36" name="Google Shape;36;p9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9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9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9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1" name="Shape 41"/>
        <p:cNvGrpSpPr/>
        <p:nvPr/>
      </p:nvGrpSpPr>
      <p:grpSpPr>
        <a:xfrm>
          <a:off x="0" y="0"/>
          <a:ext cx="0" cy="0"/>
          <a:chOff x="0" y="0"/>
          <a:chExt cx="0" cy="0"/>
        </a:xfrm>
      </p:grpSpPr>
      <p:sp>
        <p:nvSpPr>
          <p:cNvPr id="42" name="Google Shape;42;p94"/>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4"/>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9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hyperlink" Target="https://www.geeksforgeeks.org/dsa/searching-algorithms/" TargetMode="External"/><Relationship Id="rId6" Type="http://schemas.openxmlformats.org/officeDocument/2006/relationships/hyperlink" Target="https://www.geeksforgeeks.org/dsa/searching-algorithms/" TargetMode="External"/><Relationship Id="rId7" Type="http://schemas.openxmlformats.org/officeDocument/2006/relationships/hyperlink" Target="https://www.geeksforgeeks.org/dsa/introduction-to-divide-and-conquer-algorithm/" TargetMode="External"/></Relationships>
</file>

<file path=ppt/slides/_rels/slide28.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oleObject" Target="../embeddings/oleObject2.bin"/><Relationship Id="rId13" Type="http://schemas.openxmlformats.org/officeDocument/2006/relationships/oleObject" Target="../embeddings/oleObject3.bin"/><Relationship Id="rId12" Type="http://schemas.openxmlformats.org/officeDocument/2006/relationships/oleObject" Target="../embeddings/oleObject3.bin"/><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vmlDrawing" Target="../drawings/vmlDrawing1.vml"/><Relationship Id="rId4" Type="http://schemas.openxmlformats.org/officeDocument/2006/relationships/image" Target="../media/image2.jpg"/><Relationship Id="rId9" Type="http://schemas.openxmlformats.org/officeDocument/2006/relationships/oleObject" Target="../embeddings/oleObject2.bin"/><Relationship Id="rId1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oleObject" Target="../embeddings/oleObject1.bin"/><Relationship Id="rId7" Type="http://schemas.openxmlformats.org/officeDocument/2006/relationships/oleObject" Target="../embeddings/oleObject1.bin"/><Relationship Id="rId8"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vmlDrawing" Target="../drawings/vmlDrawing2.vml"/><Relationship Id="rId4" Type="http://schemas.openxmlformats.org/officeDocument/2006/relationships/image" Target="../media/image2.jpg"/><Relationship Id="rId5" Type="http://schemas.openxmlformats.org/officeDocument/2006/relationships/image" Target="../media/image1.png"/><Relationship Id="rId6" Type="http://schemas.openxmlformats.org/officeDocument/2006/relationships/oleObject" Target="../embeddings/oleObject4.bin"/><Relationship Id="rId7" Type="http://schemas.openxmlformats.org/officeDocument/2006/relationships/oleObject" Target="../embeddings/oleObject4.bin"/><Relationship Id="rId8"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jp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jp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jp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jp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jp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jp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jp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jp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3" name="Google Shape;53;p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4" name="Google Shape;54;p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5" name="Google Shape;55;p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1" i="0" sz="1600" u="none" cap="none" strike="noStrike">
              <a:solidFill>
                <a:schemeClr val="lt1"/>
              </a:solidFill>
              <a:latin typeface="Arial"/>
              <a:ea typeface="Arial"/>
              <a:cs typeface="Arial"/>
              <a:sym typeface="Arial"/>
            </a:endParaRPr>
          </a:p>
        </p:txBody>
      </p:sp>
      <p:sp>
        <p:nvSpPr>
          <p:cNvPr id="56" name="Google Shape;56;p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1"/>
          <p:cNvSpPr txBox="1"/>
          <p:nvPr/>
        </p:nvSpPr>
        <p:spPr>
          <a:xfrm>
            <a:off x="450376" y="1460311"/>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9" name="Google Shape;59;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0" name="Google Shape;60;p1"/>
          <p:cNvSpPr txBox="1"/>
          <p:nvPr/>
        </p:nvSpPr>
        <p:spPr>
          <a:xfrm>
            <a:off x="628650" y="1320476"/>
            <a:ext cx="7648500" cy="3971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Third Year Engineering</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lang="en-US" sz="2800">
                <a:solidFill>
                  <a:srgbClr val="CC00CC"/>
                </a:solidFill>
                <a:latin typeface="Times New Roman"/>
                <a:ea typeface="Times New Roman"/>
                <a:cs typeface="Times New Roman"/>
                <a:sym typeface="Times New Roman"/>
              </a:rPr>
              <a:t>23CSE3011 - </a:t>
            </a:r>
            <a:r>
              <a:rPr b="1" i="0" lang="en-US" sz="2800" u="none" cap="none" strike="noStrike">
                <a:solidFill>
                  <a:srgbClr val="CC00CC"/>
                </a:solidFill>
                <a:latin typeface="Times New Roman"/>
                <a:ea typeface="Times New Roman"/>
                <a:cs typeface="Times New Roman"/>
                <a:sym typeface="Times New Roman"/>
              </a:rPr>
              <a:t>Design and Analysis of Algorithms</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br>
              <a:rPr b="0" i="0" lang="en-US" sz="2800" u="none" cap="none" strike="noStrike">
                <a:solidFill>
                  <a:srgbClr val="000000"/>
                </a:solidFill>
                <a:latin typeface="Arial"/>
                <a:ea typeface="Arial"/>
                <a:cs typeface="Arial"/>
                <a:sym typeface="Arial"/>
              </a:rPr>
            </a:br>
            <a:r>
              <a:rPr b="1" i="0" lang="en-US" sz="2800" u="none" cap="none" strike="noStrike">
                <a:solidFill>
                  <a:srgbClr val="FF0000"/>
                </a:solidFill>
                <a:latin typeface="Times New Roman"/>
                <a:ea typeface="Times New Roman"/>
                <a:cs typeface="Times New Roman"/>
                <a:sym typeface="Times New Roman"/>
              </a:rPr>
              <a:t>Class - T.Y. (SEM-</a:t>
            </a:r>
            <a:r>
              <a:rPr b="1" lang="en-US" sz="2800">
                <a:solidFill>
                  <a:srgbClr val="FF0000"/>
                </a:solidFill>
                <a:latin typeface="Times New Roman"/>
                <a:ea typeface="Times New Roman"/>
                <a:cs typeface="Times New Roman"/>
                <a:sym typeface="Times New Roman"/>
              </a:rPr>
              <a:t>V</a:t>
            </a:r>
            <a:r>
              <a:rPr b="1" i="0" lang="en-US" sz="2800" u="none" cap="none" strike="noStrike">
                <a:solidFill>
                  <a:srgbClr val="FF0000"/>
                </a:solidFill>
                <a:latin typeface="Times New Roman"/>
                <a:ea typeface="Times New Roman"/>
                <a:cs typeface="Times New Roman"/>
                <a:sym typeface="Times New Roman"/>
              </a:rPr>
              <a:t>)</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Unit - </a:t>
            </a:r>
            <a:r>
              <a:rPr b="1" lang="en-US" sz="2800">
                <a:latin typeface="Times New Roman"/>
                <a:ea typeface="Times New Roman"/>
                <a:cs typeface="Times New Roman"/>
                <a:sym typeface="Times New Roman"/>
              </a:rPr>
              <a:t>II</a:t>
            </a:r>
            <a:r>
              <a:rPr b="1" i="0" lang="en-US" sz="2800" u="none" cap="none" strike="noStrike">
                <a:solidFill>
                  <a:srgbClr val="000000"/>
                </a:solidFill>
                <a:latin typeface="Times New Roman"/>
                <a:ea typeface="Times New Roman"/>
                <a:cs typeface="Times New Roman"/>
                <a:sym typeface="Times New Roman"/>
              </a:rPr>
              <a:t>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Brute Force and Divide-and-Conquer </a:t>
            </a:r>
            <a:endParaRPr b="0" i="0" sz="1400" u="none" cap="none" strike="noStrike">
              <a:solidFill>
                <a:srgbClr val="000000"/>
              </a:solidFill>
              <a:latin typeface="Arial"/>
              <a:ea typeface="Arial"/>
              <a:cs typeface="Arial"/>
              <a:sym typeface="Arial"/>
            </a:endParaRPr>
          </a:p>
        </p:txBody>
      </p:sp>
      <p:sp>
        <p:nvSpPr>
          <p:cNvPr id="61" name="Google Shape;61;p1"/>
          <p:cNvSpPr txBox="1"/>
          <p:nvPr/>
        </p:nvSpPr>
        <p:spPr>
          <a:xfrm>
            <a:off x="1973325" y="5402056"/>
            <a:ext cx="4648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00CC"/>
                </a:solidFill>
                <a:latin typeface="Times New Roman"/>
                <a:ea typeface="Times New Roman"/>
                <a:cs typeface="Times New Roman"/>
                <a:sym typeface="Times New Roman"/>
              </a:rPr>
              <a:t>AY 202</a:t>
            </a:r>
            <a:r>
              <a:rPr lang="en-US" sz="2800">
                <a:solidFill>
                  <a:srgbClr val="CC00CC"/>
                </a:solidFill>
                <a:latin typeface="Times New Roman"/>
                <a:ea typeface="Times New Roman"/>
                <a:cs typeface="Times New Roman"/>
                <a:sym typeface="Times New Roman"/>
              </a:rPr>
              <a:t>6</a:t>
            </a:r>
            <a:r>
              <a:rPr b="0" i="0" lang="en-US" sz="2800" u="none" cap="none" strike="noStrike">
                <a:solidFill>
                  <a:srgbClr val="CC00CC"/>
                </a:solidFill>
                <a:latin typeface="Times New Roman"/>
                <a:ea typeface="Times New Roman"/>
                <a:cs typeface="Times New Roman"/>
                <a:sym typeface="Times New Roman"/>
              </a:rPr>
              <a:t>-202</a:t>
            </a:r>
            <a:r>
              <a:rPr lang="en-US" sz="2800">
                <a:solidFill>
                  <a:srgbClr val="CC00CC"/>
                </a:solidFill>
                <a:latin typeface="Times New Roman"/>
                <a:ea typeface="Times New Roman"/>
                <a:cs typeface="Times New Roman"/>
                <a:sym typeface="Times New Roman"/>
              </a:rPr>
              <a:t>7</a:t>
            </a:r>
            <a:r>
              <a:rPr b="0" i="0" lang="en-US" sz="2800" u="none" cap="none" strike="noStrike">
                <a:solidFill>
                  <a:srgbClr val="CC00CC"/>
                </a:solidFill>
                <a:latin typeface="Times New Roman"/>
                <a:ea typeface="Times New Roman"/>
                <a:cs typeface="Times New Roman"/>
                <a:sym typeface="Times New Roman"/>
              </a:rPr>
              <a:t>     </a:t>
            </a:r>
            <a:r>
              <a:rPr b="1" i="0" lang="en-US" sz="2800" u="none" cap="none" strike="noStrike">
                <a:solidFill>
                  <a:srgbClr val="CC00CC"/>
                </a:solidFill>
                <a:latin typeface="Times New Roman"/>
                <a:ea typeface="Times New Roman"/>
                <a:cs typeface="Times New Roman"/>
                <a:sym typeface="Times New Roman"/>
              </a:rPr>
              <a:t>SEM-</a:t>
            </a:r>
            <a:r>
              <a:rPr b="1" lang="en-US" sz="2800">
                <a:solidFill>
                  <a:srgbClr val="CC00CC"/>
                </a:solidFill>
                <a:latin typeface="Times New Roman"/>
                <a:ea typeface="Times New Roman"/>
                <a:cs typeface="Times New Roman"/>
                <a:sym typeface="Times New Roman"/>
              </a:rPr>
              <a:t>V</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7" name="Google Shape;67;p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8" name="Google Shape;68;p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9" name="Google Shape;69;p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3" name="Google Shape;73;p2"/>
          <p:cNvSpPr txBox="1"/>
          <p:nvPr/>
        </p:nvSpPr>
        <p:spPr>
          <a:xfrm>
            <a:off x="497728" y="1259402"/>
            <a:ext cx="8338800" cy="4792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0"/>
              </a:spcBef>
              <a:spcAft>
                <a:spcPts val="0"/>
              </a:spcAft>
              <a:buClr>
                <a:srgbClr val="000000"/>
              </a:buClr>
              <a:buSzPts val="3200"/>
              <a:buFont typeface="Arial"/>
              <a:buNone/>
            </a:pPr>
            <a:r>
              <a:rPr b="1" i="0" lang="en-US" sz="2700" u="none" cap="none" strike="noStrike">
                <a:solidFill>
                  <a:srgbClr val="C00000"/>
                </a:solidFill>
                <a:latin typeface="Times New Roman"/>
                <a:ea typeface="Times New Roman"/>
                <a:cs typeface="Times New Roman"/>
                <a:sym typeface="Times New Roman"/>
              </a:rPr>
              <a:t>Unit-II</a:t>
            </a:r>
            <a:r>
              <a:rPr b="1" lang="en-US" sz="2800">
                <a:solidFill>
                  <a:srgbClr val="C00000"/>
                </a:solidFill>
                <a:latin typeface="Times New Roman"/>
                <a:ea typeface="Times New Roman"/>
                <a:cs typeface="Times New Roman"/>
                <a:sym typeface="Times New Roman"/>
              </a:rPr>
              <a:t> - </a:t>
            </a:r>
            <a:r>
              <a:rPr b="1" i="0" lang="en-US" sz="2800" u="none" cap="none" strike="noStrike">
                <a:solidFill>
                  <a:srgbClr val="C00000"/>
                </a:solidFill>
                <a:latin typeface="Times New Roman"/>
                <a:ea typeface="Times New Roman"/>
                <a:cs typeface="Times New Roman"/>
                <a:sym typeface="Times New Roman"/>
              </a:rPr>
              <a:t>Syllabus</a:t>
            </a:r>
            <a:endParaRPr b="1" i="0" sz="2800" u="none" cap="none" strike="noStrike">
              <a:solidFill>
                <a:srgbClr val="C00000"/>
              </a:solidFill>
              <a:latin typeface="Times New Roman"/>
              <a:ea typeface="Times New Roman"/>
              <a:cs typeface="Times New Roman"/>
              <a:sym typeface="Times New Roman"/>
            </a:endParaRPr>
          </a:p>
          <a:p>
            <a:pPr indent="-228600" lvl="0" marL="228600" marR="0" rtl="0" algn="l">
              <a:lnSpc>
                <a:spcPct val="80000"/>
              </a:lnSpc>
              <a:spcBef>
                <a:spcPts val="0"/>
              </a:spcBef>
              <a:spcAft>
                <a:spcPts val="0"/>
              </a:spcAft>
              <a:buClr>
                <a:srgbClr val="000000"/>
              </a:buClr>
              <a:buSzPts val="3200"/>
              <a:buFont typeface="Arial"/>
              <a:buNone/>
            </a:pPr>
            <a:r>
              <a:rPr b="1" i="0" lang="en-US" sz="3200" u="none" cap="none" strike="noStrike">
                <a:solidFill>
                  <a:srgbClr val="C00000"/>
                </a:solidFill>
                <a:latin typeface="Times New Roman"/>
                <a:ea typeface="Times New Roman"/>
                <a:cs typeface="Times New Roman"/>
                <a:sym typeface="Times New Roman"/>
              </a:rPr>
              <a:t>			</a:t>
            </a:r>
            <a:endParaRPr b="1" i="0" sz="2800" u="none" cap="none" strike="noStrike">
              <a:solidFill>
                <a:srgbClr val="C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2300"/>
              <a:buFont typeface="Arial"/>
              <a:buNone/>
            </a:pPr>
            <a:r>
              <a:rPr b="1" i="0" lang="en-US" sz="2188" u="none" cap="none" strike="noStrike">
                <a:solidFill>
                  <a:schemeClr val="dk1"/>
                </a:solidFill>
                <a:latin typeface="Times New Roman"/>
                <a:ea typeface="Times New Roman"/>
                <a:cs typeface="Times New Roman"/>
                <a:sym typeface="Times New Roman"/>
              </a:rPr>
              <a:t>Brute Force: </a:t>
            </a:r>
            <a:r>
              <a:rPr i="0" lang="en-US" sz="2188" u="none" cap="none" strike="noStrike">
                <a:solidFill>
                  <a:schemeClr val="dk1"/>
                </a:solidFill>
                <a:latin typeface="Times New Roman"/>
                <a:ea typeface="Times New Roman"/>
                <a:cs typeface="Times New Roman"/>
                <a:sym typeface="Times New Roman"/>
              </a:rPr>
              <a:t>Principle, Brute force string matching algorithm and its analysis, NAÏVE string matching algorithms and its analysis, Rabin Karp algorithm and its analysis; </a:t>
            </a:r>
            <a:endParaRPr i="0" sz="2188"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2300"/>
              <a:buFont typeface="Arial"/>
              <a:buNone/>
            </a:pPr>
            <a:r>
              <a:t/>
            </a:r>
            <a:endParaRPr sz="2188">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2300"/>
              <a:buFont typeface="Arial"/>
              <a:buNone/>
            </a:pPr>
            <a:r>
              <a:rPr b="1" i="0" lang="en-US" sz="2188" u="none" cap="none" strike="noStrike">
                <a:solidFill>
                  <a:schemeClr val="dk1"/>
                </a:solidFill>
                <a:latin typeface="Times New Roman"/>
                <a:ea typeface="Times New Roman"/>
                <a:cs typeface="Times New Roman"/>
                <a:sym typeface="Times New Roman"/>
              </a:rPr>
              <a:t>Divide-and-Conquer Methodology: </a:t>
            </a:r>
            <a:r>
              <a:rPr i="0" lang="en-US" sz="2188" u="none" cap="none" strike="noStrike">
                <a:solidFill>
                  <a:schemeClr val="dk1"/>
                </a:solidFill>
                <a:latin typeface="Times New Roman"/>
                <a:ea typeface="Times New Roman"/>
                <a:cs typeface="Times New Roman"/>
                <a:sym typeface="Times New Roman"/>
              </a:rPr>
              <a:t>Principle, algorithms: Binary Search and its analysis, Merge sort and its analysis, Quick sort and its analysis, Stassen’s matrix multiplication.</a:t>
            </a:r>
            <a:endParaRPr i="0" sz="1500" u="none" cap="none" strike="noStrike">
              <a:solidFill>
                <a:schemeClr val="dk1"/>
              </a:solidFill>
              <a:latin typeface="Times New Roman"/>
              <a:ea typeface="Times New Roman"/>
              <a:cs typeface="Times New Roman"/>
              <a:sym typeface="Times New Roman"/>
            </a:endParaRPr>
          </a:p>
        </p:txBody>
      </p:sp>
      <p:sp>
        <p:nvSpPr>
          <p:cNvPr id="74" name="Google Shape;74;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0" name="Google Shape;80;p2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1" name="Google Shape;81;p2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82" name="Google Shape;82;p2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3" name="Google Shape;83;p2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 name="Google Shape;84;p2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2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6" name="Google Shape;86;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7" name="Google Shape;87;p20"/>
          <p:cNvSpPr txBox="1"/>
          <p:nvPr/>
        </p:nvSpPr>
        <p:spPr>
          <a:xfrm>
            <a:off x="197794" y="1079058"/>
            <a:ext cx="8769600" cy="38727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400" u="none" cap="none" strike="noStrike">
                <a:solidFill>
                  <a:srgbClr val="980000"/>
                </a:solidFill>
                <a:latin typeface="Arial"/>
                <a:ea typeface="Arial"/>
                <a:cs typeface="Arial"/>
                <a:sym typeface="Arial"/>
              </a:rPr>
              <a:t>Brute Force:</a:t>
            </a:r>
            <a:r>
              <a:rPr b="1" i="0" lang="en-US" sz="2400" u="none" cap="none" strike="noStrike">
                <a:solidFill>
                  <a:srgbClr val="0070C0"/>
                </a:solidFill>
                <a:latin typeface="Arial"/>
                <a:ea typeface="Arial"/>
                <a:cs typeface="Arial"/>
                <a:sym typeface="Arial"/>
              </a:rPr>
              <a:t> </a:t>
            </a:r>
            <a:r>
              <a:rPr b="1" i="0" lang="en-US" sz="2200" u="none" cap="none" strike="noStrike">
                <a:solidFill>
                  <a:schemeClr val="dk1"/>
                </a:solidFill>
              </a:rPr>
              <a:t>Principle</a:t>
            </a:r>
            <a:endParaRPr b="1" i="0" sz="2200" u="none" cap="none" strike="noStrike">
              <a:solidFill>
                <a:schemeClr val="dk1"/>
              </a:solidFill>
            </a:endParaRPr>
          </a:p>
          <a:p>
            <a:pPr indent="-355600" lvl="0" marL="457200" marR="0" rtl="0" algn="just">
              <a:lnSpc>
                <a:spcPct val="100000"/>
              </a:lnSpc>
              <a:spcBef>
                <a:spcPts val="720"/>
              </a:spcBef>
              <a:spcAft>
                <a:spcPts val="0"/>
              </a:spcAft>
              <a:buClr>
                <a:srgbClr val="292929"/>
              </a:buClr>
              <a:buSzPts val="2000"/>
              <a:buFont typeface="Times New Roman"/>
              <a:buChar char="➢"/>
            </a:pPr>
            <a:r>
              <a:rPr i="0" lang="en-US" sz="2000" u="none" cap="none" strike="noStrike">
                <a:solidFill>
                  <a:srgbClr val="292929"/>
                </a:solidFill>
                <a:latin typeface="Times New Roman"/>
                <a:ea typeface="Times New Roman"/>
                <a:cs typeface="Times New Roman"/>
                <a:sym typeface="Times New Roman"/>
              </a:rPr>
              <a:t>A </a:t>
            </a:r>
            <a:r>
              <a:rPr b="1" i="0" lang="en-US" sz="2000" u="none" cap="none" strike="noStrike">
                <a:solidFill>
                  <a:srgbClr val="292929"/>
                </a:solidFill>
                <a:latin typeface="Times New Roman"/>
                <a:ea typeface="Times New Roman"/>
                <a:cs typeface="Times New Roman"/>
                <a:sym typeface="Times New Roman"/>
              </a:rPr>
              <a:t>Brute Force Algorithm</a:t>
            </a:r>
            <a:r>
              <a:rPr i="0" lang="en-US" sz="2000" u="none" cap="none" strike="noStrike">
                <a:solidFill>
                  <a:srgbClr val="292929"/>
                </a:solidFill>
                <a:latin typeface="Times New Roman"/>
                <a:ea typeface="Times New Roman"/>
                <a:cs typeface="Times New Roman"/>
                <a:sym typeface="Times New Roman"/>
              </a:rPr>
              <a:t> is the straight forward approach to a problem i.e., the first approach that comes to our mind on seeing the problem. </a:t>
            </a:r>
            <a:endParaRPr i="0" sz="2000" u="none" cap="none" strike="noStrike">
              <a:solidFill>
                <a:srgbClr val="292929"/>
              </a:solidFill>
              <a:latin typeface="Times New Roman"/>
              <a:ea typeface="Times New Roman"/>
              <a:cs typeface="Times New Roman"/>
              <a:sym typeface="Times New Roman"/>
            </a:endParaRPr>
          </a:p>
          <a:p>
            <a:pPr indent="-355600" lvl="0" marL="457200" marR="0" rtl="0" algn="just">
              <a:lnSpc>
                <a:spcPct val="100000"/>
              </a:lnSpc>
              <a:spcBef>
                <a:spcPts val="0"/>
              </a:spcBef>
              <a:spcAft>
                <a:spcPts val="0"/>
              </a:spcAft>
              <a:buClr>
                <a:srgbClr val="292929"/>
              </a:buClr>
              <a:buSzPts val="2000"/>
              <a:buFont typeface="Times New Roman"/>
              <a:buChar char="➢"/>
            </a:pPr>
            <a:r>
              <a:rPr i="0" lang="en-US" sz="2000" u="none" cap="none" strike="noStrike">
                <a:solidFill>
                  <a:srgbClr val="292929"/>
                </a:solidFill>
                <a:latin typeface="Times New Roman"/>
                <a:ea typeface="Times New Roman"/>
                <a:cs typeface="Times New Roman"/>
                <a:sym typeface="Times New Roman"/>
              </a:rPr>
              <a:t>More technically it is just like iterating every possibility available to solve that problem.</a:t>
            </a:r>
            <a:endParaRPr sz="2000">
              <a:solidFill>
                <a:srgbClr val="292929"/>
              </a:solidFill>
              <a:latin typeface="Times New Roman"/>
              <a:ea typeface="Times New Roman"/>
              <a:cs typeface="Times New Roman"/>
              <a:sym typeface="Times New Roman"/>
            </a:endParaRPr>
          </a:p>
          <a:p>
            <a:pPr indent="-355600" lvl="0" marL="457200" marR="0" rtl="0" algn="just">
              <a:lnSpc>
                <a:spcPct val="100000"/>
              </a:lnSpc>
              <a:spcBef>
                <a:spcPts val="0"/>
              </a:spcBef>
              <a:spcAft>
                <a:spcPts val="0"/>
              </a:spcAft>
              <a:buClr>
                <a:srgbClr val="292929"/>
              </a:buClr>
              <a:buSzPts val="2000"/>
              <a:buFont typeface="Times New Roman"/>
              <a:buChar char="➢"/>
            </a:pPr>
            <a:r>
              <a:rPr b="1" i="0" lang="en-US" sz="2000" u="none" cap="none" strike="noStrike">
                <a:solidFill>
                  <a:srgbClr val="292929"/>
                </a:solidFill>
                <a:latin typeface="Times New Roman"/>
                <a:ea typeface="Times New Roman"/>
                <a:cs typeface="Times New Roman"/>
                <a:sym typeface="Times New Roman"/>
              </a:rPr>
              <a:t>Ex: Searching a String Pattern in Given Text</a:t>
            </a:r>
            <a:endParaRPr b="1" i="0" sz="2000" u="none" cap="none" strike="noStrike">
              <a:solidFill>
                <a:srgbClr val="292929"/>
              </a:solidFill>
              <a:latin typeface="Times New Roman"/>
              <a:ea typeface="Times New Roman"/>
              <a:cs typeface="Times New Roman"/>
              <a:sym typeface="Times New Roman"/>
            </a:endParaRPr>
          </a:p>
          <a:p>
            <a:pPr indent="-355600" lvl="0" marL="1371600" marR="0" rtl="0" algn="just">
              <a:lnSpc>
                <a:spcPct val="100000"/>
              </a:lnSpc>
              <a:spcBef>
                <a:spcPts val="0"/>
              </a:spcBef>
              <a:spcAft>
                <a:spcPts val="0"/>
              </a:spcAft>
              <a:buClr>
                <a:srgbClr val="292929"/>
              </a:buClr>
              <a:buSzPts val="2000"/>
              <a:buFont typeface="Times New Roman"/>
              <a:buChar char="●"/>
            </a:pPr>
            <a:r>
              <a:rPr i="0" lang="en-US" sz="2000" u="none" cap="none" strike="noStrike">
                <a:solidFill>
                  <a:srgbClr val="292929"/>
                </a:solidFill>
                <a:latin typeface="Times New Roman"/>
                <a:ea typeface="Times New Roman"/>
                <a:cs typeface="Times New Roman"/>
                <a:sym typeface="Times New Roman"/>
              </a:rPr>
              <a:t>Calculating Power of N</a:t>
            </a:r>
            <a:endParaRPr i="0" sz="2000" u="none" cap="none" strike="noStrike">
              <a:solidFill>
                <a:srgbClr val="292929"/>
              </a:solidFill>
              <a:latin typeface="Times New Roman"/>
              <a:ea typeface="Times New Roman"/>
              <a:cs typeface="Times New Roman"/>
              <a:sym typeface="Times New Roman"/>
            </a:endParaRPr>
          </a:p>
          <a:p>
            <a:pPr indent="-355600" lvl="0" marL="1371600" marR="0" rtl="0" algn="just">
              <a:lnSpc>
                <a:spcPct val="100000"/>
              </a:lnSpc>
              <a:spcBef>
                <a:spcPts val="0"/>
              </a:spcBef>
              <a:spcAft>
                <a:spcPts val="0"/>
              </a:spcAft>
              <a:buClr>
                <a:srgbClr val="292929"/>
              </a:buClr>
              <a:buSzPts val="2000"/>
              <a:buFont typeface="Times New Roman"/>
              <a:buChar char="●"/>
            </a:pPr>
            <a:r>
              <a:rPr i="0" lang="en-US" sz="2000" u="none" cap="none" strike="noStrike">
                <a:solidFill>
                  <a:srgbClr val="292929"/>
                </a:solidFill>
                <a:latin typeface="Times New Roman"/>
                <a:ea typeface="Times New Roman"/>
                <a:cs typeface="Times New Roman"/>
                <a:sym typeface="Times New Roman"/>
              </a:rPr>
              <a:t>Sorting an elements etc</a:t>
            </a:r>
            <a:endParaRPr i="0" sz="2000" u="none" cap="none" strike="noStrike">
              <a:solidFill>
                <a:srgbClr val="292929"/>
              </a:solidFill>
              <a:latin typeface="Times New Roman"/>
              <a:ea typeface="Times New Roman"/>
              <a:cs typeface="Times New Roman"/>
              <a:sym typeface="Times New Roman"/>
            </a:endParaRPr>
          </a:p>
          <a:p>
            <a:pPr indent="457200" lvl="0" marL="914400" marR="0" rtl="0" algn="just">
              <a:lnSpc>
                <a:spcPct val="100000"/>
              </a:lnSpc>
              <a:spcBef>
                <a:spcPts val="720"/>
              </a:spcBef>
              <a:spcAft>
                <a:spcPts val="0"/>
              </a:spcAft>
              <a:buClr>
                <a:srgbClr val="000000"/>
              </a:buClr>
              <a:buSzPts val="2400"/>
              <a:buFont typeface="Arial"/>
              <a:buNone/>
            </a:pPr>
            <a:r>
              <a:rPr i="0" lang="en-US" sz="2000" u="none" cap="none" strike="noStrike">
                <a:solidFill>
                  <a:srgbClr val="040C28"/>
                </a:solidFill>
                <a:latin typeface="Times New Roman"/>
                <a:ea typeface="Times New Roman"/>
                <a:cs typeface="Times New Roman"/>
                <a:sym typeface="Times New Roman"/>
              </a:rPr>
              <a:t>when the problem size is limited it is useful.</a:t>
            </a:r>
            <a:endParaRPr i="0" sz="2000" u="none" cap="none" strike="noStrike">
              <a:solidFill>
                <a:srgbClr val="040C28"/>
              </a:solidFill>
              <a:latin typeface="Times New Roman"/>
              <a:ea typeface="Times New Roman"/>
              <a:cs typeface="Times New Roman"/>
              <a:sym typeface="Times New Roman"/>
            </a:endParaRPr>
          </a:p>
          <a:p>
            <a:pPr indent="-355600" lvl="0" marL="457200" marR="0" rtl="0" algn="just">
              <a:lnSpc>
                <a:spcPct val="100000"/>
              </a:lnSpc>
              <a:spcBef>
                <a:spcPts val="720"/>
              </a:spcBef>
              <a:spcAft>
                <a:spcPts val="0"/>
              </a:spcAft>
              <a:buClr>
                <a:schemeClr val="dk1"/>
              </a:buClr>
              <a:buSzPts val="2000"/>
              <a:buFont typeface="Times New Roman"/>
              <a:buChar char="➢"/>
            </a:pPr>
            <a:r>
              <a:rPr i="0" lang="en-US" sz="2000" u="none" cap="none" strike="noStrike">
                <a:solidFill>
                  <a:schemeClr val="dk1"/>
                </a:solidFill>
                <a:latin typeface="Times New Roman"/>
                <a:ea typeface="Times New Roman"/>
                <a:cs typeface="Times New Roman"/>
                <a:sym typeface="Times New Roman"/>
              </a:rPr>
              <a:t>The method is also used when the simplicity of implementation is more important than speed.</a:t>
            </a:r>
            <a:endParaRPr i="0" sz="20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22eb705b752_0_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3" name="Google Shape;93;g22eb705b752_0_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94" name="Google Shape;94;g22eb705b752_0_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5" name="Google Shape;95;g22eb705b752_0_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6" name="Google Shape;96;g22eb705b752_0_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g22eb705b752_0_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g22eb705b752_0_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9" name="Google Shape;99;g22eb705b752_0_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0" name="Google Shape;100;g22eb705b752_0_6"/>
          <p:cNvSpPr txBox="1"/>
          <p:nvPr/>
        </p:nvSpPr>
        <p:spPr>
          <a:xfrm>
            <a:off x="450375" y="1133475"/>
            <a:ext cx="8517000" cy="31491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chemeClr val="dk1"/>
                </a:solidFill>
                <a:latin typeface="Arial"/>
                <a:ea typeface="Arial"/>
                <a:cs typeface="Arial"/>
                <a:sym typeface="Arial"/>
              </a:rPr>
              <a:t>Brute force </a:t>
            </a:r>
            <a:r>
              <a:rPr b="1" lang="en-US" sz="2200">
                <a:solidFill>
                  <a:schemeClr val="dk1"/>
                </a:solidFill>
              </a:rPr>
              <a:t>S</a:t>
            </a:r>
            <a:r>
              <a:rPr b="1" i="0" lang="en-US" sz="2200" u="none" cap="none" strike="noStrike">
                <a:solidFill>
                  <a:schemeClr val="dk1"/>
                </a:solidFill>
                <a:latin typeface="Arial"/>
                <a:ea typeface="Arial"/>
                <a:cs typeface="Arial"/>
                <a:sym typeface="Arial"/>
              </a:rPr>
              <a:t>tring </a:t>
            </a:r>
            <a:r>
              <a:rPr b="1" lang="en-US" sz="2200">
                <a:solidFill>
                  <a:schemeClr val="dk1"/>
                </a:solidFill>
              </a:rPr>
              <a:t>M</a:t>
            </a:r>
            <a:r>
              <a:rPr b="1" i="0" lang="en-US" sz="2200" u="none" cap="none" strike="noStrike">
                <a:solidFill>
                  <a:schemeClr val="dk1"/>
                </a:solidFill>
                <a:latin typeface="Arial"/>
                <a:ea typeface="Arial"/>
                <a:cs typeface="Arial"/>
                <a:sym typeface="Arial"/>
              </a:rPr>
              <a:t>atching </a:t>
            </a:r>
            <a:r>
              <a:rPr b="1" lang="en-US" sz="2200">
                <a:solidFill>
                  <a:schemeClr val="dk1"/>
                </a:solidFill>
              </a:rPr>
              <a:t>A</a:t>
            </a:r>
            <a:r>
              <a:rPr b="1" i="0" lang="en-US" sz="2200" u="none" cap="none" strike="noStrike">
                <a:solidFill>
                  <a:schemeClr val="dk1"/>
                </a:solidFill>
                <a:latin typeface="Arial"/>
                <a:ea typeface="Arial"/>
                <a:cs typeface="Arial"/>
                <a:sym typeface="Arial"/>
              </a:rPr>
              <a:t>lgorithm and its analysis - </a:t>
            </a:r>
            <a:endParaRPr b="1" i="0" sz="22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chemeClr val="dk1"/>
              </a:buClr>
              <a:buSzPts val="2300"/>
              <a:buFont typeface="Arial"/>
              <a:buNone/>
            </a:pPr>
            <a:r>
              <a:t/>
            </a:r>
            <a:endParaRPr b="1" sz="2200">
              <a:solidFill>
                <a:schemeClr val="dk1"/>
              </a:solidFill>
            </a:endParaRPr>
          </a:p>
          <a:p>
            <a:pPr indent="0" lvl="0" marL="0" marR="0" rtl="0" algn="just">
              <a:lnSpc>
                <a:spcPct val="100000"/>
              </a:lnSpc>
              <a:spcBef>
                <a:spcPts val="720"/>
              </a:spcBef>
              <a:spcAft>
                <a:spcPts val="0"/>
              </a:spcAft>
              <a:buClr>
                <a:srgbClr val="000000"/>
              </a:buClr>
              <a:buSzPts val="2200"/>
              <a:buFont typeface="Arial"/>
              <a:buNone/>
            </a:pPr>
            <a:r>
              <a:rPr i="0" lang="en-US" sz="2000" u="none" cap="none" strike="noStrike">
                <a:solidFill>
                  <a:srgbClr val="292929"/>
                </a:solidFill>
              </a:rPr>
              <a:t>What is String Matching:</a:t>
            </a:r>
            <a:endParaRPr i="0" sz="2000" u="none" cap="none" strike="noStrike">
              <a:solidFill>
                <a:srgbClr val="292929"/>
              </a:solidFill>
            </a:endParaRPr>
          </a:p>
          <a:p>
            <a:pPr indent="0" lvl="0" marL="0" marR="0" rtl="0" algn="just">
              <a:lnSpc>
                <a:spcPct val="100000"/>
              </a:lnSpc>
              <a:spcBef>
                <a:spcPts val="720"/>
              </a:spcBef>
              <a:spcAft>
                <a:spcPts val="0"/>
              </a:spcAft>
              <a:buClr>
                <a:srgbClr val="000000"/>
              </a:buClr>
              <a:buSzPts val="2200"/>
              <a:buFont typeface="Arial"/>
              <a:buNone/>
            </a:pPr>
            <a:r>
              <a:rPr b="1" i="0" lang="en-US" sz="2000" u="none" cap="none" strike="noStrike">
                <a:solidFill>
                  <a:srgbClr val="292929"/>
                </a:solidFill>
                <a:latin typeface="Arial"/>
                <a:ea typeface="Arial"/>
                <a:cs typeface="Arial"/>
                <a:sym typeface="Arial"/>
              </a:rPr>
              <a:t> </a:t>
            </a:r>
            <a:endParaRPr b="1" i="0" sz="2000" u="none" cap="none" strike="noStrike">
              <a:solidFill>
                <a:srgbClr val="292929"/>
              </a:solidFill>
              <a:latin typeface="Arial"/>
              <a:ea typeface="Arial"/>
              <a:cs typeface="Arial"/>
              <a:sym typeface="Arial"/>
            </a:endParaRPr>
          </a:p>
          <a:p>
            <a:pPr indent="-355600" lvl="0" marL="457200" marR="0" rtl="0" algn="just">
              <a:lnSpc>
                <a:spcPct val="100000"/>
              </a:lnSpc>
              <a:spcBef>
                <a:spcPts val="720"/>
              </a:spcBef>
              <a:spcAft>
                <a:spcPts val="0"/>
              </a:spcAft>
              <a:buClr>
                <a:srgbClr val="292929"/>
              </a:buClr>
              <a:buSzPts val="2000"/>
              <a:buChar char="➢"/>
            </a:pPr>
            <a:r>
              <a:rPr i="1" lang="en-US" sz="2000" u="none" cap="none" strike="noStrike">
                <a:solidFill>
                  <a:srgbClr val="292929"/>
                </a:solidFill>
              </a:rPr>
              <a:t>Identify the index of String (m) in Given Text (P)</a:t>
            </a:r>
            <a:endParaRPr i="1" sz="2000" u="none" cap="none" strike="noStrike">
              <a:solidFill>
                <a:srgbClr val="292929"/>
              </a:solidFill>
            </a:endParaRPr>
          </a:p>
          <a:p>
            <a:pPr indent="-355600" lvl="0" marL="457200" marR="0" rtl="0" algn="just">
              <a:lnSpc>
                <a:spcPct val="100000"/>
              </a:lnSpc>
              <a:spcBef>
                <a:spcPts val="0"/>
              </a:spcBef>
              <a:spcAft>
                <a:spcPts val="0"/>
              </a:spcAft>
              <a:buClr>
                <a:srgbClr val="292929"/>
              </a:buClr>
              <a:buSzPts val="2000"/>
              <a:buChar char="➢"/>
            </a:pPr>
            <a:r>
              <a:rPr i="1" lang="en-US" sz="2000" u="none" cap="none" strike="noStrike">
                <a:solidFill>
                  <a:srgbClr val="292929"/>
                </a:solidFill>
              </a:rPr>
              <a:t>where m &lt; p</a:t>
            </a:r>
            <a:endParaRPr i="1" sz="2000">
              <a:solidFill>
                <a:srgbClr val="292929"/>
              </a:solidFill>
            </a:endParaRPr>
          </a:p>
          <a:p>
            <a:pPr indent="-368300" lvl="0" marL="457200" marR="0" rtl="0" algn="just">
              <a:lnSpc>
                <a:spcPct val="100000"/>
              </a:lnSpc>
              <a:spcBef>
                <a:spcPts val="0"/>
              </a:spcBef>
              <a:spcAft>
                <a:spcPts val="0"/>
              </a:spcAft>
              <a:buClr>
                <a:srgbClr val="292929"/>
              </a:buClr>
              <a:buSzPts val="2200"/>
              <a:buChar char="➢"/>
            </a:pPr>
            <a:r>
              <a:rPr i="1" lang="en-US" sz="2000" u="none" cap="none" strike="noStrike">
                <a:solidFill>
                  <a:srgbClr val="292929"/>
                </a:solidFill>
              </a:rPr>
              <a:t>Search for string ‘ NOT ‘ in the Text</a:t>
            </a:r>
            <a:r>
              <a:rPr i="1" lang="en-US" sz="1800" u="none" cap="none" strike="noStrike">
                <a:solidFill>
                  <a:srgbClr val="292929"/>
                </a:solidFill>
              </a:rPr>
              <a:t> “ NOBODY NOTICED HIM’</a:t>
            </a:r>
            <a:endParaRPr i="1" sz="1800" u="none" cap="none" strike="noStrike">
              <a:solidFill>
                <a:srgbClr val="292929"/>
              </a:solidFil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id="101" name="Google Shape;101;g22eb705b752_0_6"/>
          <p:cNvPicPr preferRelativeResize="0"/>
          <p:nvPr/>
        </p:nvPicPr>
        <p:blipFill rotWithShape="1">
          <a:blip r:embed="rId5">
            <a:alphaModFix/>
          </a:blip>
          <a:srcRect b="0" l="0" r="0" t="0"/>
          <a:stretch/>
        </p:blipFill>
        <p:spPr>
          <a:xfrm>
            <a:off x="780950" y="4078825"/>
            <a:ext cx="7942125" cy="1905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22eb705b752_0_2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7" name="Google Shape;107;g22eb705b752_0_2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08" name="Google Shape;108;g22eb705b752_0_2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09" name="Google Shape;109;g22eb705b752_0_2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10" name="Google Shape;110;g22eb705b752_0_2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g22eb705b752_0_2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g22eb705b752_0_2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13" name="Google Shape;113;g22eb705b752_0_2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4" name="Google Shape;114;g22eb705b752_0_21"/>
          <p:cNvSpPr txBox="1"/>
          <p:nvPr/>
        </p:nvSpPr>
        <p:spPr>
          <a:xfrm>
            <a:off x="628650" y="1133475"/>
            <a:ext cx="8338800" cy="13128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Brute force string matching algorithm</a:t>
            </a:r>
            <a:endParaRPr b="1" i="0" sz="2200" u="none" cap="none" strike="noStrike">
              <a:solidFill>
                <a:srgbClr val="FF0000"/>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000"/>
              <a:buFont typeface="Arial"/>
              <a:buNone/>
            </a:pPr>
            <a:r>
              <a:t/>
            </a:r>
            <a:endParaRPr b="1" i="0" sz="2000" u="none" cap="none" strike="noStrike">
              <a:solidFill>
                <a:srgbClr val="292929"/>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id="115" name="Google Shape;115;g22eb705b752_0_21"/>
          <p:cNvPicPr preferRelativeResize="0"/>
          <p:nvPr/>
        </p:nvPicPr>
        <p:blipFill rotWithShape="1">
          <a:blip r:embed="rId5">
            <a:alphaModFix/>
          </a:blip>
          <a:srcRect b="0" l="0" r="0" t="0"/>
          <a:stretch/>
        </p:blipFill>
        <p:spPr>
          <a:xfrm>
            <a:off x="354850" y="1226400"/>
            <a:ext cx="8563125" cy="52688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22eb705b752_0_3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21" name="Google Shape;121;g22eb705b752_0_3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22" name="Google Shape;122;g22eb705b752_0_3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23" name="Google Shape;123;g22eb705b752_0_3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24" name="Google Shape;124;g22eb705b752_0_3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g22eb705b752_0_3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g22eb705b752_0_3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27" name="Google Shape;127;g22eb705b752_0_3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8" name="Google Shape;128;g22eb705b752_0_35"/>
          <p:cNvSpPr txBox="1"/>
          <p:nvPr/>
        </p:nvSpPr>
        <p:spPr>
          <a:xfrm>
            <a:off x="628650" y="1133475"/>
            <a:ext cx="83388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000"/>
              <a:buFont typeface="Arial"/>
              <a:buNone/>
            </a:pPr>
            <a:r>
              <a:t/>
            </a:r>
            <a:endParaRPr b="1" i="0" sz="2000" u="none" cap="none" strike="noStrike">
              <a:solidFill>
                <a:srgbClr val="292929"/>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id="129" name="Google Shape;129;g22eb705b752_0_35"/>
          <p:cNvPicPr preferRelativeResize="0"/>
          <p:nvPr/>
        </p:nvPicPr>
        <p:blipFill rotWithShape="1">
          <a:blip r:embed="rId5">
            <a:alphaModFix/>
          </a:blip>
          <a:srcRect b="0" l="0" r="0" t="0"/>
          <a:stretch/>
        </p:blipFill>
        <p:spPr>
          <a:xfrm>
            <a:off x="197802" y="1501250"/>
            <a:ext cx="8769649" cy="4953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2eb705b752_0_4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5" name="Google Shape;135;g22eb705b752_0_4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36" name="Google Shape;136;g22eb705b752_0_4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37" name="Google Shape;137;g22eb705b752_0_4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38" name="Google Shape;138;g22eb705b752_0_4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g22eb705b752_0_4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g22eb705b752_0_4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41" name="Google Shape;141;g22eb705b752_0_4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2" name="Google Shape;142;g22eb705b752_0_49"/>
          <p:cNvSpPr txBox="1"/>
          <p:nvPr/>
        </p:nvSpPr>
        <p:spPr>
          <a:xfrm>
            <a:off x="628650" y="1133475"/>
            <a:ext cx="83388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000"/>
              <a:buFont typeface="Arial"/>
              <a:buNone/>
            </a:pPr>
            <a:r>
              <a:t/>
            </a:r>
            <a:endParaRPr b="1" i="0" sz="2000" u="none" cap="none" strike="noStrike">
              <a:solidFill>
                <a:srgbClr val="292929"/>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id="143" name="Google Shape;143;g22eb705b752_0_49"/>
          <p:cNvPicPr preferRelativeResize="0"/>
          <p:nvPr/>
        </p:nvPicPr>
        <p:blipFill rotWithShape="1">
          <a:blip r:embed="rId5">
            <a:alphaModFix/>
          </a:blip>
          <a:srcRect b="0" l="0" r="0" t="0"/>
          <a:stretch/>
        </p:blipFill>
        <p:spPr>
          <a:xfrm>
            <a:off x="104550" y="1320475"/>
            <a:ext cx="8862901" cy="51504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2eb705b752_0_6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49" name="Google Shape;149;g22eb705b752_0_6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50" name="Google Shape;150;g22eb705b752_0_6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51" name="Google Shape;151;g22eb705b752_0_6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52" name="Google Shape;152;g22eb705b752_0_6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g22eb705b752_0_6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g22eb705b752_0_6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55" name="Google Shape;155;g22eb705b752_0_6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6" name="Google Shape;156;g22eb705b752_0_63"/>
          <p:cNvSpPr txBox="1"/>
          <p:nvPr/>
        </p:nvSpPr>
        <p:spPr>
          <a:xfrm>
            <a:off x="628650" y="1133475"/>
            <a:ext cx="83388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000"/>
              <a:buFont typeface="Arial"/>
              <a:buNone/>
            </a:pPr>
            <a:r>
              <a:t/>
            </a:r>
            <a:endParaRPr b="1" i="0" sz="2000" u="none" cap="none" strike="noStrike">
              <a:solidFill>
                <a:srgbClr val="292929"/>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descr="2: Comparisons performed by the brute-force simple pattern matching algorithm. " id="157" name="Google Shape;157;g22eb705b752_0_63"/>
          <p:cNvPicPr preferRelativeResize="0"/>
          <p:nvPr/>
        </p:nvPicPr>
        <p:blipFill rotWithShape="1">
          <a:blip r:embed="rId5">
            <a:alphaModFix/>
          </a:blip>
          <a:srcRect b="0" l="0" r="0" t="0"/>
          <a:stretch/>
        </p:blipFill>
        <p:spPr>
          <a:xfrm>
            <a:off x="272100" y="1171550"/>
            <a:ext cx="8645875" cy="5482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2eb705b752_0_7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3" name="Google Shape;163;g22eb705b752_0_7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64" name="Google Shape;164;g22eb705b752_0_7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65" name="Google Shape;165;g22eb705b752_0_7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66" name="Google Shape;166;g22eb705b752_0_7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 name="Google Shape;167;g22eb705b752_0_7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g22eb705b752_0_7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69" name="Google Shape;169;g22eb705b752_0_7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0" name="Google Shape;170;g22eb705b752_0_77"/>
          <p:cNvSpPr txBox="1"/>
          <p:nvPr/>
        </p:nvSpPr>
        <p:spPr>
          <a:xfrm>
            <a:off x="628650" y="1133475"/>
            <a:ext cx="83388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000"/>
              <a:buFont typeface="Arial"/>
              <a:buNone/>
            </a:pPr>
            <a:r>
              <a:t/>
            </a:r>
            <a:endParaRPr b="1" i="0" sz="2000" u="none" cap="none" strike="noStrike">
              <a:solidFill>
                <a:srgbClr val="292929"/>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id="171" name="Google Shape;171;g22eb705b752_0_77"/>
          <p:cNvPicPr preferRelativeResize="0"/>
          <p:nvPr/>
        </p:nvPicPr>
        <p:blipFill rotWithShape="1">
          <a:blip r:embed="rId5">
            <a:alphaModFix/>
          </a:blip>
          <a:srcRect b="0" l="0" r="0" t="0"/>
          <a:stretch/>
        </p:blipFill>
        <p:spPr>
          <a:xfrm>
            <a:off x="0" y="1593275"/>
            <a:ext cx="8917976" cy="49960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2eb705b752_0_9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7" name="Google Shape;177;g22eb705b752_0_9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78" name="Google Shape;178;g22eb705b752_0_9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79" name="Google Shape;179;g22eb705b752_0_9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80" name="Google Shape;180;g22eb705b752_0_9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g22eb705b752_0_9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g22eb705b752_0_9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83" name="Google Shape;183;g22eb705b752_0_9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4" name="Google Shape;184;g22eb705b752_0_91"/>
          <p:cNvSpPr txBox="1"/>
          <p:nvPr/>
        </p:nvSpPr>
        <p:spPr>
          <a:xfrm>
            <a:off x="628650" y="1133475"/>
            <a:ext cx="83388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000"/>
              <a:buFont typeface="Arial"/>
              <a:buNone/>
            </a:pPr>
            <a:r>
              <a:t/>
            </a:r>
            <a:endParaRPr b="1" i="0" sz="2000" u="none" cap="none" strike="noStrike">
              <a:solidFill>
                <a:srgbClr val="292929"/>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pic>
        <p:nvPicPr>
          <p:cNvPr id="185" name="Google Shape;185;g22eb705b752_0_91"/>
          <p:cNvPicPr preferRelativeResize="0"/>
          <p:nvPr/>
        </p:nvPicPr>
        <p:blipFill rotWithShape="1">
          <a:blip r:embed="rId5">
            <a:alphaModFix/>
          </a:blip>
          <a:srcRect b="0" l="0" r="0" t="0"/>
          <a:stretch/>
        </p:blipFill>
        <p:spPr>
          <a:xfrm>
            <a:off x="73050" y="1322775"/>
            <a:ext cx="8894401" cy="52983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2eb705b752_0_10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1" name="Google Shape;191;g22eb705b752_0_10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92" name="Google Shape;192;g22eb705b752_0_10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93" name="Google Shape;193;g22eb705b752_0_10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94" name="Google Shape;194;g22eb705b752_0_10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g22eb705b752_0_10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g22eb705b752_0_10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97" name="Google Shape;197;g22eb705b752_0_10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8" name="Google Shape;198;g22eb705b752_0_105"/>
          <p:cNvSpPr txBox="1"/>
          <p:nvPr/>
        </p:nvSpPr>
        <p:spPr>
          <a:xfrm>
            <a:off x="354850" y="1133475"/>
            <a:ext cx="8612700" cy="49764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NAÏVE string matching algorithms and its analysis - </a:t>
            </a:r>
            <a:endParaRPr b="1" i="0" sz="2200" u="none" cap="none" strike="noStrike">
              <a:solidFill>
                <a:srgbClr val="FF0000"/>
              </a:solidFill>
              <a:latin typeface="Arial"/>
              <a:ea typeface="Arial"/>
              <a:cs typeface="Arial"/>
              <a:sym typeface="Arial"/>
            </a:endParaRPr>
          </a:p>
          <a:p>
            <a:pPr indent="-368300" lvl="0" marL="457200" marR="0" rtl="0" algn="just">
              <a:lnSpc>
                <a:spcPct val="150000"/>
              </a:lnSpc>
              <a:spcBef>
                <a:spcPts val="720"/>
              </a:spcBef>
              <a:spcAft>
                <a:spcPts val="0"/>
              </a:spcAft>
              <a:buClr>
                <a:srgbClr val="292929"/>
              </a:buClr>
              <a:buSzPts val="2200"/>
              <a:buFont typeface="Georgia"/>
              <a:buChar char="➢"/>
            </a:pPr>
            <a:r>
              <a:rPr lang="en-US" sz="2200" u="none" cap="none" strike="noStrike">
                <a:solidFill>
                  <a:srgbClr val="292929"/>
                </a:solidFill>
                <a:highlight>
                  <a:srgbClr val="FFFFFF"/>
                </a:highlight>
                <a:latin typeface="Georgia"/>
                <a:ea typeface="Georgia"/>
                <a:cs typeface="Georgia"/>
                <a:sym typeface="Georgia"/>
              </a:rPr>
              <a:t>Finding all occurrences of a pattern in a given text(or body of text).</a:t>
            </a:r>
            <a:endParaRPr sz="2200" u="none" cap="none" strike="noStrike">
              <a:solidFill>
                <a:srgbClr val="292929"/>
              </a:solidFill>
              <a:highlight>
                <a:srgbClr val="FFFFFF"/>
              </a:highlight>
              <a:latin typeface="Georgia"/>
              <a:ea typeface="Georgia"/>
              <a:cs typeface="Georgia"/>
              <a:sym typeface="Georgia"/>
            </a:endParaRPr>
          </a:p>
          <a:p>
            <a:pPr indent="-368300" lvl="0" marL="457200" marR="0" rtl="0" algn="just">
              <a:lnSpc>
                <a:spcPct val="150000"/>
              </a:lnSpc>
              <a:spcBef>
                <a:spcPts val="0"/>
              </a:spcBef>
              <a:spcAft>
                <a:spcPts val="0"/>
              </a:spcAft>
              <a:buClr>
                <a:srgbClr val="292929"/>
              </a:buClr>
              <a:buSzPts val="2200"/>
              <a:buFont typeface="Georgia"/>
              <a:buChar char="➢"/>
            </a:pPr>
            <a:r>
              <a:rPr lang="en-US" sz="2200" u="none" cap="none" strike="noStrike">
                <a:solidFill>
                  <a:srgbClr val="292929"/>
                </a:solidFill>
                <a:highlight>
                  <a:srgbClr val="FFFFFF"/>
                </a:highlight>
                <a:latin typeface="Georgia"/>
                <a:ea typeface="Georgia"/>
                <a:cs typeface="Georgia"/>
                <a:sym typeface="Georgia"/>
              </a:rPr>
              <a:t>Naive algorithm is exact string matching(means finding one or all exact occurrences of a pattern in a text) algorithm.</a:t>
            </a:r>
            <a:endParaRPr sz="2200" u="none" cap="none" strike="noStrike">
              <a:solidFill>
                <a:srgbClr val="292929"/>
              </a:solidFill>
              <a:highlight>
                <a:srgbClr val="FFFFFF"/>
              </a:highlight>
              <a:latin typeface="Georgia"/>
              <a:ea typeface="Georgia"/>
              <a:cs typeface="Georgia"/>
              <a:sym typeface="Georgia"/>
            </a:endParaRPr>
          </a:p>
          <a:p>
            <a:pPr indent="-368300" lvl="0" marL="457200" marR="0" rtl="0" algn="just">
              <a:lnSpc>
                <a:spcPct val="150000"/>
              </a:lnSpc>
              <a:spcBef>
                <a:spcPts val="0"/>
              </a:spcBef>
              <a:spcAft>
                <a:spcPts val="0"/>
              </a:spcAft>
              <a:buClr>
                <a:srgbClr val="292929"/>
              </a:buClr>
              <a:buSzPts val="2200"/>
              <a:buFont typeface="Georgia"/>
              <a:buChar char="➢"/>
            </a:pPr>
            <a:r>
              <a:rPr lang="en-US" sz="2200" u="none" cap="none" strike="noStrike">
                <a:solidFill>
                  <a:srgbClr val="292929"/>
                </a:solidFill>
                <a:highlight>
                  <a:srgbClr val="FFFFFF"/>
                </a:highlight>
                <a:latin typeface="Georgia"/>
                <a:ea typeface="Georgia"/>
                <a:cs typeface="Georgia"/>
                <a:sym typeface="Georgia"/>
              </a:rPr>
              <a:t>The naive approach tests all the possible placement of Pattern P [1…….m] relative to text T [1……n]. </a:t>
            </a:r>
            <a:endParaRPr sz="2200" u="none" cap="none" strike="noStrike">
              <a:solidFill>
                <a:srgbClr val="292929"/>
              </a:solidFill>
              <a:highlight>
                <a:srgbClr val="FFFFFF"/>
              </a:highlight>
              <a:latin typeface="Georgia"/>
              <a:ea typeface="Georgia"/>
              <a:cs typeface="Georgia"/>
              <a:sym typeface="Georgia"/>
            </a:endParaRPr>
          </a:p>
          <a:p>
            <a:pPr indent="-368300" lvl="0" marL="457200" marR="0" rtl="0" algn="just">
              <a:lnSpc>
                <a:spcPct val="150000"/>
              </a:lnSpc>
              <a:spcBef>
                <a:spcPts val="0"/>
              </a:spcBef>
              <a:spcAft>
                <a:spcPts val="0"/>
              </a:spcAft>
              <a:buClr>
                <a:srgbClr val="292929"/>
              </a:buClr>
              <a:buSzPts val="2200"/>
              <a:buFont typeface="Georgia"/>
              <a:buChar char="➢"/>
            </a:pPr>
            <a:r>
              <a:rPr lang="en-US" sz="2200" u="none" cap="none" strike="noStrike">
                <a:solidFill>
                  <a:srgbClr val="292929"/>
                </a:solidFill>
                <a:highlight>
                  <a:srgbClr val="FFFFFF"/>
                </a:highlight>
                <a:latin typeface="Georgia"/>
                <a:ea typeface="Georgia"/>
                <a:cs typeface="Georgia"/>
                <a:sym typeface="Georgia"/>
              </a:rPr>
              <a:t>We try shift s = 0, 1…….n-m, successively and for each shift s. </a:t>
            </a:r>
            <a:endParaRPr sz="2200" u="none" cap="none" strike="noStrike">
              <a:solidFill>
                <a:srgbClr val="292929"/>
              </a:solidFill>
              <a:highlight>
                <a:srgbClr val="FFFFFF"/>
              </a:highlight>
              <a:latin typeface="Georgia"/>
              <a:ea typeface="Georgia"/>
              <a:cs typeface="Georgia"/>
              <a:sym typeface="Georgia"/>
            </a:endParaRPr>
          </a:p>
          <a:p>
            <a:pPr indent="-368300" lvl="0" marL="457200" marR="0" rtl="0" algn="just">
              <a:lnSpc>
                <a:spcPct val="150000"/>
              </a:lnSpc>
              <a:spcBef>
                <a:spcPts val="0"/>
              </a:spcBef>
              <a:spcAft>
                <a:spcPts val="0"/>
              </a:spcAft>
              <a:buClr>
                <a:srgbClr val="292929"/>
              </a:buClr>
              <a:buSzPts val="2200"/>
              <a:buFont typeface="Georgia"/>
              <a:buChar char="➢"/>
            </a:pPr>
            <a:r>
              <a:rPr lang="en-US" sz="2200" u="none" cap="none" strike="noStrike">
                <a:solidFill>
                  <a:srgbClr val="292929"/>
                </a:solidFill>
                <a:highlight>
                  <a:srgbClr val="FFFFFF"/>
                </a:highlight>
                <a:latin typeface="Georgia"/>
                <a:ea typeface="Georgia"/>
                <a:cs typeface="Georgia"/>
                <a:sym typeface="Georgia"/>
              </a:rPr>
              <a:t>Compare T [s+1…….s+m] to P [1……m].It returns all the valid shifts found.</a:t>
            </a:r>
            <a:endParaRPr b="1" i="0" sz="2400" u="none" cap="none" strike="noStrike">
              <a:solidFill>
                <a:srgbClr val="292929"/>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22eb705b752_0_12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4" name="Google Shape;204;g22eb705b752_0_12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05" name="Google Shape;205;g22eb705b752_0_12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06" name="Google Shape;206;g22eb705b752_0_12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07" name="Google Shape;207;g22eb705b752_0_12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22eb705b752_0_12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g22eb705b752_0_12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10" name="Google Shape;210;g22eb705b752_0_12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1" name="Google Shape;211;g22eb705b752_0_122"/>
          <p:cNvSpPr txBox="1"/>
          <p:nvPr/>
        </p:nvSpPr>
        <p:spPr>
          <a:xfrm>
            <a:off x="354850" y="1133475"/>
            <a:ext cx="8612700" cy="43119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NAÏVE string matching algorithms and its analysis</a:t>
            </a:r>
            <a:endParaRPr b="1" i="0" sz="2200" u="none" cap="none" strike="noStrike">
              <a:solidFill>
                <a:srgbClr val="FF0000"/>
              </a:solidFill>
              <a:latin typeface="Arial"/>
              <a:ea typeface="Arial"/>
              <a:cs typeface="Arial"/>
              <a:sym typeface="Arial"/>
            </a:endParaRPr>
          </a:p>
          <a:p>
            <a:pPr indent="0" lvl="0" marL="0" marR="0" rtl="0" algn="just">
              <a:lnSpc>
                <a:spcPct val="150000"/>
              </a:lnSpc>
              <a:spcBef>
                <a:spcPts val="1700"/>
              </a:spcBef>
              <a:spcAft>
                <a:spcPts val="0"/>
              </a:spcAft>
              <a:buClr>
                <a:srgbClr val="000000"/>
              </a:buClr>
              <a:buSzPts val="2000"/>
              <a:buFont typeface="Arial"/>
              <a:buNone/>
            </a:pPr>
            <a:r>
              <a:rPr b="1" i="0" lang="en-US" sz="2000" u="none" cap="none" strike="noStrike">
                <a:solidFill>
                  <a:srgbClr val="292929"/>
                </a:solidFill>
                <a:latin typeface="Calibri"/>
                <a:ea typeface="Calibri"/>
                <a:cs typeface="Calibri"/>
                <a:sym typeface="Calibri"/>
              </a:rPr>
              <a:t>Example:</a:t>
            </a:r>
            <a:endParaRPr b="1" i="0" sz="2000" u="none" cap="none" strike="noStrike">
              <a:solidFill>
                <a:srgbClr val="292929"/>
              </a:solidFill>
              <a:latin typeface="Calibri"/>
              <a:ea typeface="Calibri"/>
              <a:cs typeface="Calibri"/>
              <a:sym typeface="Calibri"/>
            </a:endParaRPr>
          </a:p>
          <a:p>
            <a:pPr indent="0" lvl="0" marL="0" marR="0" rtl="0" algn="just">
              <a:lnSpc>
                <a:spcPct val="150000"/>
              </a:lnSpc>
              <a:spcBef>
                <a:spcPts val="1700"/>
              </a:spcBef>
              <a:spcAft>
                <a:spcPts val="0"/>
              </a:spcAft>
              <a:buClr>
                <a:schemeClr val="dk1"/>
              </a:buClr>
              <a:buSzPts val="1100"/>
              <a:buFont typeface="Arial"/>
              <a:buNone/>
            </a:pPr>
            <a:r>
              <a:rPr b="1" i="0" lang="en-US" sz="2000" u="none" cap="none" strike="noStrike">
                <a:solidFill>
                  <a:srgbClr val="292929"/>
                </a:solidFill>
                <a:latin typeface="Calibri"/>
                <a:ea typeface="Calibri"/>
                <a:cs typeface="Calibri"/>
                <a:sym typeface="Calibri"/>
              </a:rPr>
              <a:t>Input:</a:t>
            </a:r>
            <a:r>
              <a:rPr b="0" i="0" lang="en-US" sz="2000" u="none" cap="none" strike="noStrike">
                <a:solidFill>
                  <a:srgbClr val="292929"/>
                </a:solidFill>
                <a:latin typeface="Calibri"/>
                <a:ea typeface="Calibri"/>
                <a:cs typeface="Calibri"/>
                <a:sym typeface="Calibri"/>
              </a:rPr>
              <a:t>  txt[] = "THIS IS STRING MATCHING ALGORITHM"</a:t>
            </a:r>
            <a:endParaRPr b="0" i="0" sz="2000" u="none" cap="none" strike="noStrike">
              <a:solidFill>
                <a:srgbClr val="292929"/>
              </a:solidFill>
              <a:latin typeface="Calibri"/>
              <a:ea typeface="Calibri"/>
              <a:cs typeface="Calibri"/>
              <a:sym typeface="Calibri"/>
            </a:endParaRPr>
          </a:p>
          <a:p>
            <a:pPr indent="0" lvl="0" marL="0" marR="0" rtl="0" algn="just">
              <a:lnSpc>
                <a:spcPct val="150000"/>
              </a:lnSpc>
              <a:spcBef>
                <a:spcPts val="1700"/>
              </a:spcBef>
              <a:spcAft>
                <a:spcPts val="0"/>
              </a:spcAft>
              <a:buClr>
                <a:schemeClr val="dk1"/>
              </a:buClr>
              <a:buSzPts val="1100"/>
              <a:buFont typeface="Arial"/>
              <a:buNone/>
            </a:pPr>
            <a:r>
              <a:rPr b="0" i="0" lang="en-US" sz="2000" u="none" cap="none" strike="noStrike">
                <a:solidFill>
                  <a:srgbClr val="292929"/>
                </a:solidFill>
                <a:latin typeface="Calibri"/>
                <a:ea typeface="Calibri"/>
                <a:cs typeface="Calibri"/>
                <a:sym typeface="Calibri"/>
              </a:rPr>
              <a:t>             pat[] = "STRING"</a:t>
            </a:r>
            <a:endParaRPr b="0" i="0" sz="2000" u="none" cap="none" strike="noStrike">
              <a:solidFill>
                <a:srgbClr val="292929"/>
              </a:solidFill>
              <a:latin typeface="Calibri"/>
              <a:ea typeface="Calibri"/>
              <a:cs typeface="Calibri"/>
              <a:sym typeface="Calibri"/>
            </a:endParaRPr>
          </a:p>
          <a:p>
            <a:pPr indent="0" lvl="0" marL="0" marR="0" rtl="0" algn="just">
              <a:lnSpc>
                <a:spcPct val="150000"/>
              </a:lnSpc>
              <a:spcBef>
                <a:spcPts val="1700"/>
              </a:spcBef>
              <a:spcAft>
                <a:spcPts val="0"/>
              </a:spcAft>
              <a:buClr>
                <a:schemeClr val="dk1"/>
              </a:buClr>
              <a:buSzPts val="1100"/>
              <a:buFont typeface="Arial"/>
              <a:buNone/>
            </a:pPr>
            <a:r>
              <a:rPr b="1" i="0" lang="en-US" sz="2000" u="none" cap="none" strike="noStrike">
                <a:solidFill>
                  <a:srgbClr val="292929"/>
                </a:solidFill>
                <a:latin typeface="Calibri"/>
                <a:ea typeface="Calibri"/>
                <a:cs typeface="Calibri"/>
                <a:sym typeface="Calibri"/>
              </a:rPr>
              <a:t>Output:</a:t>
            </a:r>
            <a:r>
              <a:rPr b="0" i="0" lang="en-US" sz="2000" u="none" cap="none" strike="noStrike">
                <a:solidFill>
                  <a:srgbClr val="292929"/>
                </a:solidFill>
                <a:latin typeface="Calibri"/>
                <a:ea typeface="Calibri"/>
                <a:cs typeface="Calibri"/>
                <a:sym typeface="Calibri"/>
              </a:rPr>
              <a:t> Pattern found at position 10</a:t>
            </a:r>
            <a:endParaRPr b="0" i="0" sz="2000" u="none" cap="none" strike="noStrike">
              <a:solidFill>
                <a:srgbClr val="292929"/>
              </a:solidFill>
              <a:latin typeface="Calibri"/>
              <a:ea typeface="Calibri"/>
              <a:cs typeface="Calibri"/>
              <a:sym typeface="Calibri"/>
            </a:endParaRPr>
          </a:p>
          <a:p>
            <a:pPr indent="0" lvl="0" marL="0" marR="0" rtl="0" algn="just">
              <a:lnSpc>
                <a:spcPct val="150000"/>
              </a:lnSpc>
              <a:spcBef>
                <a:spcPts val="1700"/>
              </a:spcBef>
              <a:spcAft>
                <a:spcPts val="0"/>
              </a:spcAft>
              <a:buClr>
                <a:srgbClr val="000000"/>
              </a:buClr>
              <a:buSzPts val="2000"/>
              <a:buFont typeface="Arial"/>
              <a:buNone/>
            </a:pPr>
            <a:r>
              <a:t/>
            </a:r>
            <a:endParaRPr b="1" i="0" sz="2000" u="none" cap="none" strike="noStrike">
              <a:solidFill>
                <a:srgbClr val="292929"/>
              </a:solidFill>
              <a:highlight>
                <a:srgbClr val="FFFFFF"/>
              </a:highlight>
              <a:latin typeface="Georgia"/>
              <a:ea typeface="Georgia"/>
              <a:cs typeface="Georgia"/>
              <a:sym typeface="Georgia"/>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22eb705b752_0_13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17" name="Google Shape;217;g22eb705b752_0_13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18" name="Google Shape;218;g22eb705b752_0_13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19" name="Google Shape;219;g22eb705b752_0_13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20" name="Google Shape;220;g22eb705b752_0_13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g22eb705b752_0_13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g22eb705b752_0_13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23" name="Google Shape;223;g22eb705b752_0_13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4" name="Google Shape;224;g22eb705b752_0_135"/>
          <p:cNvSpPr txBox="1"/>
          <p:nvPr/>
        </p:nvSpPr>
        <p:spPr>
          <a:xfrm>
            <a:off x="354850" y="1133475"/>
            <a:ext cx="8612700" cy="58665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NAÏVE string matching algorithms and its analysis - </a:t>
            </a:r>
            <a:endParaRPr b="1" i="0" sz="2200" u="none" cap="none" strike="noStrike">
              <a:solidFill>
                <a:srgbClr val="FF0000"/>
              </a:solidFill>
              <a:latin typeface="Arial"/>
              <a:ea typeface="Arial"/>
              <a:cs typeface="Arial"/>
              <a:sym typeface="Arial"/>
            </a:endParaRPr>
          </a:p>
          <a:p>
            <a:pPr indent="0" lvl="0" marL="0" marR="0" rtl="0" algn="just">
              <a:lnSpc>
                <a:spcPct val="150000"/>
              </a:lnSpc>
              <a:spcBef>
                <a:spcPts val="1700"/>
              </a:spcBef>
              <a:spcAft>
                <a:spcPts val="0"/>
              </a:spcAft>
              <a:buClr>
                <a:srgbClr val="000000"/>
              </a:buClr>
              <a:buSzPts val="1700"/>
              <a:buFont typeface="Arial"/>
              <a:buNone/>
            </a:pPr>
            <a:r>
              <a:rPr b="1" i="0" lang="en-US" sz="1700" u="none" cap="none" strike="noStrike">
                <a:solidFill>
                  <a:srgbClr val="292929"/>
                </a:solidFill>
                <a:latin typeface="Arial"/>
                <a:ea typeface="Arial"/>
                <a:cs typeface="Arial"/>
                <a:sym typeface="Arial"/>
              </a:rPr>
              <a:t>Example</a:t>
            </a:r>
            <a:r>
              <a:rPr b="1" lang="en-US" sz="1700">
                <a:solidFill>
                  <a:srgbClr val="292929"/>
                </a:solidFill>
              </a:rPr>
              <a:t> - </a:t>
            </a:r>
            <a:endParaRPr b="1" i="0" sz="1700" u="none" cap="none" strike="noStrike">
              <a:solidFill>
                <a:srgbClr val="292929"/>
              </a:solidFill>
              <a:latin typeface="Arial"/>
              <a:ea typeface="Arial"/>
              <a:cs typeface="Arial"/>
              <a:sym typeface="Arial"/>
            </a:endParaRPr>
          </a:p>
          <a:p>
            <a:pPr indent="0" lvl="0" marL="0" marR="0" rtl="0" algn="just">
              <a:lnSpc>
                <a:spcPct val="150000"/>
              </a:lnSpc>
              <a:spcBef>
                <a:spcPts val="1700"/>
              </a:spcBef>
              <a:spcAft>
                <a:spcPts val="0"/>
              </a:spcAft>
              <a:buClr>
                <a:srgbClr val="000000"/>
              </a:buClr>
              <a:buSzPts val="1700"/>
              <a:buFont typeface="Arial"/>
              <a:buNone/>
            </a:pPr>
            <a:r>
              <a:rPr b="1" i="0" lang="en-US" sz="1700" u="none" cap="none" strike="noStrike">
                <a:solidFill>
                  <a:srgbClr val="292929"/>
                </a:solidFill>
                <a:latin typeface="Arial"/>
                <a:ea typeface="Arial"/>
                <a:cs typeface="Arial"/>
                <a:sym typeface="Arial"/>
              </a:rPr>
              <a:t>Input</a:t>
            </a:r>
            <a:r>
              <a:rPr b="1" lang="en-US" sz="1700">
                <a:solidFill>
                  <a:srgbClr val="292929"/>
                </a:solidFill>
              </a:rPr>
              <a:t> </a:t>
            </a:r>
            <a:r>
              <a:rPr b="1" i="0" lang="en-US" sz="1700" u="none" cap="none" strike="noStrike">
                <a:solidFill>
                  <a:srgbClr val="292929"/>
                </a:solidFill>
                <a:latin typeface="Arial"/>
                <a:ea typeface="Arial"/>
                <a:cs typeface="Arial"/>
                <a:sym typeface="Arial"/>
              </a:rPr>
              <a:t>Main String		:</a:t>
            </a:r>
            <a:r>
              <a:rPr i="0" lang="en-US" sz="1700" u="none" cap="none" strike="noStrike">
                <a:solidFill>
                  <a:srgbClr val="292929"/>
                </a:solidFill>
              </a:rPr>
              <a:t> “ABAAABCDBBABCDDEBCABC”</a:t>
            </a:r>
            <a:endParaRPr i="0" sz="1700" u="none" cap="none" strike="noStrike">
              <a:solidFill>
                <a:srgbClr val="292929"/>
              </a:solidFill>
            </a:endParaRPr>
          </a:p>
          <a:p>
            <a:pPr indent="0" lvl="0" marL="0" marR="0" rtl="0" algn="just">
              <a:lnSpc>
                <a:spcPct val="150000"/>
              </a:lnSpc>
              <a:spcBef>
                <a:spcPts val="1700"/>
              </a:spcBef>
              <a:spcAft>
                <a:spcPts val="0"/>
              </a:spcAft>
              <a:buClr>
                <a:srgbClr val="000000"/>
              </a:buClr>
              <a:buSzPts val="1700"/>
              <a:buFont typeface="Arial"/>
              <a:buNone/>
            </a:pPr>
            <a:r>
              <a:rPr b="1" lang="en-US" sz="1700">
                <a:solidFill>
                  <a:srgbClr val="292929"/>
                </a:solidFill>
              </a:rPr>
              <a:t>P</a:t>
            </a:r>
            <a:r>
              <a:rPr b="1" i="0" lang="en-US" sz="1700" u="none" cap="none" strike="noStrike">
                <a:solidFill>
                  <a:srgbClr val="292929"/>
                </a:solidFill>
                <a:latin typeface="Arial"/>
                <a:ea typeface="Arial"/>
                <a:cs typeface="Arial"/>
                <a:sym typeface="Arial"/>
              </a:rPr>
              <a:t>attern				: </a:t>
            </a:r>
            <a:r>
              <a:rPr i="0" lang="en-US" sz="1700" u="none" cap="none" strike="noStrike">
                <a:solidFill>
                  <a:srgbClr val="292929"/>
                </a:solidFill>
              </a:rPr>
              <a:t>“ABC”</a:t>
            </a:r>
            <a:endParaRPr i="0" sz="1700" u="none" cap="none" strike="noStrike">
              <a:solidFill>
                <a:srgbClr val="292929"/>
              </a:solidFill>
            </a:endParaRPr>
          </a:p>
          <a:p>
            <a:pPr indent="0" lvl="0" marL="0" marR="0" rtl="0" algn="just">
              <a:lnSpc>
                <a:spcPct val="150000"/>
              </a:lnSpc>
              <a:spcBef>
                <a:spcPts val="1700"/>
              </a:spcBef>
              <a:spcAft>
                <a:spcPts val="0"/>
              </a:spcAft>
              <a:buClr>
                <a:srgbClr val="000000"/>
              </a:buClr>
              <a:buSzPts val="1700"/>
              <a:buFont typeface="Arial"/>
              <a:buNone/>
            </a:pPr>
            <a:r>
              <a:rPr b="1" i="0" lang="en-US" sz="1700" u="none" cap="none" strike="noStrike">
                <a:solidFill>
                  <a:srgbClr val="292929"/>
                </a:solidFill>
                <a:latin typeface="Arial"/>
                <a:ea typeface="Arial"/>
                <a:cs typeface="Arial"/>
                <a:sym typeface="Arial"/>
              </a:rPr>
              <a:t>Output				:</a:t>
            </a:r>
            <a:endParaRPr b="1" i="0" sz="1700" u="none" cap="none" strike="noStrike">
              <a:solidFill>
                <a:srgbClr val="292929"/>
              </a:solidFill>
              <a:latin typeface="Arial"/>
              <a:ea typeface="Arial"/>
              <a:cs typeface="Arial"/>
              <a:sym typeface="Arial"/>
            </a:endParaRPr>
          </a:p>
          <a:p>
            <a:pPr indent="457200" lvl="0" marL="1828800" marR="0" rtl="0" algn="just">
              <a:lnSpc>
                <a:spcPct val="150000"/>
              </a:lnSpc>
              <a:spcBef>
                <a:spcPts val="1700"/>
              </a:spcBef>
              <a:spcAft>
                <a:spcPts val="0"/>
              </a:spcAft>
              <a:buClr>
                <a:srgbClr val="000000"/>
              </a:buClr>
              <a:buSzPts val="1700"/>
              <a:buFont typeface="Arial"/>
              <a:buNone/>
            </a:pPr>
            <a:r>
              <a:rPr i="0" lang="en-US" sz="1700" u="none" cap="none" strike="noStrike">
                <a:solidFill>
                  <a:srgbClr val="292929"/>
                </a:solidFill>
              </a:rPr>
              <a:t>Pattern found at position: 4</a:t>
            </a:r>
            <a:endParaRPr i="0" sz="1700" u="none" cap="none" strike="noStrike">
              <a:solidFill>
                <a:srgbClr val="292929"/>
              </a:solidFill>
            </a:endParaRPr>
          </a:p>
          <a:p>
            <a:pPr indent="457200" lvl="0" marL="1828800" marR="0" rtl="0" algn="just">
              <a:lnSpc>
                <a:spcPct val="150000"/>
              </a:lnSpc>
              <a:spcBef>
                <a:spcPts val="1700"/>
              </a:spcBef>
              <a:spcAft>
                <a:spcPts val="0"/>
              </a:spcAft>
              <a:buClr>
                <a:srgbClr val="000000"/>
              </a:buClr>
              <a:buSzPts val="1700"/>
              <a:buFont typeface="Arial"/>
              <a:buNone/>
            </a:pPr>
            <a:r>
              <a:rPr i="0" lang="en-US" sz="1700" u="none" cap="none" strike="noStrike">
                <a:solidFill>
                  <a:srgbClr val="292929"/>
                </a:solidFill>
              </a:rPr>
              <a:t>Pattern found at position: 10</a:t>
            </a:r>
            <a:endParaRPr i="0" sz="1700" u="none" cap="none" strike="noStrike">
              <a:solidFill>
                <a:srgbClr val="292929"/>
              </a:solidFill>
            </a:endParaRPr>
          </a:p>
          <a:p>
            <a:pPr indent="457200" lvl="0" marL="1828800" marR="0" rtl="0" algn="just">
              <a:lnSpc>
                <a:spcPct val="150000"/>
              </a:lnSpc>
              <a:spcBef>
                <a:spcPts val="1700"/>
              </a:spcBef>
              <a:spcAft>
                <a:spcPts val="0"/>
              </a:spcAft>
              <a:buClr>
                <a:srgbClr val="000000"/>
              </a:buClr>
              <a:buSzPts val="1700"/>
              <a:buFont typeface="Arial"/>
              <a:buNone/>
            </a:pPr>
            <a:r>
              <a:rPr i="0" lang="en-US" sz="1700" u="none" cap="none" strike="noStrike">
                <a:solidFill>
                  <a:srgbClr val="292929"/>
                </a:solidFill>
              </a:rPr>
              <a:t>Pattern found at position: 18</a:t>
            </a:r>
            <a:endParaRPr i="0" sz="2200" u="none" cap="none" strike="noStrike">
              <a:solidFill>
                <a:srgbClr val="292929"/>
              </a:solidFill>
            </a:endParaRPr>
          </a:p>
          <a:p>
            <a:pPr indent="0" lvl="0" marL="0" marR="0" rtl="0" algn="just">
              <a:lnSpc>
                <a:spcPct val="150000"/>
              </a:lnSpc>
              <a:spcBef>
                <a:spcPts val="1700"/>
              </a:spcBef>
              <a:spcAft>
                <a:spcPts val="0"/>
              </a:spcAft>
              <a:buClr>
                <a:srgbClr val="000000"/>
              </a:buClr>
              <a:buSzPts val="2000"/>
              <a:buFont typeface="Arial"/>
              <a:buNone/>
            </a:pPr>
            <a:r>
              <a:t/>
            </a:r>
            <a:endParaRPr i="0" sz="2000" u="none" cap="none" strike="noStrike">
              <a:solidFill>
                <a:srgbClr val="292929"/>
              </a:solidFill>
              <a:highlight>
                <a:srgbClr val="FFFFFF"/>
              </a:highlight>
              <a:latin typeface="Georgia"/>
              <a:ea typeface="Georgia"/>
              <a:cs typeface="Georgia"/>
              <a:sym typeface="Georgia"/>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2eb705b752_0_17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30" name="Google Shape;230;g22eb705b752_0_17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31" name="Google Shape;231;g22eb705b752_0_17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32" name="Google Shape;232;g22eb705b752_0_17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33" name="Google Shape;233;g22eb705b752_0_17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g22eb705b752_0_17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g22eb705b752_0_17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36" name="Google Shape;236;g22eb705b752_0_17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7" name="Google Shape;237;g22eb705b752_0_174"/>
          <p:cNvSpPr txBox="1"/>
          <p:nvPr/>
        </p:nvSpPr>
        <p:spPr>
          <a:xfrm>
            <a:off x="354850" y="1133475"/>
            <a:ext cx="8612700" cy="49839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Times New Roman"/>
                <a:ea typeface="Times New Roman"/>
                <a:cs typeface="Times New Roman"/>
                <a:sym typeface="Times New Roman"/>
              </a:rPr>
              <a:t>NAÏVE string matching algorithm -</a:t>
            </a:r>
            <a:endParaRPr b="1" i="0" sz="2200" u="none" cap="none" strike="noStrike">
              <a:solidFill>
                <a:srgbClr val="98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Times New Roman"/>
                <a:ea typeface="Times New Roman"/>
                <a:cs typeface="Times New Roman"/>
                <a:sym typeface="Times New Roman"/>
              </a:rPr>
              <a:t> </a:t>
            </a:r>
            <a:endParaRPr b="1" i="0" sz="2200" u="none" cap="none" strike="noStrike">
              <a:solidFill>
                <a:srgbClr val="98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100"/>
              <a:buFont typeface="Arial"/>
              <a:buNone/>
            </a:pPr>
            <a:r>
              <a:rPr b="1" i="0" lang="en-US" sz="1900" u="none" cap="none" strike="noStrike">
                <a:solidFill>
                  <a:srgbClr val="292929"/>
                </a:solidFill>
                <a:latin typeface="Times New Roman"/>
                <a:ea typeface="Times New Roman"/>
                <a:cs typeface="Times New Roman"/>
                <a:sym typeface="Times New Roman"/>
              </a:rPr>
              <a:t>NAIVE-STRING-MATCHER (T, P)</a:t>
            </a:r>
            <a:endParaRPr b="1" i="0" sz="1900" u="none" cap="none" strike="noStrike">
              <a:solidFill>
                <a:srgbClr val="292929"/>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rgbClr val="292929"/>
              </a:buClr>
              <a:buSzPts val="2200"/>
              <a:buFont typeface="Times New Roman"/>
              <a:buChar char="➢"/>
            </a:pPr>
            <a:r>
              <a:rPr i="0" lang="en-US" sz="2200" u="none" cap="none" strike="noStrike">
                <a:solidFill>
                  <a:srgbClr val="292929"/>
                </a:solidFill>
                <a:latin typeface="Times New Roman"/>
                <a:ea typeface="Times New Roman"/>
                <a:cs typeface="Times New Roman"/>
                <a:sym typeface="Times New Roman"/>
              </a:rPr>
              <a:t>n</a:t>
            </a:r>
            <a:r>
              <a:rPr i="0" lang="en-US" sz="2200" u="none" cap="none" strike="noStrike">
                <a:solidFill>
                  <a:srgbClr val="292929"/>
                </a:solidFill>
                <a:latin typeface="Times New Roman"/>
                <a:ea typeface="Times New Roman"/>
                <a:cs typeface="Times New Roman"/>
                <a:sym typeface="Times New Roman"/>
              </a:rPr>
              <a:t> ← length [T]</a:t>
            </a:r>
            <a:endParaRPr i="0" sz="2200" u="none" cap="none" strike="noStrike">
              <a:solidFill>
                <a:srgbClr val="292929"/>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rgbClr val="292929"/>
              </a:buClr>
              <a:buSzPts val="2200"/>
              <a:buFont typeface="Times New Roman"/>
              <a:buChar char="➢"/>
            </a:pPr>
            <a:r>
              <a:rPr i="0" lang="en-US" sz="2200" u="none" cap="none" strike="noStrike">
                <a:solidFill>
                  <a:srgbClr val="292929"/>
                </a:solidFill>
                <a:latin typeface="Times New Roman"/>
                <a:ea typeface="Times New Roman"/>
                <a:cs typeface="Times New Roman"/>
                <a:sym typeface="Times New Roman"/>
              </a:rPr>
              <a:t>m ← length [P]</a:t>
            </a:r>
            <a:endParaRPr i="0" sz="2200" u="none" cap="none" strike="noStrike">
              <a:solidFill>
                <a:srgbClr val="292929"/>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rgbClr val="292929"/>
              </a:buClr>
              <a:buSzPts val="2200"/>
              <a:buFont typeface="Times New Roman"/>
              <a:buChar char="➢"/>
            </a:pPr>
            <a:r>
              <a:rPr i="0" lang="en-US" sz="2200" u="none" cap="none" strike="noStrike">
                <a:solidFill>
                  <a:srgbClr val="292929"/>
                </a:solidFill>
                <a:latin typeface="Times New Roman"/>
                <a:ea typeface="Times New Roman"/>
                <a:cs typeface="Times New Roman"/>
                <a:sym typeface="Times New Roman"/>
              </a:rPr>
              <a:t>for s ← 0 to n -m</a:t>
            </a:r>
            <a:endParaRPr i="0" sz="2200" u="none" cap="none" strike="noStrike">
              <a:solidFill>
                <a:srgbClr val="292929"/>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rgbClr val="292929"/>
              </a:buClr>
              <a:buSzPts val="2200"/>
              <a:buFont typeface="Times New Roman"/>
              <a:buChar char="➢"/>
            </a:pPr>
            <a:r>
              <a:rPr i="0" lang="en-US" sz="2200" u="none" cap="none" strike="noStrike">
                <a:solidFill>
                  <a:srgbClr val="292929"/>
                </a:solidFill>
                <a:latin typeface="Times New Roman"/>
                <a:ea typeface="Times New Roman"/>
                <a:cs typeface="Times New Roman"/>
                <a:sym typeface="Times New Roman"/>
              </a:rPr>
              <a:t>do if P [1.....m] = T [s + 1....s + m]</a:t>
            </a:r>
            <a:endParaRPr i="0" sz="2200" u="none" cap="none" strike="noStrike">
              <a:solidFill>
                <a:srgbClr val="292929"/>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rgbClr val="292929"/>
              </a:buClr>
              <a:buSzPts val="2200"/>
              <a:buFont typeface="Times New Roman"/>
              <a:buChar char="➢"/>
            </a:pPr>
            <a:r>
              <a:rPr i="0" lang="en-US" sz="2200" u="none" cap="none" strike="noStrike">
                <a:solidFill>
                  <a:srgbClr val="292929"/>
                </a:solidFill>
                <a:latin typeface="Times New Roman"/>
                <a:ea typeface="Times New Roman"/>
                <a:cs typeface="Times New Roman"/>
                <a:sym typeface="Times New Roman"/>
              </a:rPr>
              <a:t>then print "Pattern occurs with shift" </a:t>
            </a:r>
            <a:endParaRPr i="0" sz="2200" u="none" cap="none" strike="noStrike">
              <a:solidFill>
                <a:srgbClr val="292929"/>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None/>
            </a:pPr>
            <a:r>
              <a:t/>
            </a:r>
            <a:endParaRPr i="0" sz="2200" u="none" cap="none" strike="noStrike">
              <a:solidFill>
                <a:srgbClr val="292929"/>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2300"/>
              <a:buFont typeface="Arial"/>
              <a:buNone/>
            </a:pPr>
            <a:r>
              <a:rPr b="1" i="0" lang="en-US" sz="1900" u="none" cap="none" strike="noStrike">
                <a:solidFill>
                  <a:srgbClr val="C00000"/>
                </a:solidFill>
                <a:latin typeface="Times New Roman"/>
                <a:ea typeface="Times New Roman"/>
                <a:cs typeface="Times New Roman"/>
                <a:sym typeface="Times New Roman"/>
              </a:rPr>
              <a:t>Analysis: </a:t>
            </a:r>
            <a:r>
              <a:rPr i="0" lang="en-US" sz="1900" u="none" cap="none" strike="noStrike">
                <a:solidFill>
                  <a:srgbClr val="292929"/>
                </a:solidFill>
                <a:latin typeface="Times New Roman"/>
                <a:ea typeface="Times New Roman"/>
                <a:cs typeface="Times New Roman"/>
                <a:sym typeface="Times New Roman"/>
              </a:rPr>
              <a:t>This for loop from 3 to 5 executes for n-m + 1(we need at least m characters at the end) times and in iteration we are doing m comparisons. So the total complexity is O (n-m+1).</a:t>
            </a:r>
            <a:endParaRPr i="0" sz="2600" u="none" cap="none" strike="noStrike">
              <a:solidFill>
                <a:srgbClr val="292929"/>
              </a:solidFill>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2200"/>
              <a:buFont typeface="Arial"/>
              <a:buNone/>
            </a:pPr>
            <a:r>
              <a:t/>
            </a:r>
            <a:endParaRPr b="1" i="0" sz="2200" u="none" cap="none" strike="noStrike">
              <a:solidFill>
                <a:srgbClr val="292929"/>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2eb705b752_0_14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43" name="Google Shape;243;g22eb705b752_0_14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44" name="Google Shape;244;g22eb705b752_0_14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45" name="Google Shape;245;g22eb705b752_0_14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46" name="Google Shape;246;g22eb705b752_0_14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g22eb705b752_0_14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g22eb705b752_0_14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49" name="Google Shape;249;g22eb705b752_0_14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0" name="Google Shape;250;g22eb705b752_0_148"/>
          <p:cNvSpPr txBox="1"/>
          <p:nvPr/>
        </p:nvSpPr>
        <p:spPr>
          <a:xfrm>
            <a:off x="313425" y="1054200"/>
            <a:ext cx="8612700" cy="35910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NAÏVE string matching algorithm analysis</a:t>
            </a:r>
            <a:endParaRPr b="1" i="0" sz="2200" u="none" cap="none" strike="noStrike">
              <a:solidFill>
                <a:srgbClr val="980000"/>
              </a:solidFill>
              <a:latin typeface="Arial"/>
              <a:ea typeface="Arial"/>
              <a:cs typeface="Arial"/>
              <a:sym typeface="Arial"/>
            </a:endParaRPr>
          </a:p>
          <a:p>
            <a:pPr indent="0" lvl="0" marL="0" marR="0" rtl="0" algn="l">
              <a:lnSpc>
                <a:spcPct val="100000"/>
              </a:lnSpc>
              <a:spcBef>
                <a:spcPts val="3000"/>
              </a:spcBef>
              <a:spcAft>
                <a:spcPts val="0"/>
              </a:spcAft>
              <a:buClr>
                <a:schemeClr val="dk1"/>
              </a:buClr>
              <a:buSzPts val="1100"/>
              <a:buFont typeface="Arial"/>
              <a:buNone/>
            </a:pPr>
            <a:r>
              <a:rPr b="1" i="0" lang="en-US" sz="2200" u="none" cap="none" strike="noStrike">
                <a:solidFill>
                  <a:schemeClr val="dk1"/>
                </a:solidFill>
                <a:latin typeface="Times New Roman"/>
                <a:ea typeface="Times New Roman"/>
                <a:cs typeface="Times New Roman"/>
                <a:sym typeface="Times New Roman"/>
              </a:rPr>
              <a:t>W</a:t>
            </a:r>
            <a:r>
              <a:rPr b="1" i="0" lang="en-US" sz="2000" u="none" cap="none" strike="noStrike">
                <a:solidFill>
                  <a:schemeClr val="dk1"/>
                </a:solidFill>
                <a:latin typeface="Times New Roman"/>
                <a:ea typeface="Times New Roman"/>
                <a:cs typeface="Times New Roman"/>
                <a:sym typeface="Times New Roman"/>
              </a:rPr>
              <a:t>hat is the best case</a:t>
            </a:r>
            <a:r>
              <a:rPr lang="en-US" sz="2000">
                <a:solidFill>
                  <a:schemeClr val="dk1"/>
                </a:solidFill>
                <a:latin typeface="Times New Roman"/>
                <a:ea typeface="Times New Roman"/>
                <a:cs typeface="Times New Roman"/>
                <a:sym typeface="Times New Roman"/>
              </a:rPr>
              <a:t> - </a:t>
            </a:r>
            <a:r>
              <a:rPr i="0" lang="en-US" sz="2000" u="none" cap="none" strike="noStrike">
                <a:solidFill>
                  <a:schemeClr val="dk1"/>
                </a:solidFill>
                <a:latin typeface="Times New Roman"/>
                <a:ea typeface="Times New Roman"/>
                <a:cs typeface="Times New Roman"/>
                <a:sym typeface="Times New Roman"/>
              </a:rPr>
              <a:t>The best case occurs when the first character of the pattern is not present in text at all.</a:t>
            </a:r>
            <a:endParaRPr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0"/>
              </a:spcBef>
              <a:spcAft>
                <a:spcPts val="0"/>
              </a:spcAft>
              <a:buClr>
                <a:schemeClr val="dk1"/>
              </a:buClr>
              <a:buSzPts val="1100"/>
              <a:buFont typeface="Arial"/>
              <a:buNone/>
            </a:pPr>
            <a:r>
              <a:rPr i="0" lang="en-US" sz="2000" u="none" cap="none" strike="noStrike">
                <a:solidFill>
                  <a:schemeClr val="dk1"/>
                </a:solidFill>
                <a:latin typeface="Times New Roman"/>
                <a:ea typeface="Times New Roman"/>
                <a:cs typeface="Times New Roman"/>
                <a:sym typeface="Times New Roman"/>
              </a:rPr>
              <a:t>txt[] = "</a:t>
            </a:r>
            <a:r>
              <a:rPr b="1" i="0" lang="en-US" sz="2000" u="none" cap="none" strike="noStrike">
                <a:solidFill>
                  <a:schemeClr val="dk1"/>
                </a:solidFill>
                <a:latin typeface="Times New Roman"/>
                <a:ea typeface="Times New Roman"/>
                <a:cs typeface="Times New Roman"/>
                <a:sym typeface="Times New Roman"/>
              </a:rPr>
              <a:t>BBACCAADDEE";</a:t>
            </a:r>
            <a:endParaRPr b="1"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0"/>
              </a:spcBef>
              <a:spcAft>
                <a:spcPts val="0"/>
              </a:spcAft>
              <a:buClr>
                <a:schemeClr val="dk1"/>
              </a:buClr>
              <a:buSzPts val="1100"/>
              <a:buFont typeface="Arial"/>
              <a:buNone/>
            </a:pPr>
            <a:r>
              <a:rPr i="0" lang="en-US" sz="2000" u="none" cap="none" strike="noStrike">
                <a:solidFill>
                  <a:schemeClr val="dk1"/>
                </a:solidFill>
                <a:latin typeface="Times New Roman"/>
                <a:ea typeface="Times New Roman"/>
                <a:cs typeface="Times New Roman"/>
                <a:sym typeface="Times New Roman"/>
              </a:rPr>
              <a:t>pat[] = </a:t>
            </a:r>
            <a:r>
              <a:rPr b="1" i="0" lang="en-US" sz="2000" u="none" cap="none" strike="noStrike">
                <a:solidFill>
                  <a:schemeClr val="dk1"/>
                </a:solidFill>
                <a:latin typeface="Times New Roman"/>
                <a:ea typeface="Times New Roman"/>
                <a:cs typeface="Times New Roman"/>
                <a:sym typeface="Times New Roman"/>
              </a:rPr>
              <a:t>"HBB"</a:t>
            </a:r>
            <a:r>
              <a:rPr i="0" lang="en-US" sz="2000" u="none" cap="none" strike="noStrike">
                <a:solidFill>
                  <a:schemeClr val="dk1"/>
                </a:solidFill>
                <a:latin typeface="Times New Roman"/>
                <a:ea typeface="Times New Roman"/>
                <a:cs typeface="Times New Roman"/>
                <a:sym typeface="Times New Roman"/>
              </a:rPr>
              <a:t>;</a:t>
            </a:r>
            <a:endParaRPr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0"/>
              </a:spcBef>
              <a:spcAft>
                <a:spcPts val="0"/>
              </a:spcAft>
              <a:buClr>
                <a:schemeClr val="dk1"/>
              </a:buClr>
              <a:buSzPts val="1100"/>
              <a:buFont typeface="Arial"/>
              <a:buNone/>
            </a:pPr>
            <a:r>
              <a:rPr i="0" lang="en-US" sz="2000" u="none" cap="none" strike="noStrike">
                <a:solidFill>
                  <a:schemeClr val="dk1"/>
                </a:solidFill>
                <a:latin typeface="Times New Roman"/>
                <a:ea typeface="Times New Roman"/>
                <a:cs typeface="Times New Roman"/>
                <a:sym typeface="Times New Roman"/>
              </a:rPr>
              <a:t>The number of comparisons in best case is </a:t>
            </a:r>
            <a:r>
              <a:rPr b="1" i="0" lang="en-US" sz="2000" u="none" cap="none" strike="noStrike">
                <a:solidFill>
                  <a:schemeClr val="dk1"/>
                </a:solidFill>
                <a:latin typeface="Times New Roman"/>
                <a:ea typeface="Times New Roman"/>
                <a:cs typeface="Times New Roman"/>
                <a:sym typeface="Times New Roman"/>
              </a:rPr>
              <a:t>O(n).</a:t>
            </a:r>
            <a:endParaRPr b="1" i="0" sz="20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2eb705b752_0_16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6" name="Google Shape;256;g22eb705b752_0_16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57" name="Google Shape;257;g22eb705b752_0_16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58" name="Google Shape;258;g22eb705b752_0_16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59" name="Google Shape;259;g22eb705b752_0_16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g22eb705b752_0_16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g22eb705b752_0_16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62" name="Google Shape;262;g22eb705b752_0_16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3" name="Google Shape;263;g22eb705b752_0_161"/>
          <p:cNvSpPr txBox="1"/>
          <p:nvPr/>
        </p:nvSpPr>
        <p:spPr>
          <a:xfrm>
            <a:off x="313425" y="1017650"/>
            <a:ext cx="8612700" cy="549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NAÏVE string matching algorithm analys</a:t>
            </a:r>
            <a:r>
              <a:rPr b="1" i="0" lang="en-US" sz="2500" u="none" cap="none" strike="noStrike">
                <a:solidFill>
                  <a:srgbClr val="980000"/>
                </a:solidFill>
                <a:latin typeface="Arial"/>
                <a:ea typeface="Arial"/>
                <a:cs typeface="Arial"/>
                <a:sym typeface="Arial"/>
              </a:rPr>
              <a:t>is</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rPr b="1" i="0" lang="en-US" sz="1900" u="none" cap="none" strike="noStrike">
                <a:solidFill>
                  <a:srgbClr val="292929"/>
                </a:solidFill>
                <a:latin typeface="Times New Roman"/>
                <a:ea typeface="Times New Roman"/>
                <a:cs typeface="Times New Roman"/>
                <a:sym typeface="Times New Roman"/>
              </a:rPr>
              <a:t>What is the worst case </a:t>
            </a:r>
            <a:r>
              <a:rPr b="1" lang="en-US" sz="1900">
                <a:solidFill>
                  <a:srgbClr val="292929"/>
                </a:solidFill>
                <a:latin typeface="Times New Roman"/>
                <a:ea typeface="Times New Roman"/>
                <a:cs typeface="Times New Roman"/>
                <a:sym typeface="Times New Roman"/>
              </a:rPr>
              <a:t>- </a:t>
            </a:r>
            <a:r>
              <a:rPr i="0" lang="en-US" sz="1900" u="none" cap="none" strike="noStrike">
                <a:solidFill>
                  <a:srgbClr val="292929"/>
                </a:solidFill>
                <a:latin typeface="Times New Roman"/>
                <a:ea typeface="Times New Roman"/>
                <a:cs typeface="Times New Roman"/>
                <a:sym typeface="Times New Roman"/>
              </a:rPr>
              <a:t>The worst case of Naive Pattern Searching occurs in following scenarios.</a:t>
            </a:r>
            <a:endParaRPr i="0" sz="1900" u="none" cap="none" strike="noStrike">
              <a:solidFill>
                <a:srgbClr val="292929"/>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100"/>
              <a:buFont typeface="Arial"/>
              <a:buNone/>
            </a:pPr>
            <a:br>
              <a:rPr i="0" lang="en-US" sz="1900" u="none" cap="none" strike="noStrike">
                <a:solidFill>
                  <a:srgbClr val="292929"/>
                </a:solidFill>
                <a:latin typeface="Times New Roman"/>
                <a:ea typeface="Times New Roman"/>
                <a:cs typeface="Times New Roman"/>
                <a:sym typeface="Times New Roman"/>
              </a:rPr>
            </a:br>
            <a:r>
              <a:rPr b="1" i="0" lang="en-US" sz="1900" u="none" cap="none" strike="noStrike">
                <a:solidFill>
                  <a:srgbClr val="292929"/>
                </a:solidFill>
                <a:latin typeface="Times New Roman"/>
                <a:ea typeface="Times New Roman"/>
                <a:cs typeface="Times New Roman"/>
                <a:sym typeface="Times New Roman"/>
              </a:rPr>
              <a:t>1) When all characters of the text and pattern are same.</a:t>
            </a:r>
            <a:endParaRPr b="1" i="0" sz="1900" u="none" cap="none" strike="noStrike">
              <a:solidFill>
                <a:srgbClr val="292929"/>
              </a:solidFill>
              <a:latin typeface="Times New Roman"/>
              <a:ea typeface="Times New Roman"/>
              <a:cs typeface="Times New Roman"/>
              <a:sym typeface="Times New Roman"/>
            </a:endParaRPr>
          </a:p>
          <a:p>
            <a:pPr indent="0" lvl="0" marL="2286000" marR="0" rtl="0" algn="l">
              <a:lnSpc>
                <a:spcPct val="150000"/>
              </a:lnSpc>
              <a:spcBef>
                <a:spcPts val="0"/>
              </a:spcBef>
              <a:spcAft>
                <a:spcPts val="0"/>
              </a:spcAft>
              <a:buClr>
                <a:schemeClr val="dk1"/>
              </a:buClr>
              <a:buSzPts val="1100"/>
              <a:buFont typeface="Arial"/>
              <a:buNone/>
            </a:pPr>
            <a:r>
              <a:rPr i="0" lang="en-US" sz="1550" u="none" cap="none" strike="noStrike">
                <a:solidFill>
                  <a:srgbClr val="188038"/>
                </a:solidFill>
                <a:latin typeface="Times New Roman"/>
                <a:ea typeface="Times New Roman"/>
                <a:cs typeface="Times New Roman"/>
                <a:sym typeface="Times New Roman"/>
              </a:rPr>
              <a:t>txt[] = "DDDDDDDDDDDD";</a:t>
            </a:r>
            <a:endParaRPr i="0" sz="1550" u="none" cap="none" strike="noStrike">
              <a:solidFill>
                <a:srgbClr val="188038"/>
              </a:solidFill>
              <a:latin typeface="Times New Roman"/>
              <a:ea typeface="Times New Roman"/>
              <a:cs typeface="Times New Roman"/>
              <a:sym typeface="Times New Roman"/>
            </a:endParaRPr>
          </a:p>
          <a:p>
            <a:pPr indent="0" lvl="0" marL="2286000" marR="0" rtl="0" algn="l">
              <a:lnSpc>
                <a:spcPct val="150000"/>
              </a:lnSpc>
              <a:spcBef>
                <a:spcPts val="0"/>
              </a:spcBef>
              <a:spcAft>
                <a:spcPts val="0"/>
              </a:spcAft>
              <a:buClr>
                <a:schemeClr val="dk1"/>
              </a:buClr>
              <a:buSzPts val="1100"/>
              <a:buFont typeface="Arial"/>
              <a:buNone/>
            </a:pPr>
            <a:r>
              <a:rPr i="0" lang="en-US" sz="1550" u="none" cap="none" strike="noStrike">
                <a:solidFill>
                  <a:srgbClr val="188038"/>
                </a:solidFill>
                <a:latin typeface="Times New Roman"/>
                <a:ea typeface="Times New Roman"/>
                <a:cs typeface="Times New Roman"/>
                <a:sym typeface="Times New Roman"/>
              </a:rPr>
              <a:t>pat[] = "DDDDD";</a:t>
            </a:r>
            <a:endParaRPr i="0" sz="1550" u="none" cap="none" strike="noStrike">
              <a:solidFill>
                <a:srgbClr val="188038"/>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100"/>
              <a:buFont typeface="Arial"/>
              <a:buNone/>
            </a:pPr>
            <a:r>
              <a:t/>
            </a:r>
            <a:endParaRPr i="0" sz="1550" u="none" cap="none" strike="noStrike">
              <a:solidFill>
                <a:srgbClr val="188038"/>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100"/>
              <a:buFont typeface="Arial"/>
              <a:buNone/>
            </a:pPr>
            <a:r>
              <a:rPr b="1" i="0" lang="en-US" sz="1900" u="none" cap="none" strike="noStrike">
                <a:solidFill>
                  <a:srgbClr val="292929"/>
                </a:solidFill>
                <a:latin typeface="Times New Roman"/>
                <a:ea typeface="Times New Roman"/>
                <a:cs typeface="Times New Roman"/>
                <a:sym typeface="Times New Roman"/>
              </a:rPr>
              <a:t>2) Worst case also occurs when only the last character is different.</a:t>
            </a:r>
            <a:endParaRPr b="1" i="0" sz="1900" u="none" cap="none" strike="noStrike">
              <a:solidFill>
                <a:srgbClr val="292929"/>
              </a:solidFill>
              <a:latin typeface="Times New Roman"/>
              <a:ea typeface="Times New Roman"/>
              <a:cs typeface="Times New Roman"/>
              <a:sym typeface="Times New Roman"/>
            </a:endParaRPr>
          </a:p>
          <a:p>
            <a:pPr indent="0" lvl="0" marL="2286000" marR="0" rtl="0" algn="l">
              <a:lnSpc>
                <a:spcPct val="150000"/>
              </a:lnSpc>
              <a:spcBef>
                <a:spcPts val="0"/>
              </a:spcBef>
              <a:spcAft>
                <a:spcPts val="0"/>
              </a:spcAft>
              <a:buClr>
                <a:schemeClr val="dk1"/>
              </a:buClr>
              <a:buSzPts val="1100"/>
              <a:buFont typeface="Arial"/>
              <a:buNone/>
            </a:pPr>
            <a:r>
              <a:rPr i="0" lang="en-US" sz="1550" u="none" cap="none" strike="noStrike">
                <a:solidFill>
                  <a:srgbClr val="188038"/>
                </a:solidFill>
                <a:latin typeface="Times New Roman"/>
                <a:ea typeface="Times New Roman"/>
                <a:cs typeface="Times New Roman"/>
                <a:sym typeface="Times New Roman"/>
              </a:rPr>
              <a:t>txt[] = "VVVVVVVVVVVVK";</a:t>
            </a:r>
            <a:endParaRPr i="0" sz="1550" u="none" cap="none" strike="noStrike">
              <a:solidFill>
                <a:srgbClr val="188038"/>
              </a:solidFill>
              <a:latin typeface="Times New Roman"/>
              <a:ea typeface="Times New Roman"/>
              <a:cs typeface="Times New Roman"/>
              <a:sym typeface="Times New Roman"/>
            </a:endParaRPr>
          </a:p>
          <a:p>
            <a:pPr indent="0" lvl="0" marL="2286000" marR="0" rtl="0" algn="l">
              <a:lnSpc>
                <a:spcPct val="150000"/>
              </a:lnSpc>
              <a:spcBef>
                <a:spcPts val="0"/>
              </a:spcBef>
              <a:spcAft>
                <a:spcPts val="0"/>
              </a:spcAft>
              <a:buClr>
                <a:schemeClr val="dk1"/>
              </a:buClr>
              <a:buSzPts val="1100"/>
              <a:buFont typeface="Arial"/>
              <a:buNone/>
            </a:pPr>
            <a:r>
              <a:rPr i="0" lang="en-US" sz="1550" u="none" cap="none" strike="noStrike">
                <a:solidFill>
                  <a:srgbClr val="188038"/>
                </a:solidFill>
                <a:latin typeface="Times New Roman"/>
                <a:ea typeface="Times New Roman"/>
                <a:cs typeface="Times New Roman"/>
                <a:sym typeface="Times New Roman"/>
              </a:rPr>
              <a:t>pat[] = "VVVK";</a:t>
            </a:r>
            <a:endParaRPr i="0" sz="1550" u="none" cap="none" strike="noStrike">
              <a:solidFill>
                <a:srgbClr val="188038"/>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100"/>
              <a:buFont typeface="Arial"/>
              <a:buNone/>
            </a:pPr>
            <a:r>
              <a:t/>
            </a:r>
            <a:endParaRPr i="0" sz="1550" u="none" cap="none" strike="noStrike">
              <a:solidFill>
                <a:srgbClr val="188038"/>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1100"/>
              <a:buFont typeface="Arial"/>
              <a:buNone/>
            </a:pPr>
            <a:r>
              <a:rPr i="0" lang="en-US" sz="1900" u="none" cap="none" strike="noStrike">
                <a:solidFill>
                  <a:srgbClr val="292929"/>
                </a:solidFill>
              </a:rPr>
              <a:t>The number of comparisons in the worst case is </a:t>
            </a:r>
            <a:r>
              <a:rPr b="1" i="0" lang="en-US" sz="1900" u="none" cap="none" strike="noStrike">
                <a:solidFill>
                  <a:srgbClr val="292929"/>
                </a:solidFill>
              </a:rPr>
              <a:t>O(m*(n-m+1)).</a:t>
            </a:r>
            <a:endParaRPr b="1" i="0" sz="3600" u="none" cap="none" strike="noStrike">
              <a:solidFill>
                <a:srgbClr val="29292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2eb705b752_0_18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69" name="Google Shape;269;g22eb705b752_0_18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70" name="Google Shape;270;g22eb705b752_0_18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71" name="Google Shape;271;g22eb705b752_0_18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72" name="Google Shape;272;g22eb705b752_0_18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g22eb705b752_0_18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g22eb705b752_0_18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75" name="Google Shape;275;g22eb705b752_0_18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6" name="Google Shape;276;g22eb705b752_0_188"/>
          <p:cNvSpPr txBox="1"/>
          <p:nvPr/>
        </p:nvSpPr>
        <p:spPr>
          <a:xfrm>
            <a:off x="313425" y="1090750"/>
            <a:ext cx="8612700" cy="505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Rabin Karp algorithm and its analysis;</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349250" lvl="0" marL="457200" marR="0" rtl="0" algn="l">
              <a:lnSpc>
                <a:spcPct val="150000"/>
              </a:lnSpc>
              <a:spcBef>
                <a:spcPts val="0"/>
              </a:spcBef>
              <a:spcAft>
                <a:spcPts val="0"/>
              </a:spcAft>
              <a:buClr>
                <a:srgbClr val="292929"/>
              </a:buClr>
              <a:buSzPts val="1900"/>
              <a:buChar char="➢"/>
            </a:pPr>
            <a:r>
              <a:rPr i="0" lang="en-US" sz="1900" u="none" cap="none" strike="noStrike">
                <a:solidFill>
                  <a:srgbClr val="292929"/>
                </a:solidFill>
              </a:rPr>
              <a:t> It is </a:t>
            </a:r>
            <a:r>
              <a:rPr b="1" i="0" lang="en-US" sz="1900" u="none" cap="none" strike="noStrike">
                <a:solidFill>
                  <a:srgbClr val="292929"/>
                </a:solidFill>
              </a:rPr>
              <a:t>String matching algorithm.</a:t>
            </a:r>
            <a:endParaRPr b="1" i="0" sz="1900" u="none" cap="none" strike="noStrike">
              <a:solidFill>
                <a:srgbClr val="292929"/>
              </a:solidFill>
            </a:endParaRPr>
          </a:p>
          <a:p>
            <a:pPr indent="-349250" lvl="0" marL="457200" marR="0" rtl="0" algn="l">
              <a:lnSpc>
                <a:spcPct val="150000"/>
              </a:lnSpc>
              <a:spcBef>
                <a:spcPts val="0"/>
              </a:spcBef>
              <a:spcAft>
                <a:spcPts val="0"/>
              </a:spcAft>
              <a:buClr>
                <a:srgbClr val="292929"/>
              </a:buClr>
              <a:buSzPts val="1900"/>
              <a:buChar char="➢"/>
            </a:pPr>
            <a:r>
              <a:rPr i="0" lang="en-US" sz="1900" u="none" cap="none" strike="noStrike">
                <a:solidFill>
                  <a:srgbClr val="292929"/>
                </a:solidFill>
              </a:rPr>
              <a:t> It is another</a:t>
            </a:r>
            <a:r>
              <a:rPr b="1" i="0" lang="en-US" sz="1900" u="none" cap="none" strike="noStrike">
                <a:solidFill>
                  <a:srgbClr val="292929"/>
                </a:solidFill>
              </a:rPr>
              <a:t> application of Hashing.</a:t>
            </a:r>
            <a:endParaRPr b="1" i="0" sz="1900" u="none" cap="none" strike="noStrike">
              <a:solidFill>
                <a:srgbClr val="292929"/>
              </a:solidFill>
            </a:endParaRPr>
          </a:p>
          <a:p>
            <a:pPr indent="-349250" lvl="0" marL="457200" marR="0" rtl="0" algn="l">
              <a:lnSpc>
                <a:spcPct val="150000"/>
              </a:lnSpc>
              <a:spcBef>
                <a:spcPts val="0"/>
              </a:spcBef>
              <a:spcAft>
                <a:spcPts val="0"/>
              </a:spcAft>
              <a:buClr>
                <a:srgbClr val="292929"/>
              </a:buClr>
              <a:buSzPts val="1900"/>
              <a:buChar char="➢"/>
            </a:pPr>
            <a:r>
              <a:rPr i="0" lang="en-US" sz="1900" u="none" cap="none" strike="noStrike">
                <a:solidFill>
                  <a:srgbClr val="292929"/>
                </a:solidFill>
              </a:rPr>
              <a:t>The Rabin-Karp string searching algorithm calculates a hash value for the pattern, and for each M-character subsequence of text to be compared. </a:t>
            </a:r>
            <a:endParaRPr i="0" sz="1900" u="none" cap="none" strike="noStrike">
              <a:solidFill>
                <a:srgbClr val="292929"/>
              </a:solidFill>
            </a:endParaRPr>
          </a:p>
          <a:p>
            <a:pPr indent="-349250" lvl="0" marL="457200" marR="0" rtl="0" algn="l">
              <a:lnSpc>
                <a:spcPct val="150000"/>
              </a:lnSpc>
              <a:spcBef>
                <a:spcPts val="0"/>
              </a:spcBef>
              <a:spcAft>
                <a:spcPts val="0"/>
              </a:spcAft>
              <a:buClr>
                <a:srgbClr val="292929"/>
              </a:buClr>
              <a:buSzPts val="1900"/>
              <a:buChar char="➢"/>
            </a:pPr>
            <a:r>
              <a:rPr i="0" lang="en-US" sz="1900" u="none" cap="none" strike="noStrike">
                <a:solidFill>
                  <a:srgbClr val="292929"/>
                </a:solidFill>
              </a:rPr>
              <a:t>If the hash values are unequal, the algorithm will calculate the hash value for next M-character sequence.</a:t>
            </a:r>
            <a:endParaRPr i="0" sz="1900" u="none" cap="none" strike="noStrike">
              <a:solidFill>
                <a:srgbClr val="292929"/>
              </a:solidFill>
            </a:endParaRPr>
          </a:p>
          <a:p>
            <a:pPr indent="-349250" lvl="0" marL="457200" marR="0" rtl="0" algn="l">
              <a:lnSpc>
                <a:spcPct val="150000"/>
              </a:lnSpc>
              <a:spcBef>
                <a:spcPts val="0"/>
              </a:spcBef>
              <a:spcAft>
                <a:spcPts val="0"/>
              </a:spcAft>
              <a:buClr>
                <a:srgbClr val="292929"/>
              </a:buClr>
              <a:buSzPts val="1900"/>
              <a:buChar char="➢"/>
            </a:pPr>
            <a:r>
              <a:rPr i="0" lang="en-US" sz="1900" u="none" cap="none" strike="noStrike">
                <a:solidFill>
                  <a:srgbClr val="292929"/>
                </a:solidFill>
              </a:rPr>
              <a:t>If the hash values are equal, the algorithm will compare the pattern and the M-character sequence. </a:t>
            </a:r>
            <a:endParaRPr i="0" sz="1900" u="none" cap="none" strike="noStrike">
              <a:solidFill>
                <a:srgbClr val="292929"/>
              </a:solidFill>
            </a:endParaRPr>
          </a:p>
          <a:p>
            <a:pPr indent="-349250" lvl="0" marL="457200" marR="0" rtl="0" algn="l">
              <a:lnSpc>
                <a:spcPct val="150000"/>
              </a:lnSpc>
              <a:spcBef>
                <a:spcPts val="0"/>
              </a:spcBef>
              <a:spcAft>
                <a:spcPts val="0"/>
              </a:spcAft>
              <a:buClr>
                <a:srgbClr val="292929"/>
              </a:buClr>
              <a:buSzPts val="1900"/>
              <a:buChar char="➢"/>
            </a:pPr>
            <a:r>
              <a:rPr i="0" lang="en-US" sz="1900" u="none" cap="none" strike="noStrike">
                <a:solidFill>
                  <a:srgbClr val="292929"/>
                </a:solidFill>
              </a:rPr>
              <a:t>In this way, </a:t>
            </a:r>
            <a:r>
              <a:rPr b="1" i="0" lang="en-US" sz="1900" u="none" cap="none" strike="noStrike">
                <a:solidFill>
                  <a:srgbClr val="292929"/>
                </a:solidFill>
              </a:rPr>
              <a:t>there is only one comparison per text subsequence, and character matching is only needed when hash values match.</a:t>
            </a:r>
            <a:endParaRPr b="1" i="0" sz="1900" u="none" cap="none" strike="noStrike">
              <a:solidFill>
                <a:srgbClr val="29292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22eb705b752_0_20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82" name="Google Shape;282;g22eb705b752_0_20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83" name="Google Shape;283;g22eb705b752_0_20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84" name="Google Shape;284;g22eb705b752_0_20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85" name="Google Shape;285;g22eb705b752_0_20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g22eb705b752_0_20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g22eb705b752_0_20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88" name="Google Shape;288;g22eb705b752_0_20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89" name="Google Shape;289;g22eb705b752_0_203"/>
          <p:cNvSpPr txBox="1"/>
          <p:nvPr/>
        </p:nvSpPr>
        <p:spPr>
          <a:xfrm>
            <a:off x="313425" y="1090750"/>
            <a:ext cx="8612700" cy="5941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 - </a:t>
            </a:r>
            <a:endParaRPr b="1" i="0" sz="22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sz="2200">
              <a:solidFill>
                <a:srgbClr val="980000"/>
              </a:solidFil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r>
              <a:rPr b="1" i="0" lang="en-US" sz="1800" u="none" cap="none" strike="noStrike">
                <a:solidFill>
                  <a:srgbClr val="333333"/>
                </a:solidFill>
                <a:latin typeface="Arial"/>
                <a:ea typeface="Arial"/>
                <a:cs typeface="Arial"/>
                <a:sym typeface="Arial"/>
              </a:rPr>
              <a:t>RABIN-KARP-MATCHER (T, P, d, q)</a:t>
            </a:r>
            <a:endParaRPr b="1" i="0" sz="1800" u="none" cap="none" strike="noStrike">
              <a:solidFill>
                <a:srgbClr val="333333"/>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1" sz="1800">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n ←  length [T]</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m  ← length [P]</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h  ←  d</a:t>
            </a:r>
            <a:r>
              <a:rPr baseline="30000" i="1" lang="en-US" sz="2000" u="none" cap="none" strike="noStrike">
                <a:solidFill>
                  <a:srgbClr val="333333"/>
                </a:solidFill>
              </a:rPr>
              <a:t> </a:t>
            </a:r>
            <a:r>
              <a:rPr i="1" lang="en-US" sz="2000" u="none" cap="none" strike="noStrike">
                <a:solidFill>
                  <a:srgbClr val="333333"/>
                </a:solidFill>
              </a:rPr>
              <a:t> mod q</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p ←  0</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t</a:t>
            </a:r>
            <a:r>
              <a:rPr baseline="-25000" i="1" lang="en-US" sz="2000" u="none" cap="none" strike="noStrike">
                <a:solidFill>
                  <a:srgbClr val="333333"/>
                </a:solidFill>
              </a:rPr>
              <a:t>0</a:t>
            </a:r>
            <a:r>
              <a:rPr i="1" lang="en-US" sz="2000" u="none" cap="none" strike="noStrike">
                <a:solidFill>
                  <a:srgbClr val="333333"/>
                </a:solidFill>
              </a:rPr>
              <a:t> ←  0</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for i ← 1 to m</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do p ←  (dp + P[i]) mod q</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t</a:t>
            </a:r>
            <a:r>
              <a:rPr baseline="-25000" i="1" lang="en-US" sz="2000" u="none" cap="none" strike="noStrike">
                <a:solidFill>
                  <a:srgbClr val="333333"/>
                </a:solidFill>
              </a:rPr>
              <a:t>0</a:t>
            </a:r>
            <a:r>
              <a:rPr i="1" lang="en-US" sz="2000" u="none" cap="none" strike="noStrike">
                <a:solidFill>
                  <a:srgbClr val="333333"/>
                </a:solidFill>
              </a:rPr>
              <a:t> ← (dt</a:t>
            </a:r>
            <a:r>
              <a:rPr baseline="-25000" i="1" lang="en-US" sz="2000" u="none" cap="none" strike="noStrike">
                <a:solidFill>
                  <a:srgbClr val="333333"/>
                </a:solidFill>
              </a:rPr>
              <a:t>0</a:t>
            </a:r>
            <a:r>
              <a:rPr i="1" lang="en-US" sz="2000" u="none" cap="none" strike="noStrike">
                <a:solidFill>
                  <a:srgbClr val="333333"/>
                </a:solidFill>
              </a:rPr>
              <a:t>+T [i]) mod q</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for s  ←  0 to n-m</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do if p = t</a:t>
            </a:r>
            <a:r>
              <a:rPr baseline="-25000" i="1" lang="en-US" sz="2000" u="none" cap="none" strike="noStrike">
                <a:solidFill>
                  <a:srgbClr val="333333"/>
                </a:solidFill>
              </a:rPr>
              <a:t>s</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then if P [1.....m] = T [s+1.....s + m]</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then "Pattern occurs with shift" s</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If s &lt; n-m</a:t>
            </a:r>
            <a:endParaRPr i="1" sz="2000" u="none" cap="none" strike="noStrike">
              <a:solidFill>
                <a:srgbClr val="333333"/>
              </a:solidFill>
            </a:endParaRPr>
          </a:p>
          <a:p>
            <a:pPr indent="-355600" lvl="0" marL="1371600" marR="0" rtl="0" algn="just">
              <a:lnSpc>
                <a:spcPct val="100000"/>
              </a:lnSpc>
              <a:spcBef>
                <a:spcPts val="0"/>
              </a:spcBef>
              <a:spcAft>
                <a:spcPts val="0"/>
              </a:spcAft>
              <a:buClr>
                <a:srgbClr val="333333"/>
              </a:buClr>
              <a:buSzPts val="2000"/>
              <a:buChar char="➢"/>
            </a:pPr>
            <a:r>
              <a:rPr i="1" lang="en-US" sz="2000" u="none" cap="none" strike="noStrike">
                <a:solidFill>
                  <a:srgbClr val="333333"/>
                </a:solidFill>
              </a:rPr>
              <a:t>1then t</a:t>
            </a:r>
            <a:r>
              <a:rPr baseline="-25000" i="1" lang="en-US" sz="2000" u="none" cap="none" strike="noStrike">
                <a:solidFill>
                  <a:srgbClr val="333333"/>
                </a:solidFill>
              </a:rPr>
              <a:t>s+1</a:t>
            </a:r>
            <a:r>
              <a:rPr i="1" lang="en-US" sz="2000" u="none" cap="none" strike="noStrike">
                <a:solidFill>
                  <a:srgbClr val="333333"/>
                </a:solidFill>
              </a:rPr>
              <a:t> ←  (d (t</a:t>
            </a:r>
            <a:r>
              <a:rPr baseline="-25000" i="1" lang="en-US" sz="2000" u="none" cap="none" strike="noStrike">
                <a:solidFill>
                  <a:srgbClr val="333333"/>
                </a:solidFill>
              </a:rPr>
              <a:t>s</a:t>
            </a:r>
            <a:r>
              <a:rPr i="1" lang="en-US" sz="2000" u="none" cap="none" strike="noStrike">
                <a:solidFill>
                  <a:srgbClr val="333333"/>
                </a:solidFill>
              </a:rPr>
              <a:t>-T [s+1]h)+T [s+m+1])mod q</a:t>
            </a:r>
            <a:endParaRPr i="1" sz="2000" u="none" cap="none" strike="noStrike">
              <a:solidFill>
                <a:srgbClr val="333333"/>
              </a:solidFill>
            </a:endParaRPr>
          </a:p>
          <a:p>
            <a:pPr indent="0" lvl="0" marL="0" marR="0" rtl="0" algn="l">
              <a:lnSpc>
                <a:spcPct val="150000"/>
              </a:lnSpc>
              <a:spcBef>
                <a:spcPts val="0"/>
              </a:spcBef>
              <a:spcAft>
                <a:spcPts val="0"/>
              </a:spcAft>
              <a:buClr>
                <a:schemeClr val="dk1"/>
              </a:buClr>
              <a:buSzPts val="1100"/>
              <a:buFont typeface="Arial"/>
              <a:buNone/>
            </a:pPr>
            <a:r>
              <a:t/>
            </a:r>
            <a:endParaRPr i="0" sz="1900" u="none" cap="none" strike="noStrike">
              <a:solidFill>
                <a:srgbClr val="292929"/>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2eb705b752_0_21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95" name="Google Shape;295;g22eb705b752_0_21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96" name="Google Shape;296;g22eb705b752_0_21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97" name="Google Shape;297;g22eb705b752_0_21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98" name="Google Shape;298;g22eb705b752_0_21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g22eb705b752_0_21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g22eb705b752_0_21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01" name="Google Shape;301;g22eb705b752_0_21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2" name="Google Shape;302;g22eb705b752_0_216"/>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03" name="Google Shape;303;g22eb705b752_0_216"/>
          <p:cNvPicPr preferRelativeResize="0"/>
          <p:nvPr/>
        </p:nvPicPr>
        <p:blipFill rotWithShape="1">
          <a:blip r:embed="rId5">
            <a:alphaModFix/>
          </a:blip>
          <a:srcRect b="0" l="0" r="0" t="0"/>
          <a:stretch/>
        </p:blipFill>
        <p:spPr>
          <a:xfrm>
            <a:off x="197800" y="1501250"/>
            <a:ext cx="8946200" cy="52201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2eb705b752_0_22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09" name="Google Shape;309;g22eb705b752_0_22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10" name="Google Shape;310;g22eb705b752_0_22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11" name="Google Shape;311;g22eb705b752_0_22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12" name="Google Shape;312;g22eb705b752_0_22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g22eb705b752_0_22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g22eb705b752_0_22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15" name="Google Shape;315;g22eb705b752_0_22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16" name="Google Shape;316;g22eb705b752_0_229"/>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17" name="Google Shape;317;g22eb705b752_0_229"/>
          <p:cNvPicPr preferRelativeResize="0"/>
          <p:nvPr/>
        </p:nvPicPr>
        <p:blipFill rotWithShape="1">
          <a:blip r:embed="rId5">
            <a:alphaModFix/>
          </a:blip>
          <a:srcRect b="0" l="0" r="0" t="0"/>
          <a:stretch/>
        </p:blipFill>
        <p:spPr>
          <a:xfrm>
            <a:off x="197800" y="1501250"/>
            <a:ext cx="8728326" cy="53567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22eb705b752_0_24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23" name="Google Shape;323;g22eb705b752_0_24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24" name="Google Shape;324;g22eb705b752_0_24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25" name="Google Shape;325;g22eb705b752_0_24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26" name="Google Shape;326;g22eb705b752_0_24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g22eb705b752_0_24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g22eb705b752_0_24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29" name="Google Shape;329;g22eb705b752_0_24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0" name="Google Shape;330;g22eb705b752_0_243"/>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31" name="Google Shape;331;g22eb705b752_0_243"/>
          <p:cNvPicPr preferRelativeResize="0"/>
          <p:nvPr/>
        </p:nvPicPr>
        <p:blipFill rotWithShape="1">
          <a:blip r:embed="rId5">
            <a:alphaModFix/>
          </a:blip>
          <a:srcRect b="0" l="0" r="0" t="0"/>
          <a:stretch/>
        </p:blipFill>
        <p:spPr>
          <a:xfrm>
            <a:off x="199475" y="1690825"/>
            <a:ext cx="8726650" cy="48772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2eb705b752_0_25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37" name="Google Shape;337;g22eb705b752_0_25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38" name="Google Shape;338;g22eb705b752_0_25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39" name="Google Shape;339;g22eb705b752_0_25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40" name="Google Shape;340;g22eb705b752_0_25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g22eb705b752_0_25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g22eb705b752_0_25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43" name="Google Shape;343;g22eb705b752_0_25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44" name="Google Shape;344;g22eb705b752_0_257"/>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45" name="Google Shape;345;g22eb705b752_0_257"/>
          <p:cNvPicPr preferRelativeResize="0"/>
          <p:nvPr/>
        </p:nvPicPr>
        <p:blipFill rotWithShape="1">
          <a:blip r:embed="rId5">
            <a:alphaModFix/>
          </a:blip>
          <a:srcRect b="0" l="0" r="0" t="0"/>
          <a:stretch/>
        </p:blipFill>
        <p:spPr>
          <a:xfrm>
            <a:off x="263128" y="1501250"/>
            <a:ext cx="8612699" cy="50505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22eb705b752_0_27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51" name="Google Shape;351;g22eb705b752_0_27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52" name="Google Shape;352;g22eb705b752_0_27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53" name="Google Shape;353;g22eb705b752_0_27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54" name="Google Shape;354;g22eb705b752_0_27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5" name="Google Shape;355;g22eb705b752_0_27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g22eb705b752_0_27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57" name="Google Shape;357;g22eb705b752_0_27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58" name="Google Shape;358;g22eb705b752_0_271"/>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59" name="Google Shape;359;g22eb705b752_0_271"/>
          <p:cNvPicPr preferRelativeResize="0"/>
          <p:nvPr/>
        </p:nvPicPr>
        <p:blipFill rotWithShape="1">
          <a:blip r:embed="rId5">
            <a:alphaModFix/>
          </a:blip>
          <a:srcRect b="0" l="0" r="0" t="0"/>
          <a:stretch/>
        </p:blipFill>
        <p:spPr>
          <a:xfrm>
            <a:off x="197800" y="1690825"/>
            <a:ext cx="8817624" cy="48551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2eb705b752_0_28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65" name="Google Shape;365;g22eb705b752_0_28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66" name="Google Shape;366;g22eb705b752_0_28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67" name="Google Shape;367;g22eb705b752_0_28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68" name="Google Shape;368;g22eb705b752_0_28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g22eb705b752_0_28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g22eb705b752_0_28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71" name="Google Shape;371;g22eb705b752_0_28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72" name="Google Shape;372;g22eb705b752_0_285"/>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73" name="Google Shape;373;g22eb705b752_0_285"/>
          <p:cNvPicPr preferRelativeResize="0"/>
          <p:nvPr/>
        </p:nvPicPr>
        <p:blipFill rotWithShape="1">
          <a:blip r:embed="rId5">
            <a:alphaModFix/>
          </a:blip>
          <a:srcRect b="0" l="0" r="0" t="0"/>
          <a:stretch/>
        </p:blipFill>
        <p:spPr>
          <a:xfrm>
            <a:off x="197800" y="1501250"/>
            <a:ext cx="8728324" cy="50291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22eb705b752_0_29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9" name="Google Shape;379;g22eb705b752_0_29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80" name="Google Shape;380;g22eb705b752_0_29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81" name="Google Shape;381;g22eb705b752_0_29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82" name="Google Shape;382;g22eb705b752_0_29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g22eb705b752_0_29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g22eb705b752_0_29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85" name="Google Shape;385;g22eb705b752_0_29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86" name="Google Shape;386;g22eb705b752_0_299"/>
          <p:cNvSpPr txBox="1"/>
          <p:nvPr/>
        </p:nvSpPr>
        <p:spPr>
          <a:xfrm>
            <a:off x="313425" y="1090750"/>
            <a:ext cx="86127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pic>
        <p:nvPicPr>
          <p:cNvPr id="387" name="Google Shape;387;g22eb705b752_0_299"/>
          <p:cNvPicPr preferRelativeResize="0"/>
          <p:nvPr/>
        </p:nvPicPr>
        <p:blipFill rotWithShape="1">
          <a:blip r:embed="rId5">
            <a:alphaModFix/>
          </a:blip>
          <a:srcRect b="0" l="0" r="0" t="0"/>
          <a:stretch/>
        </p:blipFill>
        <p:spPr>
          <a:xfrm>
            <a:off x="0" y="1626425"/>
            <a:ext cx="8926124" cy="4418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22eb705b752_0_31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3" name="Google Shape;393;g22eb705b752_0_31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94" name="Google Shape;394;g22eb705b752_0_31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95" name="Google Shape;395;g22eb705b752_0_31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96" name="Google Shape;396;g22eb705b752_0_31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g22eb705b752_0_31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g22eb705b752_0_31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99" name="Google Shape;399;g22eb705b752_0_31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00" name="Google Shape;400;g22eb705b752_0_313"/>
          <p:cNvSpPr txBox="1"/>
          <p:nvPr/>
        </p:nvSpPr>
        <p:spPr>
          <a:xfrm>
            <a:off x="313425" y="1090750"/>
            <a:ext cx="8612700" cy="3775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200" u="none" cap="none" strike="noStrike">
                <a:solidFill>
                  <a:srgbClr val="980000"/>
                </a:solidFill>
                <a:latin typeface="Arial"/>
                <a:ea typeface="Arial"/>
                <a:cs typeface="Arial"/>
                <a:sym typeface="Arial"/>
              </a:rPr>
              <a:t> Rabin Karp algorithm</a:t>
            </a:r>
            <a:endParaRPr b="1" i="0" sz="2200" u="none" cap="none" strike="noStrike">
              <a:solidFill>
                <a:srgbClr val="980000"/>
              </a:solidFill>
              <a:latin typeface="Arial"/>
              <a:ea typeface="Arial"/>
              <a:cs typeface="Arial"/>
              <a:sym typeface="Arial"/>
            </a:endParaRPr>
          </a:p>
          <a:p>
            <a:pPr indent="0" lvl="0" marL="0" marR="0" rtl="0" algn="just">
              <a:lnSpc>
                <a:spcPct val="130000"/>
              </a:lnSpc>
              <a:spcBef>
                <a:spcPts val="1800"/>
              </a:spcBef>
              <a:spcAft>
                <a:spcPts val="0"/>
              </a:spcAft>
              <a:buClr>
                <a:schemeClr val="dk1"/>
              </a:buClr>
              <a:buSzPts val="1100"/>
              <a:buFont typeface="Arial"/>
              <a:buNone/>
            </a:pPr>
            <a:r>
              <a:rPr b="1" i="0" lang="en-US" sz="2100" u="none" cap="none" strike="noStrike">
                <a:solidFill>
                  <a:srgbClr val="610B38"/>
                </a:solidFill>
                <a:latin typeface="Arial"/>
                <a:ea typeface="Arial"/>
                <a:cs typeface="Arial"/>
                <a:sym typeface="Arial"/>
              </a:rPr>
              <a:t>Complexity</a:t>
            </a:r>
            <a:r>
              <a:rPr b="1" lang="en-US" sz="2100">
                <a:solidFill>
                  <a:srgbClr val="610B38"/>
                </a:solidFill>
              </a:rPr>
              <a:t> - </a:t>
            </a:r>
            <a:endParaRPr b="1" i="0" sz="2100" u="none" cap="none" strike="noStrike">
              <a:solidFill>
                <a:srgbClr val="610B38"/>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i="0" lang="en-US" sz="2000" u="none" cap="none" strike="noStrike">
                <a:solidFill>
                  <a:srgbClr val="333333"/>
                </a:solidFill>
              </a:rPr>
              <a:t>The running time of RABIN-KARP-MATCHER in the worst case scenario </a:t>
            </a:r>
            <a:endParaRPr i="0" sz="2000" u="none" cap="none" strike="noStrike">
              <a:solidFill>
                <a:srgbClr val="333333"/>
              </a:solidFill>
            </a:endParaRPr>
          </a:p>
          <a:p>
            <a:pPr indent="0" lvl="0" marL="3200400" marR="0" rtl="0" algn="just">
              <a:lnSpc>
                <a:spcPct val="115000"/>
              </a:lnSpc>
              <a:spcBef>
                <a:spcPts val="1200"/>
              </a:spcBef>
              <a:spcAft>
                <a:spcPts val="0"/>
              </a:spcAft>
              <a:buClr>
                <a:schemeClr val="dk1"/>
              </a:buClr>
              <a:buSzPts val="1100"/>
              <a:buFont typeface="Arial"/>
              <a:buNone/>
            </a:pPr>
            <a:r>
              <a:rPr b="1" i="0" lang="en-US" sz="2000" u="none" cap="none" strike="noStrike">
                <a:solidFill>
                  <a:srgbClr val="333333"/>
                </a:solidFill>
              </a:rPr>
              <a:t>O ((n-m+1) m </a:t>
            </a:r>
            <a:endParaRPr b="1" i="0" sz="2000" u="none" cap="none" strike="noStrike">
              <a:solidFill>
                <a:srgbClr val="333333"/>
              </a:solidFill>
            </a:endParaRPr>
          </a:p>
          <a:p>
            <a:pPr indent="0" lvl="0" marL="0" marR="0" rtl="0" algn="just">
              <a:lnSpc>
                <a:spcPct val="115000"/>
              </a:lnSpc>
              <a:spcBef>
                <a:spcPts val="1200"/>
              </a:spcBef>
              <a:spcAft>
                <a:spcPts val="0"/>
              </a:spcAft>
              <a:buClr>
                <a:schemeClr val="dk1"/>
              </a:buClr>
              <a:buSzPts val="1100"/>
              <a:buFont typeface="Arial"/>
              <a:buNone/>
            </a:pPr>
            <a:r>
              <a:rPr i="0" lang="en-US" sz="2000" u="none" cap="none" strike="noStrike">
                <a:solidFill>
                  <a:srgbClr val="333333"/>
                </a:solidFill>
              </a:rPr>
              <a:t>But it has a good average case running time.</a:t>
            </a:r>
            <a:endParaRPr i="0" sz="2000" u="none" cap="none" strike="noStrike">
              <a:solidFill>
                <a:srgbClr val="333333"/>
              </a:solidFill>
            </a:endParaRPr>
          </a:p>
          <a:p>
            <a:pPr indent="0" lvl="0" marL="0" marR="0" rtl="0" algn="just">
              <a:lnSpc>
                <a:spcPct val="100000"/>
              </a:lnSpc>
              <a:spcBef>
                <a:spcPts val="1200"/>
              </a:spcBef>
              <a:spcAft>
                <a:spcPts val="0"/>
              </a:spcAft>
              <a:buClr>
                <a:schemeClr val="dk1"/>
              </a:buClr>
              <a:buSzPts val="2300"/>
              <a:buFont typeface="Arial"/>
              <a:buNone/>
            </a:pPr>
            <a:r>
              <a:t/>
            </a:r>
            <a:endParaRPr b="1" i="0" sz="22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5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900" u="none" cap="none" strike="noStrike">
                <a:solidFill>
                  <a:srgbClr val="292929"/>
                </a:solidFill>
                <a:latin typeface="Arial"/>
                <a:ea typeface="Arial"/>
                <a:cs typeface="Arial"/>
                <a:sym typeface="Arial"/>
              </a:rPr>
              <a:t> </a:t>
            </a:r>
            <a:endParaRPr b="1" i="0" sz="1900" u="none" cap="none" strike="noStrike">
              <a:solidFill>
                <a:srgbClr val="292929"/>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06" name="Google Shape;406;p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07" name="Google Shape;407;p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08" name="Google Shape;408;p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0" name="Google Shape;410;p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1" name="Google Shape;411;p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12" name="Google Shape;412;p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13" name="Google Shape;413;p4"/>
          <p:cNvSpPr txBox="1"/>
          <p:nvPr/>
        </p:nvSpPr>
        <p:spPr>
          <a:xfrm>
            <a:off x="313425" y="1090750"/>
            <a:ext cx="8612700" cy="527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1900" u="none" cap="none" strike="noStrike">
                <a:solidFill>
                  <a:schemeClr val="dk1"/>
                </a:solidFill>
                <a:latin typeface="Arial"/>
                <a:ea typeface="Arial"/>
                <a:cs typeface="Arial"/>
                <a:sym typeface="Arial"/>
              </a:rPr>
              <a:t>Binary Search Algorithm - </a:t>
            </a:r>
            <a:endParaRPr sz="1100">
              <a:solidFill>
                <a:schemeClr val="dk1"/>
              </a:solidFill>
            </a:endParaRPr>
          </a:p>
          <a:p>
            <a:pPr indent="0" lvl="0" marL="0" marR="0" rtl="0" algn="just">
              <a:lnSpc>
                <a:spcPct val="100000"/>
              </a:lnSpc>
              <a:spcBef>
                <a:spcPts val="0"/>
              </a:spcBef>
              <a:spcAft>
                <a:spcPts val="0"/>
              </a:spcAft>
              <a:buNone/>
            </a:pPr>
            <a:r>
              <a:rPr i="1" lang="en-US" sz="1750">
                <a:solidFill>
                  <a:srgbClr val="273239"/>
                </a:solidFill>
                <a:highlight>
                  <a:srgbClr val="F9F9F9"/>
                </a:highlight>
                <a:latin typeface="Nunito"/>
                <a:ea typeface="Nunito"/>
                <a:cs typeface="Nunito"/>
                <a:sym typeface="Nunito"/>
              </a:rPr>
              <a:t>Binary Search is a</a:t>
            </a:r>
            <a:r>
              <a:rPr i="1" lang="en-US" sz="1750">
                <a:solidFill>
                  <a:srgbClr val="273239"/>
                </a:solidFill>
                <a:highlight>
                  <a:srgbClr val="F9F9F9"/>
                </a:highlight>
                <a:uFill>
                  <a:noFill/>
                </a:uFill>
                <a:latin typeface="Nunito"/>
                <a:ea typeface="Nunito"/>
                <a:cs typeface="Nunito"/>
                <a:sym typeface="Nunito"/>
                <a:hlinkClick r:id="rId5">
                  <a:extLst>
                    <a:ext uri="{A12FA001-AC4F-418D-AE19-62706E023703}">
                      <ahyp:hlinkClr val="tx"/>
                    </a:ext>
                  </a:extLst>
                </a:hlinkClick>
              </a:rPr>
              <a:t> </a:t>
            </a:r>
            <a:r>
              <a:rPr b="1" i="1" lang="en-US" sz="1750" u="sng">
                <a:solidFill>
                  <a:srgbClr val="357960"/>
                </a:solidFill>
                <a:highlight>
                  <a:srgbClr val="F9F9F9"/>
                </a:highlight>
                <a:latin typeface="Nunito"/>
                <a:ea typeface="Nunito"/>
                <a:cs typeface="Nunito"/>
                <a:sym typeface="Nunito"/>
                <a:hlinkClick r:id="rId6">
                  <a:extLst>
                    <a:ext uri="{A12FA001-AC4F-418D-AE19-62706E023703}">
                      <ahyp:hlinkClr val="tx"/>
                    </a:ext>
                  </a:extLst>
                </a:hlinkClick>
              </a:rPr>
              <a:t>searching algorithm</a:t>
            </a:r>
            <a:r>
              <a:rPr i="1" lang="en-US" sz="1750">
                <a:solidFill>
                  <a:srgbClr val="273239"/>
                </a:solidFill>
                <a:highlight>
                  <a:srgbClr val="F9F9F9"/>
                </a:highlight>
                <a:latin typeface="Nunito"/>
                <a:ea typeface="Nunito"/>
                <a:cs typeface="Nunito"/>
                <a:sym typeface="Nunito"/>
              </a:rPr>
              <a:t> used in a sorted array by repeatedly dividing the search interval in half and the correct interval to find is decided based on the searched value and the mid value of the interval.</a:t>
            </a:r>
            <a:r>
              <a:rPr lang="en-US" sz="1500">
                <a:solidFill>
                  <a:schemeClr val="dk1"/>
                </a:solidFill>
              </a:rPr>
              <a:t> </a:t>
            </a:r>
            <a:endParaRPr sz="1500">
              <a:solidFill>
                <a:schemeClr val="dk1"/>
              </a:solidFill>
            </a:endParaRPr>
          </a:p>
          <a:p>
            <a:pPr indent="0" lvl="0" marL="0" rtl="0" algn="just">
              <a:lnSpc>
                <a:spcPct val="100000"/>
              </a:lnSpc>
              <a:spcBef>
                <a:spcPts val="1800"/>
              </a:spcBef>
              <a:spcAft>
                <a:spcPts val="0"/>
              </a:spcAft>
              <a:buNone/>
            </a:pPr>
            <a:r>
              <a:rPr b="1" lang="en-US" sz="1900">
                <a:solidFill>
                  <a:srgbClr val="273239"/>
                </a:solidFill>
                <a:highlight>
                  <a:srgbClr val="FFFFFF"/>
                </a:highlight>
                <a:latin typeface="Nunito"/>
                <a:ea typeface="Nunito"/>
                <a:cs typeface="Nunito"/>
                <a:sym typeface="Nunito"/>
              </a:rPr>
              <a:t>Properties of Binary Search:</a:t>
            </a:r>
            <a:endParaRPr b="1" sz="1900">
              <a:solidFill>
                <a:srgbClr val="273239"/>
              </a:solidFill>
              <a:highlight>
                <a:srgbClr val="FFFFFF"/>
              </a:highlight>
              <a:latin typeface="Nunito"/>
              <a:ea typeface="Nunito"/>
              <a:cs typeface="Nunito"/>
              <a:sym typeface="Nunito"/>
            </a:endParaRPr>
          </a:p>
          <a:p>
            <a:pPr indent="-339725" lvl="0" marL="685800" rtl="0" algn="just">
              <a:lnSpc>
                <a:spcPct val="100000"/>
              </a:lnSpc>
              <a:spcBef>
                <a:spcPts val="0"/>
              </a:spcBef>
              <a:spcAft>
                <a:spcPts val="0"/>
              </a:spcAft>
              <a:buClr>
                <a:srgbClr val="273239"/>
              </a:buClr>
              <a:buSzPts val="1750"/>
              <a:buFont typeface="Nunito"/>
              <a:buChar char="●"/>
            </a:pPr>
            <a:r>
              <a:rPr lang="en-US" sz="1750">
                <a:solidFill>
                  <a:srgbClr val="273239"/>
                </a:solidFill>
                <a:highlight>
                  <a:srgbClr val="FFFFFF"/>
                </a:highlight>
                <a:latin typeface="Nunito"/>
                <a:ea typeface="Nunito"/>
                <a:cs typeface="Nunito"/>
                <a:sym typeface="Nunito"/>
              </a:rPr>
              <a:t>Binary search is performed on the sorted data structure for example sorted array. </a:t>
            </a:r>
            <a:endParaRPr sz="1750">
              <a:solidFill>
                <a:srgbClr val="273239"/>
              </a:solidFill>
              <a:highlight>
                <a:srgbClr val="FFFFFF"/>
              </a:highlight>
              <a:latin typeface="Nunito"/>
              <a:ea typeface="Nunito"/>
              <a:cs typeface="Nunito"/>
              <a:sym typeface="Nunito"/>
            </a:endParaRPr>
          </a:p>
          <a:p>
            <a:pPr indent="-339725" lvl="0" marL="685800" rtl="0" algn="just">
              <a:lnSpc>
                <a:spcPct val="100000"/>
              </a:lnSpc>
              <a:spcBef>
                <a:spcPts val="0"/>
              </a:spcBef>
              <a:spcAft>
                <a:spcPts val="0"/>
              </a:spcAft>
              <a:buClr>
                <a:srgbClr val="273239"/>
              </a:buClr>
              <a:buSzPts val="1750"/>
              <a:buFont typeface="Nunito"/>
              <a:buChar char="●"/>
            </a:pPr>
            <a:r>
              <a:rPr lang="en-US" sz="1750">
                <a:solidFill>
                  <a:srgbClr val="273239"/>
                </a:solidFill>
                <a:highlight>
                  <a:srgbClr val="FFFFFF"/>
                </a:highlight>
                <a:latin typeface="Nunito"/>
                <a:ea typeface="Nunito"/>
                <a:cs typeface="Nunito"/>
                <a:sym typeface="Nunito"/>
              </a:rPr>
              <a:t>Searching is done by dividing the array into two halves. </a:t>
            </a:r>
            <a:endParaRPr sz="1750">
              <a:solidFill>
                <a:srgbClr val="273239"/>
              </a:solidFill>
              <a:highlight>
                <a:srgbClr val="FFFFFF"/>
              </a:highlight>
              <a:latin typeface="Nunito"/>
              <a:ea typeface="Nunito"/>
              <a:cs typeface="Nunito"/>
              <a:sym typeface="Nunito"/>
            </a:endParaRPr>
          </a:p>
          <a:p>
            <a:pPr indent="-339725" lvl="0" marL="685800" rtl="0" algn="l">
              <a:lnSpc>
                <a:spcPct val="100000"/>
              </a:lnSpc>
              <a:spcBef>
                <a:spcPts val="0"/>
              </a:spcBef>
              <a:spcAft>
                <a:spcPts val="0"/>
              </a:spcAft>
              <a:buClr>
                <a:srgbClr val="273239"/>
              </a:buClr>
              <a:buSzPts val="1750"/>
              <a:buFont typeface="Nunito"/>
              <a:buChar char="●"/>
            </a:pPr>
            <a:r>
              <a:rPr lang="en-US" sz="1750">
                <a:solidFill>
                  <a:srgbClr val="273239"/>
                </a:solidFill>
                <a:highlight>
                  <a:srgbClr val="FFFFFF"/>
                </a:highlight>
                <a:latin typeface="Nunito"/>
                <a:ea typeface="Nunito"/>
                <a:cs typeface="Nunito"/>
                <a:sym typeface="Nunito"/>
              </a:rPr>
              <a:t>It utilizes the </a:t>
            </a:r>
            <a:r>
              <a:rPr lang="en-US" sz="1750" u="sng">
                <a:solidFill>
                  <a:srgbClr val="357960"/>
                </a:solidFill>
                <a:highlight>
                  <a:srgbClr val="FFFFFF"/>
                </a:highlight>
                <a:latin typeface="Nunito"/>
                <a:ea typeface="Nunito"/>
                <a:cs typeface="Nunito"/>
                <a:sym typeface="Nunito"/>
                <a:hlinkClick r:id="rId7">
                  <a:extLst>
                    <a:ext uri="{A12FA001-AC4F-418D-AE19-62706E023703}">
                      <ahyp:hlinkClr val="tx"/>
                    </a:ext>
                  </a:extLst>
                </a:hlinkClick>
              </a:rPr>
              <a:t>divide-and-conquer</a:t>
            </a:r>
            <a:r>
              <a:rPr lang="en-US" sz="1750">
                <a:solidFill>
                  <a:srgbClr val="273239"/>
                </a:solidFill>
                <a:highlight>
                  <a:srgbClr val="FFFFFF"/>
                </a:highlight>
                <a:latin typeface="Nunito"/>
                <a:ea typeface="Nunito"/>
                <a:cs typeface="Nunito"/>
                <a:sym typeface="Nunito"/>
              </a:rPr>
              <a:t> approach to find an element.</a:t>
            </a:r>
            <a:endParaRPr sz="1750">
              <a:solidFill>
                <a:srgbClr val="273239"/>
              </a:solidFill>
              <a:highlight>
                <a:srgbClr val="FFFFFF"/>
              </a:highlight>
              <a:latin typeface="Nunito"/>
              <a:ea typeface="Nunito"/>
              <a:cs typeface="Nunito"/>
              <a:sym typeface="Nunito"/>
            </a:endParaRPr>
          </a:p>
          <a:p>
            <a:pPr indent="0" lvl="0" marL="0" rtl="0" algn="just">
              <a:lnSpc>
                <a:spcPct val="100000"/>
              </a:lnSpc>
              <a:spcBef>
                <a:spcPts val="1800"/>
              </a:spcBef>
              <a:spcAft>
                <a:spcPts val="0"/>
              </a:spcAft>
              <a:buNone/>
            </a:pPr>
            <a:r>
              <a:rPr b="1" lang="en-US" sz="1900">
                <a:solidFill>
                  <a:srgbClr val="273239"/>
                </a:solidFill>
                <a:highlight>
                  <a:srgbClr val="FFFFFF"/>
                </a:highlight>
                <a:latin typeface="Nunito"/>
                <a:ea typeface="Nunito"/>
                <a:cs typeface="Nunito"/>
                <a:sym typeface="Nunito"/>
              </a:rPr>
              <a:t>Pre-requisites to apply Binary Search Algorithm:</a:t>
            </a:r>
            <a:endParaRPr b="1" sz="1900">
              <a:solidFill>
                <a:srgbClr val="273239"/>
              </a:solidFill>
              <a:highlight>
                <a:srgbClr val="FFFFFF"/>
              </a:highlight>
              <a:latin typeface="Nunito"/>
              <a:ea typeface="Nunito"/>
              <a:cs typeface="Nunito"/>
              <a:sym typeface="Nunito"/>
            </a:endParaRPr>
          </a:p>
          <a:p>
            <a:pPr indent="0" lvl="0" marL="0" rtl="0" algn="just">
              <a:lnSpc>
                <a:spcPct val="120000"/>
              </a:lnSpc>
              <a:spcBef>
                <a:spcPts val="0"/>
              </a:spcBef>
              <a:spcAft>
                <a:spcPts val="0"/>
              </a:spcAft>
              <a:buNone/>
            </a:pPr>
            <a:r>
              <a:rPr lang="en-US" sz="1750">
                <a:solidFill>
                  <a:srgbClr val="273239"/>
                </a:solidFill>
                <a:highlight>
                  <a:srgbClr val="FFFFFF"/>
                </a:highlight>
                <a:latin typeface="Nunito"/>
                <a:ea typeface="Nunito"/>
                <a:cs typeface="Nunito"/>
                <a:sym typeface="Nunito"/>
              </a:rPr>
              <a:t>For applying binary search in any data structure, the data structure must satisfy the following two conditions:</a:t>
            </a:r>
            <a:endParaRPr sz="1750">
              <a:solidFill>
                <a:srgbClr val="273239"/>
              </a:solidFill>
              <a:highlight>
                <a:srgbClr val="FFFFFF"/>
              </a:highlight>
              <a:latin typeface="Nunito"/>
              <a:ea typeface="Nunito"/>
              <a:cs typeface="Nunito"/>
              <a:sym typeface="Nunito"/>
            </a:endParaRPr>
          </a:p>
          <a:p>
            <a:pPr indent="-339725" lvl="0" marL="685800" rtl="0" algn="just">
              <a:lnSpc>
                <a:spcPct val="100000"/>
              </a:lnSpc>
              <a:spcBef>
                <a:spcPts val="800"/>
              </a:spcBef>
              <a:spcAft>
                <a:spcPts val="0"/>
              </a:spcAft>
              <a:buClr>
                <a:srgbClr val="273239"/>
              </a:buClr>
              <a:buSzPts val="1750"/>
              <a:buFont typeface="Nunito"/>
              <a:buChar char="●"/>
            </a:pPr>
            <a:r>
              <a:rPr lang="en-US" sz="1750">
                <a:solidFill>
                  <a:srgbClr val="273239"/>
                </a:solidFill>
                <a:highlight>
                  <a:srgbClr val="FFFFFF"/>
                </a:highlight>
                <a:latin typeface="Nunito"/>
                <a:ea typeface="Nunito"/>
                <a:cs typeface="Nunito"/>
                <a:sym typeface="Nunito"/>
              </a:rPr>
              <a:t>The data structure is sorted.</a:t>
            </a:r>
            <a:endParaRPr sz="1750">
              <a:solidFill>
                <a:srgbClr val="273239"/>
              </a:solidFill>
              <a:highlight>
                <a:srgbClr val="FFFFFF"/>
              </a:highlight>
              <a:latin typeface="Nunito"/>
              <a:ea typeface="Nunito"/>
              <a:cs typeface="Nunito"/>
              <a:sym typeface="Nunito"/>
            </a:endParaRPr>
          </a:p>
          <a:p>
            <a:pPr indent="-339725" lvl="0" marL="685800" rtl="0" algn="just">
              <a:lnSpc>
                <a:spcPct val="100000"/>
              </a:lnSpc>
              <a:spcBef>
                <a:spcPts val="0"/>
              </a:spcBef>
              <a:spcAft>
                <a:spcPts val="0"/>
              </a:spcAft>
              <a:buClr>
                <a:srgbClr val="273239"/>
              </a:buClr>
              <a:buSzPts val="1750"/>
              <a:buFont typeface="Nunito"/>
              <a:buChar char="●"/>
            </a:pPr>
            <a:r>
              <a:rPr lang="en-US" sz="1750">
                <a:solidFill>
                  <a:srgbClr val="273239"/>
                </a:solidFill>
                <a:highlight>
                  <a:srgbClr val="FFFFFF"/>
                </a:highlight>
                <a:latin typeface="Nunito"/>
                <a:ea typeface="Nunito"/>
                <a:cs typeface="Nunito"/>
                <a:sym typeface="Nunito"/>
              </a:rPr>
              <a:t>Any random element of the data structure can be directly accessed i.e., can be accessed in constant time.</a:t>
            </a:r>
            <a:endParaRPr sz="1750">
              <a:solidFill>
                <a:srgbClr val="273239"/>
              </a:solidFill>
              <a:highlight>
                <a:srgbClr val="FFFFFF"/>
              </a:highlight>
              <a:latin typeface="Nunito"/>
              <a:ea typeface="Nunito"/>
              <a:cs typeface="Nunito"/>
              <a:sym typeface="Nunito"/>
            </a:endParaRPr>
          </a:p>
          <a:p>
            <a:pPr indent="0" lvl="0" marL="0" marR="0" rtl="0" algn="just">
              <a:lnSpc>
                <a:spcPct val="100000"/>
              </a:lnSpc>
              <a:spcBef>
                <a:spcPts val="1800"/>
              </a:spcBef>
              <a:spcAft>
                <a:spcPts val="0"/>
              </a:spcAft>
              <a:buNone/>
            </a:pPr>
            <a:r>
              <a:t/>
            </a:r>
            <a:endParaRPr sz="11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19" name="Google Shape;419;p5"/>
          <p:cNvPicPr preferRelativeResize="0"/>
          <p:nvPr>
            <p:ph idx="1" type="body"/>
          </p:nvPr>
        </p:nvPicPr>
        <p:blipFill rotWithShape="1">
          <a:blip r:embed="rId4">
            <a:alphaModFix/>
          </a:blip>
          <a:srcRect b="0" l="0" r="0" t="0"/>
          <a:stretch/>
        </p:blipFill>
        <p:spPr>
          <a:xfrm>
            <a:off x="0" y="0"/>
            <a:ext cx="9144000" cy="6858000"/>
          </a:xfrm>
          <a:prstGeom prst="rect">
            <a:avLst/>
          </a:prstGeom>
          <a:noFill/>
          <a:ln>
            <a:noFill/>
          </a:ln>
        </p:spPr>
      </p:pic>
      <p:pic>
        <p:nvPicPr>
          <p:cNvPr id="420" name="Google Shape;420;p5"/>
          <p:cNvPicPr preferRelativeResize="0"/>
          <p:nvPr/>
        </p:nvPicPr>
        <p:blipFill rotWithShape="1">
          <a:blip r:embed="rId5">
            <a:alphaModFix/>
          </a:blip>
          <a:srcRect b="0" l="0" r="0" t="0"/>
          <a:stretch/>
        </p:blipFill>
        <p:spPr>
          <a:xfrm>
            <a:off x="354842" y="123715"/>
            <a:ext cx="5950425" cy="831628"/>
          </a:xfrm>
          <a:prstGeom prst="rect">
            <a:avLst/>
          </a:prstGeom>
          <a:noFill/>
          <a:ln>
            <a:noFill/>
          </a:ln>
        </p:spPr>
      </p:pic>
      <p:sp>
        <p:nvSpPr>
          <p:cNvPr id="421" name="Google Shape;421;p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22" name="Google Shape;422;p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25" name="Google Shape;425;p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26" name="Google Shape;426;p5"/>
          <p:cNvSpPr txBox="1"/>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27" name="Google Shape;427;p5"/>
          <p:cNvSpPr/>
          <p:nvPr/>
        </p:nvSpPr>
        <p:spPr>
          <a:xfrm>
            <a:off x="0" y="9858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aphicFrame>
        <p:nvGraphicFramePr>
          <p:cNvPr id="428" name="Google Shape;428;p5"/>
          <p:cNvGraphicFramePr/>
          <p:nvPr/>
        </p:nvGraphicFramePr>
        <p:xfrm>
          <a:off x="502739" y="1416026"/>
          <a:ext cx="6934200" cy="1170026"/>
        </p:xfrm>
        <a:graphic>
          <a:graphicData uri="http://schemas.openxmlformats.org/presentationml/2006/ole">
            <mc:AlternateContent>
              <mc:Choice Requires="v">
                <p:oleObj r:id="rId6" imgH="1170026" imgW="6934200" progId="Visio.Drawing.5" spid="_x0000_s1">
                  <p:embed/>
                </p:oleObj>
              </mc:Choice>
              <mc:Fallback>
                <p:oleObj r:id="rId7" imgH="1170026" imgW="6934200" progId="Visio.Drawing.5">
                  <p:embed/>
                  <p:pic>
                    <p:nvPicPr>
                      <p:cNvPr id="428" name="Google Shape;428;p5"/>
                      <p:cNvPicPr preferRelativeResize="0"/>
                      <p:nvPr/>
                    </p:nvPicPr>
                    <p:blipFill rotWithShape="1">
                      <a:blip r:embed="rId8">
                        <a:alphaModFix/>
                      </a:blip>
                      <a:srcRect b="0" l="0" r="0" t="0"/>
                      <a:stretch/>
                    </p:blipFill>
                    <p:spPr>
                      <a:xfrm>
                        <a:off x="502739" y="1416026"/>
                        <a:ext cx="6934200" cy="1170026"/>
                      </a:xfrm>
                      <a:prstGeom prst="rect">
                        <a:avLst/>
                      </a:prstGeom>
                      <a:noFill/>
                      <a:ln>
                        <a:noFill/>
                      </a:ln>
                    </p:spPr>
                  </p:pic>
                </p:oleObj>
              </mc:Fallback>
            </mc:AlternateContent>
          </a:graphicData>
        </a:graphic>
      </p:graphicFrame>
      <p:sp>
        <p:nvSpPr>
          <p:cNvPr id="429" name="Google Shape;429;p5"/>
          <p:cNvSpPr/>
          <p:nvPr/>
        </p:nvSpPr>
        <p:spPr>
          <a:xfrm>
            <a:off x="0" y="9858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aphicFrame>
        <p:nvGraphicFramePr>
          <p:cNvPr id="430" name="Google Shape;430;p5"/>
          <p:cNvGraphicFramePr/>
          <p:nvPr/>
        </p:nvGraphicFramePr>
        <p:xfrm>
          <a:off x="408039" y="2634085"/>
          <a:ext cx="6858000" cy="2590800"/>
        </p:xfrm>
        <a:graphic>
          <a:graphicData uri="http://schemas.openxmlformats.org/presentationml/2006/ole">
            <mc:AlternateContent>
              <mc:Choice Requires="v">
                <p:oleObj r:id="rId9" imgH="2590800" imgW="6858000" progId="Visio.Drawing.11" spid="_x0000_s2">
                  <p:embed/>
                </p:oleObj>
              </mc:Choice>
              <mc:Fallback>
                <p:oleObj r:id="rId10" imgH="2590800" imgW="6858000" progId="Visio.Drawing.11">
                  <p:embed/>
                  <p:pic>
                    <p:nvPicPr>
                      <p:cNvPr id="430" name="Google Shape;430;p5"/>
                      <p:cNvPicPr preferRelativeResize="0"/>
                      <p:nvPr/>
                    </p:nvPicPr>
                    <p:blipFill rotWithShape="1">
                      <a:blip r:embed="rId11">
                        <a:alphaModFix/>
                      </a:blip>
                      <a:srcRect b="0" l="0" r="0" t="0"/>
                      <a:stretch/>
                    </p:blipFill>
                    <p:spPr>
                      <a:xfrm>
                        <a:off x="408039" y="2634085"/>
                        <a:ext cx="6858000" cy="2590800"/>
                      </a:xfrm>
                      <a:prstGeom prst="rect">
                        <a:avLst/>
                      </a:prstGeom>
                      <a:noFill/>
                      <a:ln>
                        <a:noFill/>
                      </a:ln>
                    </p:spPr>
                  </p:pic>
                </p:oleObj>
              </mc:Fallback>
            </mc:AlternateContent>
          </a:graphicData>
        </a:graphic>
      </p:graphicFrame>
      <p:sp>
        <p:nvSpPr>
          <p:cNvPr id="431" name="Google Shape;431;p5"/>
          <p:cNvSpPr/>
          <p:nvPr/>
        </p:nvSpPr>
        <p:spPr>
          <a:xfrm>
            <a:off x="0" y="9858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aphicFrame>
        <p:nvGraphicFramePr>
          <p:cNvPr id="432" name="Google Shape;432;p5"/>
          <p:cNvGraphicFramePr/>
          <p:nvPr/>
        </p:nvGraphicFramePr>
        <p:xfrm>
          <a:off x="331839" y="4989420"/>
          <a:ext cx="6934200" cy="1676850"/>
        </p:xfrm>
        <a:graphic>
          <a:graphicData uri="http://schemas.openxmlformats.org/presentationml/2006/ole">
            <mc:AlternateContent>
              <mc:Choice Requires="v">
                <p:oleObj r:id="rId12" imgH="1676850" imgW="6934200" progId="Visio.Drawing.5" spid="_x0000_s3">
                  <p:embed/>
                </p:oleObj>
              </mc:Choice>
              <mc:Fallback>
                <p:oleObj r:id="rId13" imgH="1676850" imgW="6934200" progId="Visio.Drawing.5">
                  <p:embed/>
                  <p:pic>
                    <p:nvPicPr>
                      <p:cNvPr id="432" name="Google Shape;432;p5"/>
                      <p:cNvPicPr preferRelativeResize="0"/>
                      <p:nvPr/>
                    </p:nvPicPr>
                    <p:blipFill rotWithShape="1">
                      <a:blip r:embed="rId14">
                        <a:alphaModFix/>
                      </a:blip>
                      <a:srcRect b="0" l="0" r="0" t="0"/>
                      <a:stretch/>
                    </p:blipFill>
                    <p:spPr>
                      <a:xfrm>
                        <a:off x="331839" y="4989420"/>
                        <a:ext cx="6934200" cy="1676850"/>
                      </a:xfrm>
                      <a:prstGeom prst="rect">
                        <a:avLst/>
                      </a:prstGeom>
                      <a:noFill/>
                      <a:ln>
                        <a:noFill/>
                      </a:ln>
                    </p:spPr>
                  </p:pic>
                </p:oleObj>
              </mc:Fallback>
            </mc:AlternateContent>
          </a:graphicData>
        </a:graphic>
      </p:graphicFrame>
      <p:sp>
        <p:nvSpPr>
          <p:cNvPr id="433" name="Google Shape;433;p5"/>
          <p:cNvSpPr txBox="1"/>
          <p:nvPr/>
        </p:nvSpPr>
        <p:spPr>
          <a:xfrm>
            <a:off x="450376" y="985838"/>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980000"/>
                </a:solidFill>
                <a:latin typeface="Arial"/>
                <a:ea typeface="Arial"/>
                <a:cs typeface="Arial"/>
                <a:sym typeface="Arial"/>
              </a:rPr>
              <a:t>Technique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39" name="Google Shape;439;p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40" name="Google Shape;440;p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41" name="Google Shape;441;p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42" name="Google Shape;442;p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p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4" name="Google Shape;444;p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45" name="Google Shape;445;p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46" name="Google Shape;446;p6"/>
          <p:cNvSpPr txBox="1"/>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447" name="Google Shape;447;p6"/>
          <p:cNvSpPr/>
          <p:nvPr/>
        </p:nvSpPr>
        <p:spPr>
          <a:xfrm>
            <a:off x="0" y="9858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48" name="Google Shape;448;p6"/>
          <p:cNvSpPr/>
          <p:nvPr/>
        </p:nvSpPr>
        <p:spPr>
          <a:xfrm>
            <a:off x="0" y="9858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49" name="Google Shape;449;p6"/>
          <p:cNvSpPr/>
          <p:nvPr/>
        </p:nvSpPr>
        <p:spPr>
          <a:xfrm>
            <a:off x="0" y="985838"/>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50" name="Google Shape;450;p6"/>
          <p:cNvSpPr txBox="1"/>
          <p:nvPr/>
        </p:nvSpPr>
        <p:spPr>
          <a:xfrm>
            <a:off x="450376" y="985838"/>
            <a:ext cx="4572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980000"/>
                </a:solidFill>
                <a:latin typeface="Arial"/>
                <a:ea typeface="Arial"/>
                <a:cs typeface="Arial"/>
                <a:sym typeface="Arial"/>
              </a:rPr>
              <a:t>Algorithm</a:t>
            </a:r>
            <a:endParaRPr b="0" i="0" sz="1400" u="none" cap="none" strike="noStrike">
              <a:solidFill>
                <a:srgbClr val="000000"/>
              </a:solidFill>
              <a:latin typeface="Arial"/>
              <a:ea typeface="Arial"/>
              <a:cs typeface="Arial"/>
              <a:sym typeface="Arial"/>
            </a:endParaRPr>
          </a:p>
        </p:txBody>
      </p:sp>
      <p:pic>
        <p:nvPicPr>
          <p:cNvPr id="451" name="Google Shape;451;p6"/>
          <p:cNvPicPr preferRelativeResize="0"/>
          <p:nvPr/>
        </p:nvPicPr>
        <p:blipFill rotWithShape="1">
          <a:blip r:embed="rId5">
            <a:alphaModFix/>
          </a:blip>
          <a:srcRect b="0" l="0" r="0" t="0"/>
          <a:stretch/>
        </p:blipFill>
        <p:spPr>
          <a:xfrm>
            <a:off x="477551" y="1453050"/>
            <a:ext cx="5980400" cy="52334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57" name="Google Shape;457;p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58" name="Google Shape;458;p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59" name="Google Shape;459;p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60" name="Google Shape;460;p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1" name="Google Shape;461;p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2" name="Google Shape;462;p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63" name="Google Shape;463;p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64" name="Google Shape;464;p7"/>
          <p:cNvPicPr preferRelativeResize="0"/>
          <p:nvPr/>
        </p:nvPicPr>
        <p:blipFill rotWithShape="1">
          <a:blip r:embed="rId5">
            <a:alphaModFix/>
          </a:blip>
          <a:srcRect b="0" l="0" r="0" t="0"/>
          <a:stretch/>
        </p:blipFill>
        <p:spPr>
          <a:xfrm>
            <a:off x="904569" y="1585035"/>
            <a:ext cx="6351638" cy="5146579"/>
          </a:xfrm>
          <a:prstGeom prst="rect">
            <a:avLst/>
          </a:prstGeom>
          <a:noFill/>
          <a:ln>
            <a:noFill/>
          </a:ln>
        </p:spPr>
      </p:pic>
      <p:sp>
        <p:nvSpPr>
          <p:cNvPr id="465" name="Google Shape;465;p7"/>
          <p:cNvSpPr txBox="1"/>
          <p:nvPr/>
        </p:nvSpPr>
        <p:spPr>
          <a:xfrm>
            <a:off x="179512" y="827739"/>
            <a:ext cx="8712968" cy="1143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538135"/>
              </a:buClr>
              <a:buSzPts val="5120"/>
              <a:buFont typeface="Georgia"/>
              <a:buNone/>
            </a:pPr>
            <a:r>
              <a:rPr b="1" i="0" lang="en-US" sz="4000" u="none" cap="none" strike="noStrike">
                <a:solidFill>
                  <a:srgbClr val="7030A0"/>
                </a:solidFill>
                <a:latin typeface="Times New Roman"/>
                <a:ea typeface="Times New Roman"/>
                <a:cs typeface="Times New Roman"/>
                <a:sym typeface="Times New Roman"/>
              </a:rPr>
              <a:t>Flowchart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71" name="Google Shape;471;p8"/>
          <p:cNvPicPr preferRelativeResize="0"/>
          <p:nvPr>
            <p:ph idx="1" type="body"/>
          </p:nvPr>
        </p:nvPicPr>
        <p:blipFill rotWithShape="1">
          <a:blip r:embed="rId4">
            <a:alphaModFix/>
          </a:blip>
          <a:srcRect b="0" l="0" r="0" t="0"/>
          <a:stretch/>
        </p:blipFill>
        <p:spPr>
          <a:xfrm>
            <a:off x="0" y="0"/>
            <a:ext cx="9144000" cy="6858000"/>
          </a:xfrm>
          <a:prstGeom prst="rect">
            <a:avLst/>
          </a:prstGeom>
          <a:noFill/>
          <a:ln>
            <a:noFill/>
          </a:ln>
        </p:spPr>
      </p:pic>
      <p:pic>
        <p:nvPicPr>
          <p:cNvPr id="472" name="Google Shape;472;p8"/>
          <p:cNvPicPr preferRelativeResize="0"/>
          <p:nvPr/>
        </p:nvPicPr>
        <p:blipFill rotWithShape="1">
          <a:blip r:embed="rId5">
            <a:alphaModFix/>
          </a:blip>
          <a:srcRect b="0" l="0" r="0" t="0"/>
          <a:stretch/>
        </p:blipFill>
        <p:spPr>
          <a:xfrm>
            <a:off x="354842" y="123715"/>
            <a:ext cx="5950425" cy="831628"/>
          </a:xfrm>
          <a:prstGeom prst="rect">
            <a:avLst/>
          </a:prstGeom>
          <a:noFill/>
          <a:ln>
            <a:noFill/>
          </a:ln>
        </p:spPr>
      </p:pic>
      <p:sp>
        <p:nvSpPr>
          <p:cNvPr id="473" name="Google Shape;473;p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74" name="Google Shape;474;p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77" name="Google Shape;477;p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478" name="Google Shape;478;p8"/>
          <p:cNvGraphicFramePr/>
          <p:nvPr/>
        </p:nvGraphicFramePr>
        <p:xfrm>
          <a:off x="1030569" y="1683875"/>
          <a:ext cx="6853799" cy="3886200"/>
        </p:xfrm>
        <a:graphic>
          <a:graphicData uri="http://schemas.openxmlformats.org/presentationml/2006/ole">
            <mc:AlternateContent>
              <mc:Choice Requires="v">
                <p:oleObj r:id="rId6" imgH="3886200" imgW="6853799" progId="Visio.Drawing.5" spid="_x0000_s1">
                  <p:embed/>
                </p:oleObj>
              </mc:Choice>
              <mc:Fallback>
                <p:oleObj r:id="rId7" imgH="3886200" imgW="6853799" progId="Visio.Drawing.5">
                  <p:embed/>
                  <p:pic>
                    <p:nvPicPr>
                      <p:cNvPr id="478" name="Google Shape;478;p8"/>
                      <p:cNvPicPr preferRelativeResize="0"/>
                      <p:nvPr/>
                    </p:nvPicPr>
                    <p:blipFill rotWithShape="1">
                      <a:blip r:embed="rId8">
                        <a:alphaModFix/>
                      </a:blip>
                      <a:srcRect b="0" l="0" r="0" t="0"/>
                      <a:stretch/>
                    </p:blipFill>
                    <p:spPr>
                      <a:xfrm>
                        <a:off x="1030569" y="1683875"/>
                        <a:ext cx="6853799" cy="3886200"/>
                      </a:xfrm>
                      <a:prstGeom prst="rect">
                        <a:avLst/>
                      </a:prstGeom>
                      <a:noFill/>
                      <a:ln>
                        <a:noFill/>
                      </a:ln>
                    </p:spPr>
                  </p:pic>
                </p:oleObj>
              </mc:Fallback>
            </mc:AlternateContent>
          </a:graphicData>
        </a:graphic>
      </p:graphicFrame>
      <p:sp>
        <p:nvSpPr>
          <p:cNvPr id="479" name="Google Shape;479;p8"/>
          <p:cNvSpPr txBox="1"/>
          <p:nvPr/>
        </p:nvSpPr>
        <p:spPr>
          <a:xfrm>
            <a:off x="179512" y="994888"/>
            <a:ext cx="8712968" cy="11430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538135"/>
              </a:buClr>
              <a:buSzPts val="5120"/>
              <a:buFont typeface="Georgia"/>
              <a:buNone/>
            </a:pPr>
            <a:r>
              <a:rPr b="1" i="0" lang="en-US" sz="3200" u="none" cap="none" strike="noStrike">
                <a:solidFill>
                  <a:srgbClr val="7030A0"/>
                </a:solidFill>
                <a:latin typeface="Times New Roman"/>
                <a:ea typeface="Times New Roman"/>
                <a:cs typeface="Times New Roman"/>
                <a:sym typeface="Times New Roman"/>
              </a:rPr>
              <a:t>Complexity Analysis</a:t>
            </a:r>
            <a:endParaRPr sz="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85" name="Google Shape;485;p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86" name="Google Shape;486;p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87" name="Google Shape;487;p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88" name="Google Shape;488;p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0" name="Google Shape;490;p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91" name="Google Shape;491;p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92" name="Google Shape;492;p9"/>
          <p:cNvSpPr txBox="1"/>
          <p:nvPr/>
        </p:nvSpPr>
        <p:spPr>
          <a:xfrm>
            <a:off x="450376" y="1191385"/>
            <a:ext cx="8243100" cy="270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2060"/>
                </a:solidFill>
                <a:latin typeface="Times New Roman"/>
                <a:ea typeface="Times New Roman"/>
                <a:cs typeface="Times New Roman"/>
                <a:sym typeface="Times New Roman"/>
              </a:rPr>
              <a:t>Let n be the total number of elements in the list under search and there exist an integer k such that:- </a:t>
            </a:r>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2060"/>
                </a:solidFill>
                <a:latin typeface="Times New Roman"/>
                <a:ea typeface="Times New Roman"/>
                <a:cs typeface="Times New Roman"/>
                <a:sym typeface="Times New Roman"/>
              </a:rPr>
              <a:t>For successful search:- </a:t>
            </a:r>
            <a:endParaRPr/>
          </a:p>
          <a:p>
            <a:pPr indent="-114300" lvl="1"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2060"/>
                </a:solidFill>
                <a:latin typeface="Times New Roman"/>
                <a:ea typeface="Times New Roman"/>
                <a:cs typeface="Times New Roman"/>
                <a:sym typeface="Times New Roman"/>
              </a:rPr>
              <a:t>If                      , then the binary search algorithm requires at least one comparison and at most k comparisons.</a:t>
            </a:r>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2060"/>
                </a:solidFill>
                <a:latin typeface="Times New Roman"/>
                <a:ea typeface="Times New Roman"/>
                <a:cs typeface="Times New Roman"/>
                <a:sym typeface="Times New Roman"/>
              </a:rPr>
              <a:t>For unsuccessful search:- </a:t>
            </a:r>
            <a:endParaRPr/>
          </a:p>
          <a:p>
            <a:pPr indent="-114300" lvl="1"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2060"/>
                </a:solidFill>
                <a:latin typeface="Times New Roman"/>
                <a:ea typeface="Times New Roman"/>
                <a:cs typeface="Times New Roman"/>
                <a:sym typeface="Times New Roman"/>
              </a:rPr>
              <a:t>If             , then the binary search algorithm requires k comparisons.</a:t>
            </a:r>
            <a:endParaRPr/>
          </a:p>
          <a:p>
            <a:pPr indent="-114300" lvl="1"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2060"/>
                </a:solidFill>
                <a:latin typeface="Times New Roman"/>
                <a:ea typeface="Times New Roman"/>
                <a:cs typeface="Times New Roman"/>
                <a:sym typeface="Times New Roman"/>
              </a:rPr>
              <a:t>If                               , then the binary search algorithm requires either k-1 or k number of comparisons</a:t>
            </a:r>
            <a:endParaRPr b="0" i="0" sz="1800" u="none" cap="none" strike="noStrike">
              <a:solidFill>
                <a:srgbClr val="000000"/>
              </a:solidFill>
              <a:latin typeface="Arial"/>
              <a:ea typeface="Arial"/>
              <a:cs typeface="Arial"/>
              <a:sym typeface="Arial"/>
            </a:endParaRPr>
          </a:p>
        </p:txBody>
      </p:sp>
      <p:pic>
        <p:nvPicPr>
          <p:cNvPr id="493" name="Google Shape;493;p9"/>
          <p:cNvPicPr preferRelativeResize="0"/>
          <p:nvPr/>
        </p:nvPicPr>
        <p:blipFill rotWithShape="1">
          <a:blip r:embed="rId5">
            <a:alphaModFix/>
          </a:blip>
          <a:srcRect b="0" l="0" r="0" t="0"/>
          <a:stretch/>
        </p:blipFill>
        <p:spPr>
          <a:xfrm>
            <a:off x="923394" y="2166074"/>
            <a:ext cx="990599" cy="250825"/>
          </a:xfrm>
          <a:prstGeom prst="rect">
            <a:avLst/>
          </a:prstGeom>
          <a:noFill/>
          <a:ln>
            <a:noFill/>
          </a:ln>
        </p:spPr>
      </p:pic>
      <p:pic>
        <p:nvPicPr>
          <p:cNvPr id="494" name="Google Shape;494;p9"/>
          <p:cNvPicPr preferRelativeResize="0"/>
          <p:nvPr/>
        </p:nvPicPr>
        <p:blipFill rotWithShape="1">
          <a:blip r:embed="rId6">
            <a:alphaModFix/>
          </a:blip>
          <a:srcRect b="0" l="0" r="0" t="0"/>
          <a:stretch/>
        </p:blipFill>
        <p:spPr>
          <a:xfrm>
            <a:off x="831900" y="3300396"/>
            <a:ext cx="1295400" cy="257175"/>
          </a:xfrm>
          <a:prstGeom prst="rect">
            <a:avLst/>
          </a:prstGeom>
          <a:noFill/>
          <a:ln>
            <a:noFill/>
          </a:ln>
        </p:spPr>
      </p:pic>
      <p:pic>
        <p:nvPicPr>
          <p:cNvPr id="495" name="Google Shape;495;p9"/>
          <p:cNvPicPr preferRelativeResize="0"/>
          <p:nvPr/>
        </p:nvPicPr>
        <p:blipFill rotWithShape="1">
          <a:blip r:embed="rId7">
            <a:alphaModFix/>
          </a:blip>
          <a:srcRect b="0" l="0" r="0" t="0"/>
          <a:stretch/>
        </p:blipFill>
        <p:spPr>
          <a:xfrm>
            <a:off x="982462" y="3050095"/>
            <a:ext cx="609600" cy="2492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1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01" name="Google Shape;501;p1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02" name="Google Shape;502;p1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03" name="Google Shape;503;p1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04" name="Google Shape;504;p1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5" name="Google Shape;505;p1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p1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07" name="Google Shape;507;p1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08" name="Google Shape;508;p10"/>
          <p:cNvSpPr txBox="1"/>
          <p:nvPr/>
        </p:nvSpPr>
        <p:spPr>
          <a:xfrm>
            <a:off x="313425" y="1090750"/>
            <a:ext cx="8612700" cy="4894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300"/>
              <a:buFont typeface="Arial"/>
              <a:buNone/>
            </a:pPr>
            <a:r>
              <a:rPr b="1" i="0" lang="en-US" sz="2800" u="none" cap="none" strike="noStrike">
                <a:solidFill>
                  <a:srgbClr val="980000"/>
                </a:solidFill>
                <a:latin typeface="Arial"/>
                <a:ea typeface="Arial"/>
                <a:cs typeface="Arial"/>
                <a:sym typeface="Arial"/>
              </a:rPr>
              <a:t>DIVIDE AND CONQUER</a:t>
            </a:r>
            <a:endParaRPr b="1" i="0" sz="20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000" u="none" cap="none" strike="noStrike">
              <a:solidFill>
                <a:srgbClr val="98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300"/>
              <a:buFont typeface="Arial"/>
              <a:buChar char="❏"/>
            </a:pPr>
            <a:r>
              <a:rPr b="1" i="0" lang="en-US" sz="2400" u="none" cap="none" strike="noStrike">
                <a:solidFill>
                  <a:srgbClr val="273239"/>
                </a:solidFill>
                <a:highlight>
                  <a:srgbClr val="F9F9F9"/>
                </a:highlight>
                <a:latin typeface="Times New Roman"/>
                <a:ea typeface="Times New Roman"/>
                <a:cs typeface="Times New Roman"/>
                <a:sym typeface="Times New Roman"/>
              </a:rPr>
              <a:t>Divide and Conquer Algorithm</a:t>
            </a:r>
            <a:r>
              <a:rPr i="0" lang="en-US" sz="2400" u="none" cap="none" strike="noStrike">
                <a:solidFill>
                  <a:srgbClr val="273239"/>
                </a:solidFill>
                <a:highlight>
                  <a:srgbClr val="F9F9F9"/>
                </a:highlight>
                <a:latin typeface="Times New Roman"/>
                <a:ea typeface="Times New Roman"/>
                <a:cs typeface="Times New Roman"/>
                <a:sym typeface="Times New Roman"/>
              </a:rPr>
              <a:t> involves breaking a larger problem into smaller subproblems, solving them independently, and then combining their solutions to solve the original problem.</a:t>
            </a:r>
            <a:endParaRPr>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i="0" sz="2400" u="none" cap="none" strike="noStrike">
              <a:solidFill>
                <a:srgbClr val="273239"/>
              </a:solidFill>
              <a:highlight>
                <a:srgbClr val="F9F9F9"/>
              </a:highlight>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2300"/>
              <a:buFont typeface="Arial"/>
              <a:buChar char="❏"/>
            </a:pPr>
            <a:r>
              <a:rPr i="0" lang="en-US" sz="2400" u="none" cap="none" strike="noStrike">
                <a:solidFill>
                  <a:srgbClr val="273239"/>
                </a:solidFill>
                <a:highlight>
                  <a:srgbClr val="F9F9F9"/>
                </a:highlight>
                <a:latin typeface="Times New Roman"/>
                <a:ea typeface="Times New Roman"/>
                <a:cs typeface="Times New Roman"/>
                <a:sym typeface="Times New Roman"/>
              </a:rPr>
              <a:t>The basic idea is to recursively divide the problem into smaller subproblems until they become simple enough to be solved directly. Once the solutions to the subproblems are obtained, they are then combined to produce the overall solution</a:t>
            </a:r>
            <a:r>
              <a:rPr b="0" i="0" lang="en-US" sz="2400" u="none" cap="none" strike="noStrike">
                <a:solidFill>
                  <a:srgbClr val="273239"/>
                </a:solidFill>
                <a:highlight>
                  <a:srgbClr val="F9F9F9"/>
                </a:highlight>
                <a:latin typeface="Arial"/>
                <a:ea typeface="Arial"/>
                <a:cs typeface="Arial"/>
                <a:sym typeface="Arial"/>
              </a:rPr>
              <a:t>.</a:t>
            </a:r>
            <a:endParaRPr b="1" i="0" sz="1800" u="none" cap="none" strike="noStrike">
              <a:solidFill>
                <a:srgbClr val="333333"/>
              </a:solidFill>
              <a:latin typeface="Arial"/>
              <a:ea typeface="Arial"/>
              <a:cs typeface="Arial"/>
              <a:sym typeface="Arial"/>
            </a:endParaRPr>
          </a:p>
          <a:p>
            <a:pPr indent="0" lvl="0" marL="0" marR="0" rtl="0" algn="just">
              <a:lnSpc>
                <a:spcPct val="100000"/>
              </a:lnSpc>
              <a:spcBef>
                <a:spcPts val="1200"/>
              </a:spcBef>
              <a:spcAft>
                <a:spcPts val="0"/>
              </a:spcAft>
              <a:buClr>
                <a:schemeClr val="dk1"/>
              </a:buClr>
              <a:buSzPts val="2300"/>
              <a:buFont typeface="Arial"/>
              <a:buNone/>
            </a:pPr>
            <a:r>
              <a:t/>
            </a:r>
            <a:endParaRPr b="1" i="0" sz="20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300"/>
              <a:buFont typeface="Arial"/>
              <a:buNone/>
            </a:pPr>
            <a:r>
              <a:t/>
            </a:r>
            <a:endParaRPr b="1" i="0" sz="2400" u="none" cap="none" strike="noStrike">
              <a:solidFill>
                <a:srgbClr val="98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800" u="none" cap="none" strike="noStrike">
                <a:solidFill>
                  <a:srgbClr val="292929"/>
                </a:solidFill>
                <a:latin typeface="Arial"/>
                <a:ea typeface="Arial"/>
                <a:cs typeface="Arial"/>
                <a:sym typeface="Arial"/>
              </a:rPr>
              <a:t> </a:t>
            </a:r>
            <a:endParaRPr b="1" i="0" sz="1800" u="none" cap="none" strike="noStrike">
              <a:solidFill>
                <a:srgbClr val="292929"/>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1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14" name="Google Shape;514;p1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15" name="Google Shape;515;p1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16" name="Google Shape;516;p1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17" name="Google Shape;517;p1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p1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p1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20" name="Google Shape;520;p1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21" name="Google Shape;521;p11"/>
          <p:cNvPicPr preferRelativeResize="0"/>
          <p:nvPr/>
        </p:nvPicPr>
        <p:blipFill rotWithShape="1">
          <a:blip r:embed="rId5">
            <a:alphaModFix/>
          </a:blip>
          <a:srcRect b="0" l="0" r="0" t="0"/>
          <a:stretch/>
        </p:blipFill>
        <p:spPr>
          <a:xfrm>
            <a:off x="95550" y="1098825"/>
            <a:ext cx="8530074" cy="4959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27" name="Google Shape;527;p1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28" name="Google Shape;528;p1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29" name="Google Shape;529;p1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30" name="Google Shape;530;p1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1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1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33" name="Google Shape;533;p1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34" name="Google Shape;534;p12"/>
          <p:cNvPicPr preferRelativeResize="0"/>
          <p:nvPr/>
        </p:nvPicPr>
        <p:blipFill rotWithShape="1">
          <a:blip r:embed="rId5">
            <a:alphaModFix/>
          </a:blip>
          <a:srcRect b="0" l="0" r="0" t="0"/>
          <a:stretch/>
        </p:blipFill>
        <p:spPr>
          <a:xfrm>
            <a:off x="345000" y="1221125"/>
            <a:ext cx="8338801" cy="48708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40" name="Google Shape;540;p1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41" name="Google Shape;541;p1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42" name="Google Shape;542;p1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43" name="Google Shape;543;p1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1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1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46" name="Google Shape;546;p1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47" name="Google Shape;547;p13"/>
          <p:cNvSpPr txBox="1"/>
          <p:nvPr/>
        </p:nvSpPr>
        <p:spPr>
          <a:xfrm>
            <a:off x="0" y="955344"/>
            <a:ext cx="9144000" cy="5766108"/>
          </a:xfrm>
          <a:prstGeom prst="rect">
            <a:avLst/>
          </a:prstGeom>
          <a:noFill/>
          <a:ln>
            <a:noFill/>
          </a:ln>
        </p:spPr>
        <p:txBody>
          <a:bodyPr anchorCtr="0" anchor="t" bIns="45700" lIns="91425" spcFirstLastPara="1" rIns="91425" wrap="square" tIns="45700">
            <a:normAutofit/>
          </a:bodyPr>
          <a:lstStyle/>
          <a:p>
            <a:pPr indent="-342900" lvl="0" marL="457200" marR="0" rtl="0" algn="l">
              <a:lnSpc>
                <a:spcPct val="90000"/>
              </a:lnSpc>
              <a:spcBef>
                <a:spcPts val="1000"/>
              </a:spcBef>
              <a:spcAft>
                <a:spcPts val="0"/>
              </a:spcAft>
              <a:buClr>
                <a:schemeClr val="dk1"/>
              </a:buClr>
              <a:buSzPts val="1800"/>
              <a:buFont typeface="Times New Roman"/>
              <a:buChar char="➔"/>
            </a:pPr>
            <a:r>
              <a:rPr b="1" i="0" lang="en-US" sz="2400" u="none" cap="none" strike="noStrike">
                <a:solidFill>
                  <a:schemeClr val="dk1"/>
                </a:solidFill>
                <a:latin typeface="Times New Roman"/>
                <a:ea typeface="Times New Roman"/>
                <a:cs typeface="Times New Roman"/>
                <a:sym typeface="Times New Roman"/>
              </a:rPr>
              <a:t>Merge Sort Algorithm:</a:t>
            </a:r>
            <a:endParaRPr b="1">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Arial"/>
              <a:buChar char="◆"/>
            </a:pPr>
            <a:r>
              <a:rPr b="1" i="0" lang="en-US" sz="2000" u="none" cap="none" strike="noStrike">
                <a:solidFill>
                  <a:srgbClr val="C52D4E"/>
                </a:solidFill>
                <a:latin typeface="Times New Roman"/>
                <a:ea typeface="Times New Roman"/>
                <a:cs typeface="Times New Roman"/>
                <a:sym typeface="Times New Roman"/>
              </a:rPr>
              <a:t>Divide</a:t>
            </a:r>
            <a:r>
              <a:rPr i="0" lang="en-US" sz="2000" u="none" cap="none" strike="noStrike">
                <a:solidFill>
                  <a:schemeClr val="dk1"/>
                </a:solidFill>
                <a:latin typeface="Times New Roman"/>
                <a:ea typeface="Times New Roman"/>
                <a:cs typeface="Times New Roman"/>
                <a:sym typeface="Times New Roman"/>
              </a:rPr>
              <a:t>: If S has at </a:t>
            </a:r>
            <a:r>
              <a:rPr lang="en-US" sz="2000">
                <a:solidFill>
                  <a:schemeClr val="dk1"/>
                </a:solidFill>
                <a:latin typeface="Times New Roman"/>
                <a:ea typeface="Times New Roman"/>
                <a:cs typeface="Times New Roman"/>
                <a:sym typeface="Times New Roman"/>
              </a:rPr>
              <a:t>least</a:t>
            </a:r>
            <a:r>
              <a:rPr i="0" lang="en-US" sz="2000" u="none" cap="none" strike="noStrike">
                <a:solidFill>
                  <a:schemeClr val="dk1"/>
                </a:solidFill>
                <a:latin typeface="Times New Roman"/>
                <a:ea typeface="Times New Roman"/>
                <a:cs typeface="Times New Roman"/>
                <a:sym typeface="Times New Roman"/>
              </a:rPr>
              <a:t> two elements (nothing needs to be done if S has zero or one elements), remove all the elements from S and put them into two sequences, S</a:t>
            </a:r>
            <a:r>
              <a:rPr baseline="-25000" i="0" lang="en-US" sz="2000" u="none" cap="none" strike="noStrike">
                <a:solidFill>
                  <a:schemeClr val="dk1"/>
                </a:solidFill>
                <a:latin typeface="Times New Roman"/>
                <a:ea typeface="Times New Roman"/>
                <a:cs typeface="Times New Roman"/>
                <a:sym typeface="Times New Roman"/>
              </a:rPr>
              <a:t>1</a:t>
            </a:r>
            <a:r>
              <a:rPr i="0" lang="en-US" sz="2000" u="none" cap="none" strike="noStrike">
                <a:solidFill>
                  <a:schemeClr val="dk1"/>
                </a:solidFill>
                <a:latin typeface="Times New Roman"/>
                <a:ea typeface="Times New Roman"/>
                <a:cs typeface="Times New Roman"/>
                <a:sym typeface="Times New Roman"/>
              </a:rPr>
              <a:t> and S</a:t>
            </a:r>
            <a:r>
              <a:rPr baseline="-25000" i="0" lang="en-US" sz="2000" u="none" cap="none" strike="noStrike">
                <a:solidFill>
                  <a:schemeClr val="dk1"/>
                </a:solidFill>
                <a:latin typeface="Times New Roman"/>
                <a:ea typeface="Times New Roman"/>
                <a:cs typeface="Times New Roman"/>
                <a:sym typeface="Times New Roman"/>
              </a:rPr>
              <a:t>2</a:t>
            </a:r>
            <a:r>
              <a:rPr i="0" lang="en-US" sz="2000" u="none" cap="none" strike="noStrike">
                <a:solidFill>
                  <a:schemeClr val="dk1"/>
                </a:solidFill>
                <a:latin typeface="Times New Roman"/>
                <a:ea typeface="Times New Roman"/>
                <a:cs typeface="Times New Roman"/>
                <a:sym typeface="Times New Roman"/>
              </a:rPr>
              <a:t>, each containing about half of the elements of S. (i.e. S</a:t>
            </a:r>
            <a:r>
              <a:rPr baseline="-25000" i="0" lang="en-US" sz="2000" u="none" cap="none" strike="noStrike">
                <a:solidFill>
                  <a:schemeClr val="dk1"/>
                </a:solidFill>
                <a:latin typeface="Times New Roman"/>
                <a:ea typeface="Times New Roman"/>
                <a:cs typeface="Times New Roman"/>
                <a:sym typeface="Times New Roman"/>
              </a:rPr>
              <a:t>1</a:t>
            </a:r>
            <a:r>
              <a:rPr i="0" lang="en-US" sz="2000" u="none" cap="none" strike="noStrike">
                <a:solidFill>
                  <a:schemeClr val="dk1"/>
                </a:solidFill>
                <a:latin typeface="Times New Roman"/>
                <a:ea typeface="Times New Roman"/>
                <a:cs typeface="Times New Roman"/>
                <a:sym typeface="Times New Roman"/>
              </a:rPr>
              <a:t> contains the first ⎡n/2⎤ elements and S</a:t>
            </a:r>
            <a:r>
              <a:rPr baseline="-25000" i="0" lang="en-US" sz="2000" u="none" cap="none" strike="noStrike">
                <a:solidFill>
                  <a:schemeClr val="dk1"/>
                </a:solidFill>
                <a:latin typeface="Times New Roman"/>
                <a:ea typeface="Times New Roman"/>
                <a:cs typeface="Times New Roman"/>
                <a:sym typeface="Times New Roman"/>
              </a:rPr>
              <a:t>2</a:t>
            </a:r>
            <a:r>
              <a:rPr i="0" lang="en-US" sz="2000" u="none" cap="none" strike="noStrike">
                <a:solidFill>
                  <a:schemeClr val="dk1"/>
                </a:solidFill>
                <a:latin typeface="Times New Roman"/>
                <a:ea typeface="Times New Roman"/>
                <a:cs typeface="Times New Roman"/>
                <a:sym typeface="Times New Roman"/>
              </a:rPr>
              <a:t> contains the remaining ⎣n/2⎦ elements.</a:t>
            </a:r>
            <a:endParaRPr>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Arial"/>
              <a:buChar char="◆"/>
            </a:pPr>
            <a:r>
              <a:rPr b="1" i="0" lang="en-US" sz="2000" u="none" cap="none" strike="noStrike">
                <a:solidFill>
                  <a:srgbClr val="C52D4E"/>
                </a:solidFill>
                <a:latin typeface="Times New Roman"/>
                <a:ea typeface="Times New Roman"/>
                <a:cs typeface="Times New Roman"/>
                <a:sym typeface="Times New Roman"/>
              </a:rPr>
              <a:t>Recur</a:t>
            </a:r>
            <a:r>
              <a:rPr i="0" lang="en-US" sz="2000" u="none" cap="none" strike="noStrike">
                <a:solidFill>
                  <a:schemeClr val="dk1"/>
                </a:solidFill>
                <a:latin typeface="Times New Roman"/>
                <a:ea typeface="Times New Roman"/>
                <a:cs typeface="Times New Roman"/>
                <a:sym typeface="Times New Roman"/>
              </a:rPr>
              <a:t>: Recursive sort sequences S</a:t>
            </a:r>
            <a:r>
              <a:rPr baseline="-25000" i="0" lang="en-US" sz="2000" u="none" cap="none" strike="noStrike">
                <a:solidFill>
                  <a:schemeClr val="dk1"/>
                </a:solidFill>
                <a:latin typeface="Times New Roman"/>
                <a:ea typeface="Times New Roman"/>
                <a:cs typeface="Times New Roman"/>
                <a:sym typeface="Times New Roman"/>
              </a:rPr>
              <a:t>1</a:t>
            </a:r>
            <a:r>
              <a:rPr i="0" lang="en-US" sz="2000" u="none" cap="none" strike="noStrike">
                <a:solidFill>
                  <a:schemeClr val="dk1"/>
                </a:solidFill>
                <a:latin typeface="Times New Roman"/>
                <a:ea typeface="Times New Roman"/>
                <a:cs typeface="Times New Roman"/>
                <a:sym typeface="Times New Roman"/>
              </a:rPr>
              <a:t> and S</a:t>
            </a:r>
            <a:r>
              <a:rPr baseline="-25000" i="0" lang="en-US" sz="2000" u="none" cap="none" strike="noStrike">
                <a:solidFill>
                  <a:schemeClr val="dk1"/>
                </a:solidFill>
                <a:latin typeface="Times New Roman"/>
                <a:ea typeface="Times New Roman"/>
                <a:cs typeface="Times New Roman"/>
                <a:sym typeface="Times New Roman"/>
              </a:rPr>
              <a:t>2</a:t>
            </a:r>
            <a:r>
              <a:rPr i="0" lang="en-US" sz="2000" u="none" cap="none" strike="noStrike">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Arial"/>
              <a:buChar char="◆"/>
            </a:pPr>
            <a:r>
              <a:rPr b="1" i="0" lang="en-US" sz="2000" u="none" cap="none" strike="noStrike">
                <a:solidFill>
                  <a:srgbClr val="C52D4E"/>
                </a:solidFill>
                <a:latin typeface="Times New Roman"/>
                <a:ea typeface="Times New Roman"/>
                <a:cs typeface="Times New Roman"/>
                <a:sym typeface="Times New Roman"/>
              </a:rPr>
              <a:t>Conquer</a:t>
            </a:r>
            <a:r>
              <a:rPr i="0" lang="en-US" sz="2000" u="none" cap="none" strike="noStrike">
                <a:solidFill>
                  <a:schemeClr val="dk1"/>
                </a:solidFill>
                <a:latin typeface="Times New Roman"/>
                <a:ea typeface="Times New Roman"/>
                <a:cs typeface="Times New Roman"/>
                <a:sym typeface="Times New Roman"/>
              </a:rPr>
              <a:t>: Put back the elements into S by merging the sorted sequences S</a:t>
            </a:r>
            <a:r>
              <a:rPr baseline="-25000" i="0" lang="en-US" sz="2000" u="none" cap="none" strike="noStrike">
                <a:solidFill>
                  <a:schemeClr val="dk1"/>
                </a:solidFill>
                <a:latin typeface="Times New Roman"/>
                <a:ea typeface="Times New Roman"/>
                <a:cs typeface="Times New Roman"/>
                <a:sym typeface="Times New Roman"/>
              </a:rPr>
              <a:t>1</a:t>
            </a:r>
            <a:r>
              <a:rPr i="0" lang="en-US" sz="2000" u="none" cap="none" strike="noStrike">
                <a:solidFill>
                  <a:schemeClr val="dk1"/>
                </a:solidFill>
                <a:latin typeface="Times New Roman"/>
                <a:ea typeface="Times New Roman"/>
                <a:cs typeface="Times New Roman"/>
                <a:sym typeface="Times New Roman"/>
              </a:rPr>
              <a:t> and S</a:t>
            </a:r>
            <a:r>
              <a:rPr baseline="-25000" i="0" lang="en-US" sz="2000" u="none" cap="none" strike="noStrike">
                <a:solidFill>
                  <a:schemeClr val="dk1"/>
                </a:solidFill>
                <a:latin typeface="Times New Roman"/>
                <a:ea typeface="Times New Roman"/>
                <a:cs typeface="Times New Roman"/>
                <a:sym typeface="Times New Roman"/>
              </a:rPr>
              <a:t>2</a:t>
            </a:r>
            <a:r>
              <a:rPr i="0" lang="en-US" sz="2000" u="none" cap="none" strike="noStrike">
                <a:solidFill>
                  <a:schemeClr val="dk1"/>
                </a:solidFill>
                <a:latin typeface="Times New Roman"/>
                <a:ea typeface="Times New Roman"/>
                <a:cs typeface="Times New Roman"/>
                <a:sym typeface="Times New Roman"/>
              </a:rPr>
              <a:t> into a unique sorted sequence.</a:t>
            </a:r>
            <a:endParaRPr i="0" sz="2000" u="none" cap="none" strike="noStrike">
              <a:solidFill>
                <a:schemeClr val="dk1"/>
              </a:solidFill>
              <a:latin typeface="Times New Roman"/>
              <a:ea typeface="Times New Roman"/>
              <a:cs typeface="Times New Roman"/>
              <a:sym typeface="Times New Roman"/>
            </a:endParaRPr>
          </a:p>
          <a:p>
            <a:pPr indent="0" lvl="0" marL="914400" marR="0" rtl="0" algn="l">
              <a:lnSpc>
                <a:spcPct val="90000"/>
              </a:lnSpc>
              <a:spcBef>
                <a:spcPts val="500"/>
              </a:spcBef>
              <a:spcAft>
                <a:spcPts val="0"/>
              </a:spcAft>
              <a:buNone/>
            </a:pPr>
            <a:r>
              <a:t/>
            </a:r>
            <a:endParaRPr sz="2000">
              <a:solidFill>
                <a:schemeClr val="dk1"/>
              </a:solidFill>
              <a:latin typeface="Times New Roman"/>
              <a:ea typeface="Times New Roman"/>
              <a:cs typeface="Times New Roman"/>
              <a:sym typeface="Times New Roman"/>
            </a:endParaRPr>
          </a:p>
          <a:p>
            <a:pPr indent="-342900" lvl="0" marL="457200" marR="0" rtl="0" algn="l">
              <a:lnSpc>
                <a:spcPct val="90000"/>
              </a:lnSpc>
              <a:spcBef>
                <a:spcPts val="1000"/>
              </a:spcBef>
              <a:spcAft>
                <a:spcPts val="0"/>
              </a:spcAft>
              <a:buClr>
                <a:schemeClr val="dk1"/>
              </a:buClr>
              <a:buSzPts val="1800"/>
              <a:buFont typeface="Times New Roman"/>
              <a:buChar char="➔"/>
            </a:pPr>
            <a:r>
              <a:rPr b="1" i="0" lang="en-US" sz="2400" u="none" cap="none" strike="noStrike">
                <a:solidFill>
                  <a:schemeClr val="dk1"/>
                </a:solidFill>
                <a:latin typeface="Times New Roman"/>
                <a:ea typeface="Times New Roman"/>
                <a:cs typeface="Times New Roman"/>
                <a:sym typeface="Times New Roman"/>
              </a:rPr>
              <a:t>Merge Sort Tree:</a:t>
            </a:r>
            <a:endParaRPr b="1">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Times New Roman"/>
              <a:buChar char="◆"/>
            </a:pPr>
            <a:r>
              <a:rPr i="0" lang="en-US" sz="2000" u="none" cap="none" strike="noStrike">
                <a:solidFill>
                  <a:schemeClr val="dk1"/>
                </a:solidFill>
                <a:latin typeface="Times New Roman"/>
                <a:ea typeface="Times New Roman"/>
                <a:cs typeface="Times New Roman"/>
                <a:sym typeface="Times New Roman"/>
              </a:rPr>
              <a:t>Take a binary tree T</a:t>
            </a:r>
            <a:endParaRPr>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Times New Roman"/>
              <a:buChar char="◆"/>
            </a:pPr>
            <a:r>
              <a:rPr i="0" lang="en-US" sz="2000" u="none" cap="none" strike="noStrike">
                <a:solidFill>
                  <a:schemeClr val="dk1"/>
                </a:solidFill>
                <a:latin typeface="Times New Roman"/>
                <a:ea typeface="Times New Roman"/>
                <a:cs typeface="Times New Roman"/>
                <a:sym typeface="Times New Roman"/>
              </a:rPr>
              <a:t>Each node of T represents a recursive call of the merge sort algorithm.</a:t>
            </a:r>
            <a:endParaRPr>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Times New Roman"/>
              <a:buChar char="◆"/>
            </a:pPr>
            <a:r>
              <a:rPr i="0" lang="en-US" sz="2000" u="none" cap="none" strike="noStrike">
                <a:solidFill>
                  <a:schemeClr val="dk1"/>
                </a:solidFill>
                <a:latin typeface="Times New Roman"/>
                <a:ea typeface="Times New Roman"/>
                <a:cs typeface="Times New Roman"/>
                <a:sym typeface="Times New Roman"/>
              </a:rPr>
              <a:t>We associate with each node v of T a the set of input passed to the invocation v represents.</a:t>
            </a:r>
            <a:endParaRPr>
              <a:latin typeface="Times New Roman"/>
              <a:ea typeface="Times New Roman"/>
              <a:cs typeface="Times New Roman"/>
              <a:sym typeface="Times New Roman"/>
            </a:endParaRPr>
          </a:p>
          <a:p>
            <a:pPr indent="-342900" lvl="1" marL="914400" marR="0" rtl="0" algn="l">
              <a:lnSpc>
                <a:spcPct val="90000"/>
              </a:lnSpc>
              <a:spcBef>
                <a:spcPts val="500"/>
              </a:spcBef>
              <a:spcAft>
                <a:spcPts val="0"/>
              </a:spcAft>
              <a:buClr>
                <a:schemeClr val="dk1"/>
              </a:buClr>
              <a:buSzPts val="1800"/>
              <a:buFont typeface="Times New Roman"/>
              <a:buChar char="◆"/>
            </a:pPr>
            <a:r>
              <a:rPr i="0" lang="en-US" sz="2000" u="none" cap="none" strike="noStrike">
                <a:solidFill>
                  <a:schemeClr val="dk1"/>
                </a:solidFill>
                <a:latin typeface="Times New Roman"/>
                <a:ea typeface="Times New Roman"/>
                <a:cs typeface="Times New Roman"/>
                <a:sym typeface="Times New Roman"/>
              </a:rPr>
              <a:t>The external nodes are associated with individual elements of S, upon which no recursion is called.</a:t>
            </a:r>
            <a:endParaRPr>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53" name="Google Shape;553;p14"/>
          <p:cNvPicPr preferRelativeResize="0"/>
          <p:nvPr>
            <p:ph idx="1" type="body"/>
          </p:nvPr>
        </p:nvPicPr>
        <p:blipFill rotWithShape="1">
          <a:blip r:embed="rId3">
            <a:alphaModFix/>
          </a:blip>
          <a:srcRect b="0" l="0" r="0" t="0"/>
          <a:stretch/>
        </p:blipFill>
        <p:spPr>
          <a:xfrm>
            <a:off x="255800" y="-25"/>
            <a:ext cx="9144000" cy="6858000"/>
          </a:xfrm>
          <a:prstGeom prst="rect">
            <a:avLst/>
          </a:prstGeom>
          <a:noFill/>
          <a:ln>
            <a:noFill/>
          </a:ln>
        </p:spPr>
      </p:pic>
      <p:pic>
        <p:nvPicPr>
          <p:cNvPr id="554" name="Google Shape;554;p1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55" name="Google Shape;555;p1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56" name="Google Shape;556;p1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7" name="Google Shape;557;p1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8" name="Google Shape;558;p1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59" name="Google Shape;559;p1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60" name="Google Shape;560;p14"/>
          <p:cNvPicPr preferRelativeResize="0"/>
          <p:nvPr/>
        </p:nvPicPr>
        <p:blipFill rotWithShape="1">
          <a:blip r:embed="rId5">
            <a:alphaModFix/>
          </a:blip>
          <a:srcRect b="0" l="0" r="0" t="0"/>
          <a:stretch/>
        </p:blipFill>
        <p:spPr>
          <a:xfrm>
            <a:off x="450375" y="1154200"/>
            <a:ext cx="8431050" cy="4696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1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66" name="Google Shape;566;p1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67" name="Google Shape;567;p1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68" name="Google Shape;568;p1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69" name="Google Shape;569;p1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p1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1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72" name="Google Shape;572;p1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How merge sort algorithm works?" id="573" name="Google Shape;573;p15"/>
          <p:cNvPicPr preferRelativeResize="0"/>
          <p:nvPr/>
        </p:nvPicPr>
        <p:blipFill rotWithShape="1">
          <a:blip r:embed="rId5">
            <a:alphaModFix/>
          </a:blip>
          <a:srcRect b="0" l="0" r="0" t="0"/>
          <a:stretch/>
        </p:blipFill>
        <p:spPr>
          <a:xfrm>
            <a:off x="499424" y="997900"/>
            <a:ext cx="8126202" cy="5344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79" name="Google Shape;579;p1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80" name="Google Shape;580;p1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81" name="Google Shape;581;p1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82" name="Google Shape;582;p1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1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4" name="Google Shape;584;p1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85" name="Google Shape;585;p1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DAA Merge Sort" id="586" name="Google Shape;586;p16"/>
          <p:cNvPicPr preferRelativeResize="0"/>
          <p:nvPr/>
        </p:nvPicPr>
        <p:blipFill rotWithShape="1">
          <a:blip r:embed="rId5">
            <a:alphaModFix/>
          </a:blip>
          <a:srcRect b="0" l="0" r="0" t="0"/>
          <a:stretch/>
        </p:blipFill>
        <p:spPr>
          <a:xfrm>
            <a:off x="580225" y="1150050"/>
            <a:ext cx="8118476" cy="4956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92" name="Google Shape;592;p1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93" name="Google Shape;593;p1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94" name="Google Shape;594;p1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95" name="Google Shape;595;p1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p1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1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98" name="Google Shape;598;p1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99" name="Google Shape;599;p17"/>
          <p:cNvPicPr preferRelativeResize="0"/>
          <p:nvPr/>
        </p:nvPicPr>
        <p:blipFill rotWithShape="1">
          <a:blip r:embed="rId5">
            <a:alphaModFix/>
          </a:blip>
          <a:srcRect b="0" l="0" r="0" t="0"/>
          <a:stretch/>
        </p:blipFill>
        <p:spPr>
          <a:xfrm>
            <a:off x="481073" y="1191375"/>
            <a:ext cx="8034276" cy="5214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05" name="Google Shape;605;p1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06" name="Google Shape;606;p1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07" name="Google Shape;607;p1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08" name="Google Shape;608;p1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p1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1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11" name="Google Shape;611;p1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12" name="Google Shape;612;p18"/>
          <p:cNvPicPr preferRelativeResize="0"/>
          <p:nvPr/>
        </p:nvPicPr>
        <p:blipFill rotWithShape="1">
          <a:blip r:embed="rId5">
            <a:alphaModFix/>
          </a:blip>
          <a:srcRect b="0" l="0" r="0" t="0"/>
          <a:stretch/>
        </p:blipFill>
        <p:spPr>
          <a:xfrm>
            <a:off x="450375" y="1265550"/>
            <a:ext cx="8272700" cy="4737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1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18" name="Google Shape;618;p1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19" name="Google Shape;619;p1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20" name="Google Shape;620;p1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21" name="Google Shape;621;p1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2" name="Google Shape;622;p1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1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24" name="Google Shape;624;p1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25" name="Google Shape;625;p19"/>
          <p:cNvSpPr txBox="1"/>
          <p:nvPr/>
        </p:nvSpPr>
        <p:spPr>
          <a:xfrm>
            <a:off x="658392" y="594438"/>
            <a:ext cx="7793100" cy="838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993300"/>
              </a:buClr>
              <a:buSzPts val="2800"/>
              <a:buFont typeface="Arial"/>
              <a:buNone/>
            </a:pPr>
            <a:r>
              <a:rPr b="0" i="0" lang="en-US" sz="2800" u="none" cap="none" strike="noStrike">
                <a:solidFill>
                  <a:srgbClr val="993300"/>
                </a:solidFill>
                <a:latin typeface="Times New Roman"/>
                <a:ea typeface="Times New Roman"/>
                <a:cs typeface="Times New Roman"/>
                <a:sym typeface="Times New Roman"/>
              </a:rPr>
              <a:t>Quicksort I: Basic idea</a:t>
            </a:r>
            <a:endParaRPr/>
          </a:p>
        </p:txBody>
      </p:sp>
      <p:sp>
        <p:nvSpPr>
          <p:cNvPr id="626" name="Google Shape;626;p19"/>
          <p:cNvSpPr txBox="1"/>
          <p:nvPr/>
        </p:nvSpPr>
        <p:spPr>
          <a:xfrm>
            <a:off x="381000" y="1542136"/>
            <a:ext cx="8574000" cy="2895600"/>
          </a:xfrm>
          <a:prstGeom prst="rect">
            <a:avLst/>
          </a:prstGeom>
          <a:noFill/>
          <a:ln>
            <a:noFill/>
          </a:ln>
        </p:spPr>
        <p:txBody>
          <a:bodyPr anchorCtr="0" anchor="t" bIns="45700" lIns="91425" spcFirstLastPara="1" rIns="91425" wrap="square" tIns="45700">
            <a:noAutofit/>
          </a:bodyPr>
          <a:lstStyle/>
          <a:p>
            <a:pPr indent="-341313" lvl="0" marL="341313" marR="0" rtl="0" algn="l">
              <a:lnSpc>
                <a:spcPct val="100000"/>
              </a:lnSpc>
              <a:spcBef>
                <a:spcPts val="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Pick some number </a:t>
            </a:r>
            <a:r>
              <a:rPr b="0" i="0" lang="en-US" sz="2400" u="none" cap="none" strike="noStrike">
                <a:solidFill>
                  <a:srgbClr val="3300FF"/>
                </a:solidFill>
                <a:latin typeface="Consolas"/>
                <a:ea typeface="Consolas"/>
                <a:cs typeface="Consolas"/>
                <a:sym typeface="Consolas"/>
              </a:rPr>
              <a:t>p</a:t>
            </a:r>
            <a:r>
              <a:rPr b="0" i="0" lang="en-US" sz="2400" u="none" cap="none" strike="noStrike">
                <a:solidFill>
                  <a:srgbClr val="000000"/>
                </a:solidFill>
                <a:latin typeface="Times New Roman"/>
                <a:ea typeface="Times New Roman"/>
                <a:cs typeface="Times New Roman"/>
                <a:sym typeface="Times New Roman"/>
              </a:rPr>
              <a:t> from the array</a:t>
            </a:r>
            <a:endParaRPr/>
          </a:p>
          <a:p>
            <a:pPr indent="-341313" lvl="0" marL="341313" marR="0" rtl="0" algn="l">
              <a:lnSpc>
                <a:spcPct val="100000"/>
              </a:lnSpc>
              <a:spcBef>
                <a:spcPts val="6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Move all numbers less than </a:t>
            </a:r>
            <a:r>
              <a:rPr b="0" i="0" lang="en-US" sz="2400" u="none" cap="none" strike="noStrike">
                <a:solidFill>
                  <a:srgbClr val="3300FF"/>
                </a:solidFill>
                <a:latin typeface="Consolas"/>
                <a:ea typeface="Consolas"/>
                <a:cs typeface="Consolas"/>
                <a:sym typeface="Consolas"/>
              </a:rPr>
              <a:t>p</a:t>
            </a:r>
            <a:r>
              <a:rPr b="0" i="0" lang="en-US" sz="2400" u="none" cap="none" strike="noStrike">
                <a:solidFill>
                  <a:srgbClr val="000000"/>
                </a:solidFill>
                <a:latin typeface="Times New Roman"/>
                <a:ea typeface="Times New Roman"/>
                <a:cs typeface="Times New Roman"/>
                <a:sym typeface="Times New Roman"/>
              </a:rPr>
              <a:t> to the beginning of the array</a:t>
            </a:r>
            <a:endParaRPr/>
          </a:p>
          <a:p>
            <a:pPr indent="-341313" lvl="0" marL="341313" marR="0" rtl="0" algn="l">
              <a:lnSpc>
                <a:spcPct val="100000"/>
              </a:lnSpc>
              <a:spcBef>
                <a:spcPts val="6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Move all numbers greater than (or equal to) </a:t>
            </a:r>
            <a:r>
              <a:rPr b="0" i="0" lang="en-US" sz="2400" u="none" cap="none" strike="noStrike">
                <a:solidFill>
                  <a:srgbClr val="3300FF"/>
                </a:solidFill>
                <a:latin typeface="Consolas"/>
                <a:ea typeface="Consolas"/>
                <a:cs typeface="Consolas"/>
                <a:sym typeface="Consolas"/>
              </a:rPr>
              <a:t>p</a:t>
            </a:r>
            <a:r>
              <a:rPr b="0" i="0" lang="en-US" sz="2400" u="none" cap="none" strike="noStrike">
                <a:solidFill>
                  <a:srgbClr val="000000"/>
                </a:solidFill>
                <a:latin typeface="Times New Roman"/>
                <a:ea typeface="Times New Roman"/>
                <a:cs typeface="Times New Roman"/>
                <a:sym typeface="Times New Roman"/>
              </a:rPr>
              <a:t> to the end of the array</a:t>
            </a:r>
            <a:endParaRPr/>
          </a:p>
          <a:p>
            <a:pPr indent="-341313" lvl="0" marL="341313" marR="0" rtl="0" algn="l">
              <a:lnSpc>
                <a:spcPct val="100000"/>
              </a:lnSpc>
              <a:spcBef>
                <a:spcPts val="6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Quicksort the numbers less than </a:t>
            </a:r>
            <a:r>
              <a:rPr b="0" i="0" lang="en-US" sz="2400" u="none" cap="none" strike="noStrike">
                <a:solidFill>
                  <a:srgbClr val="3300FF"/>
                </a:solidFill>
                <a:latin typeface="Consolas"/>
                <a:ea typeface="Consolas"/>
                <a:cs typeface="Consolas"/>
                <a:sym typeface="Consolas"/>
              </a:rPr>
              <a:t>p</a:t>
            </a:r>
            <a:endParaRPr/>
          </a:p>
          <a:p>
            <a:pPr indent="-341313" lvl="0" marL="341313" marR="0" rtl="0" algn="l">
              <a:lnSpc>
                <a:spcPct val="100000"/>
              </a:lnSpc>
              <a:spcBef>
                <a:spcPts val="6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Quicksort the numbers greater than or equal to </a:t>
            </a:r>
            <a:r>
              <a:rPr b="0" i="0" lang="en-US" sz="2400" u="none" cap="none" strike="noStrike">
                <a:solidFill>
                  <a:srgbClr val="3300FF"/>
                </a:solidFill>
                <a:latin typeface="Consolas"/>
                <a:ea typeface="Consolas"/>
                <a:cs typeface="Consolas"/>
                <a:sym typeface="Consolas"/>
              </a:rPr>
              <a:t>p</a:t>
            </a:r>
            <a:endParaRPr/>
          </a:p>
        </p:txBody>
      </p:sp>
      <p:grpSp>
        <p:nvGrpSpPr>
          <p:cNvPr id="627" name="Google Shape;627;p19"/>
          <p:cNvGrpSpPr/>
          <p:nvPr/>
        </p:nvGrpSpPr>
        <p:grpSpPr>
          <a:xfrm>
            <a:off x="838200" y="4572000"/>
            <a:ext cx="7313613" cy="1525588"/>
            <a:chOff x="528" y="2880"/>
            <a:chExt cx="4607" cy="961"/>
          </a:xfrm>
        </p:grpSpPr>
        <p:grpSp>
          <p:nvGrpSpPr>
            <p:cNvPr id="628" name="Google Shape;628;p19"/>
            <p:cNvGrpSpPr/>
            <p:nvPr/>
          </p:nvGrpSpPr>
          <p:grpSpPr>
            <a:xfrm>
              <a:off x="528" y="2880"/>
              <a:ext cx="4607" cy="191"/>
              <a:chOff x="528" y="2880"/>
              <a:chExt cx="4607" cy="191"/>
            </a:xfrm>
          </p:grpSpPr>
          <p:sp>
            <p:nvSpPr>
              <p:cNvPr id="629" name="Google Shape;629;p19"/>
              <p:cNvSpPr/>
              <p:nvPr/>
            </p:nvSpPr>
            <p:spPr>
              <a:xfrm>
                <a:off x="528"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0" name="Google Shape;630;p19"/>
              <p:cNvSpPr/>
              <p:nvPr/>
            </p:nvSpPr>
            <p:spPr>
              <a:xfrm>
                <a:off x="720"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1" name="Google Shape;631;p19"/>
              <p:cNvSpPr/>
              <p:nvPr/>
            </p:nvSpPr>
            <p:spPr>
              <a:xfrm>
                <a:off x="912"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2" name="Google Shape;632;p19"/>
              <p:cNvSpPr/>
              <p:nvPr/>
            </p:nvSpPr>
            <p:spPr>
              <a:xfrm>
                <a:off x="1104"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3" name="Google Shape;633;p19"/>
              <p:cNvSpPr/>
              <p:nvPr/>
            </p:nvSpPr>
            <p:spPr>
              <a:xfrm>
                <a:off x="1296"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4" name="Google Shape;634;p19"/>
              <p:cNvSpPr/>
              <p:nvPr/>
            </p:nvSpPr>
            <p:spPr>
              <a:xfrm>
                <a:off x="1488"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5" name="Google Shape;635;p19"/>
              <p:cNvSpPr/>
              <p:nvPr/>
            </p:nvSpPr>
            <p:spPr>
              <a:xfrm>
                <a:off x="1680"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6" name="Google Shape;636;p19"/>
              <p:cNvSpPr/>
              <p:nvPr/>
            </p:nvSpPr>
            <p:spPr>
              <a:xfrm>
                <a:off x="1872"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7" name="Google Shape;637;p19"/>
              <p:cNvSpPr/>
              <p:nvPr/>
            </p:nvSpPr>
            <p:spPr>
              <a:xfrm>
                <a:off x="2064"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6800" lIns="90000" spcFirstLastPara="1" rIns="90000" wrap="square" tIns="46800">
                <a:noAutofit/>
              </a:bodyPr>
              <a:lstStyle/>
              <a:p>
                <a:pPr indent="0" lvl="0" marL="0" marR="0" rtl="0" algn="ctr">
                  <a:lnSpc>
                    <a:spcPct val="100000"/>
                  </a:lnSpc>
                  <a:spcBef>
                    <a:spcPts val="0"/>
                  </a:spcBef>
                  <a:spcAft>
                    <a:spcPts val="0"/>
                  </a:spcAft>
                  <a:buClr>
                    <a:srgbClr val="3300FF"/>
                  </a:buClr>
                  <a:buSzPts val="2000"/>
                  <a:buFont typeface="Arial"/>
                  <a:buNone/>
                </a:pPr>
                <a:r>
                  <a:rPr b="0" i="0" lang="en-US" sz="2000" u="none" cap="none" strike="noStrike">
                    <a:solidFill>
                      <a:srgbClr val="3300FF"/>
                    </a:solidFill>
                    <a:latin typeface="Verdana"/>
                    <a:ea typeface="Verdana"/>
                    <a:cs typeface="Verdana"/>
                    <a:sym typeface="Verdana"/>
                  </a:rPr>
                  <a:t>p</a:t>
                </a:r>
                <a:endParaRPr/>
              </a:p>
            </p:txBody>
          </p:sp>
          <p:sp>
            <p:nvSpPr>
              <p:cNvPr id="638" name="Google Shape;638;p19"/>
              <p:cNvSpPr/>
              <p:nvPr/>
            </p:nvSpPr>
            <p:spPr>
              <a:xfrm>
                <a:off x="2256"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9" name="Google Shape;639;p19"/>
              <p:cNvSpPr/>
              <p:nvPr/>
            </p:nvSpPr>
            <p:spPr>
              <a:xfrm>
                <a:off x="2448"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0" name="Google Shape;640;p19"/>
              <p:cNvSpPr/>
              <p:nvPr/>
            </p:nvSpPr>
            <p:spPr>
              <a:xfrm>
                <a:off x="2640"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1" name="Google Shape;641;p19"/>
              <p:cNvSpPr/>
              <p:nvPr/>
            </p:nvSpPr>
            <p:spPr>
              <a:xfrm>
                <a:off x="2832"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2" name="Google Shape;642;p19"/>
              <p:cNvSpPr/>
              <p:nvPr/>
            </p:nvSpPr>
            <p:spPr>
              <a:xfrm>
                <a:off x="3024"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3" name="Google Shape;643;p19"/>
              <p:cNvSpPr/>
              <p:nvPr/>
            </p:nvSpPr>
            <p:spPr>
              <a:xfrm>
                <a:off x="3216"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4" name="Google Shape;644;p19"/>
              <p:cNvSpPr/>
              <p:nvPr/>
            </p:nvSpPr>
            <p:spPr>
              <a:xfrm>
                <a:off x="3408"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5" name="Google Shape;645;p19"/>
              <p:cNvSpPr/>
              <p:nvPr/>
            </p:nvSpPr>
            <p:spPr>
              <a:xfrm>
                <a:off x="3600"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6" name="Google Shape;646;p19"/>
              <p:cNvSpPr/>
              <p:nvPr/>
            </p:nvSpPr>
            <p:spPr>
              <a:xfrm>
                <a:off x="3792"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7" name="Google Shape;647;p19"/>
              <p:cNvSpPr/>
              <p:nvPr/>
            </p:nvSpPr>
            <p:spPr>
              <a:xfrm>
                <a:off x="3984"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8" name="Google Shape;648;p19"/>
              <p:cNvSpPr/>
              <p:nvPr/>
            </p:nvSpPr>
            <p:spPr>
              <a:xfrm>
                <a:off x="4176"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9" name="Google Shape;649;p19"/>
              <p:cNvSpPr/>
              <p:nvPr/>
            </p:nvSpPr>
            <p:spPr>
              <a:xfrm>
                <a:off x="4368"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0" name="Google Shape;650;p19"/>
              <p:cNvSpPr/>
              <p:nvPr/>
            </p:nvSpPr>
            <p:spPr>
              <a:xfrm>
                <a:off x="4560"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1" name="Google Shape;651;p19"/>
              <p:cNvSpPr/>
              <p:nvPr/>
            </p:nvSpPr>
            <p:spPr>
              <a:xfrm>
                <a:off x="4752"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2" name="Google Shape;652;p19"/>
              <p:cNvSpPr/>
              <p:nvPr/>
            </p:nvSpPr>
            <p:spPr>
              <a:xfrm>
                <a:off x="4944" y="2880"/>
                <a:ext cx="191" cy="191"/>
              </a:xfrm>
              <a:prstGeom prst="rect">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653" name="Google Shape;653;p19"/>
            <p:cNvGrpSpPr/>
            <p:nvPr/>
          </p:nvGrpSpPr>
          <p:grpSpPr>
            <a:xfrm>
              <a:off x="528" y="3120"/>
              <a:ext cx="1487" cy="721"/>
              <a:chOff x="528" y="3120"/>
              <a:chExt cx="1487" cy="721"/>
            </a:xfrm>
          </p:grpSpPr>
          <p:sp>
            <p:nvSpPr>
              <p:cNvPr id="654" name="Google Shape;654;p19"/>
              <p:cNvSpPr/>
              <p:nvPr/>
            </p:nvSpPr>
            <p:spPr>
              <a:xfrm rot="-5400000">
                <a:off x="1176" y="2472"/>
                <a:ext cx="191" cy="1487"/>
              </a:xfrm>
              <a:prstGeom prst="leftBrace">
                <a:avLst>
                  <a:gd fmla="val 64878" name="adj1"/>
                  <a:gd fmla="val 50000" name="adj2"/>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5" name="Google Shape;655;p19"/>
              <p:cNvSpPr txBox="1"/>
              <p:nvPr/>
            </p:nvSpPr>
            <p:spPr>
              <a:xfrm>
                <a:off x="864" y="3322"/>
                <a:ext cx="1103" cy="519"/>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rgbClr val="000000"/>
                    </a:solidFill>
                    <a:latin typeface="Times New Roman"/>
                    <a:ea typeface="Times New Roman"/>
                    <a:cs typeface="Times New Roman"/>
                    <a:sym typeface="Times New Roman"/>
                  </a:rPr>
                  <a:t>numbers less than</a:t>
                </a:r>
                <a:r>
                  <a:rPr b="0" i="0" lang="en-US" sz="24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3300FF"/>
                    </a:solidFill>
                    <a:latin typeface="Verdana"/>
                    <a:ea typeface="Verdana"/>
                    <a:cs typeface="Verdana"/>
                    <a:sym typeface="Verdana"/>
                  </a:rPr>
                  <a:t>p</a:t>
                </a:r>
                <a:endParaRPr/>
              </a:p>
            </p:txBody>
          </p:sp>
        </p:grpSp>
        <p:grpSp>
          <p:nvGrpSpPr>
            <p:cNvPr id="656" name="Google Shape;656;p19"/>
            <p:cNvGrpSpPr/>
            <p:nvPr/>
          </p:nvGrpSpPr>
          <p:grpSpPr>
            <a:xfrm>
              <a:off x="2256" y="3120"/>
              <a:ext cx="2879" cy="711"/>
              <a:chOff x="2256" y="3120"/>
              <a:chExt cx="2879" cy="711"/>
            </a:xfrm>
          </p:grpSpPr>
          <p:sp>
            <p:nvSpPr>
              <p:cNvPr id="657" name="Google Shape;657;p19"/>
              <p:cNvSpPr/>
              <p:nvPr/>
            </p:nvSpPr>
            <p:spPr>
              <a:xfrm rot="-5400000">
                <a:off x="3600" y="1776"/>
                <a:ext cx="191" cy="2879"/>
              </a:xfrm>
              <a:prstGeom prst="leftBrace">
                <a:avLst>
                  <a:gd fmla="val 125611" name="adj1"/>
                  <a:gd fmla="val 50000" name="adj2"/>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8" name="Google Shape;658;p19"/>
              <p:cNvSpPr txBox="1"/>
              <p:nvPr/>
            </p:nvSpPr>
            <p:spPr>
              <a:xfrm>
                <a:off x="2880" y="3312"/>
                <a:ext cx="1775" cy="519"/>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rgbClr val="000000"/>
                    </a:solidFill>
                    <a:latin typeface="Times New Roman"/>
                    <a:ea typeface="Times New Roman"/>
                    <a:cs typeface="Times New Roman"/>
                    <a:sym typeface="Times New Roman"/>
                  </a:rPr>
                  <a:t>numbers greater than or equal to</a:t>
                </a:r>
                <a:r>
                  <a:rPr b="0" i="0" lang="en-US" sz="2400" u="none" cap="none" strike="noStrike">
                    <a:solidFill>
                      <a:srgbClr val="000000"/>
                    </a:solidFill>
                    <a:latin typeface="Times New Roman"/>
                    <a:ea typeface="Times New Roman"/>
                    <a:cs typeface="Times New Roman"/>
                    <a:sym typeface="Times New Roman"/>
                  </a:rPr>
                  <a:t> </a:t>
                </a:r>
                <a:r>
                  <a:rPr b="0" i="0" lang="en-US" sz="2400" u="none" cap="none" strike="noStrike">
                    <a:solidFill>
                      <a:srgbClr val="3300FF"/>
                    </a:solidFill>
                    <a:latin typeface="Verdana"/>
                    <a:ea typeface="Verdana"/>
                    <a:cs typeface="Verdana"/>
                    <a:sym typeface="Verdana"/>
                  </a:rPr>
                  <a:t>p</a:t>
                </a:r>
                <a:endParaRPr/>
              </a:p>
            </p:txBody>
          </p:sp>
        </p:grpSp>
        <p:grpSp>
          <p:nvGrpSpPr>
            <p:cNvPr id="659" name="Google Shape;659;p19"/>
            <p:cNvGrpSpPr/>
            <p:nvPr/>
          </p:nvGrpSpPr>
          <p:grpSpPr>
            <a:xfrm>
              <a:off x="1968" y="3120"/>
              <a:ext cx="335" cy="433"/>
              <a:chOff x="1968" y="3120"/>
              <a:chExt cx="335" cy="433"/>
            </a:xfrm>
          </p:grpSpPr>
          <p:sp>
            <p:nvSpPr>
              <p:cNvPr id="660" name="Google Shape;660;p19"/>
              <p:cNvSpPr/>
              <p:nvPr/>
            </p:nvSpPr>
            <p:spPr>
              <a:xfrm rot="-5400000">
                <a:off x="2040" y="3144"/>
                <a:ext cx="191" cy="143"/>
              </a:xfrm>
              <a:prstGeom prst="leftBrace">
                <a:avLst>
                  <a:gd fmla="val 8333" name="adj1"/>
                  <a:gd fmla="val 50000" name="adj2"/>
                </a:avLst>
              </a:prstGeom>
              <a:noFill/>
              <a:ln cap="flat" cmpd="sng" w="158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1" name="Google Shape;661;p19"/>
              <p:cNvSpPr txBox="1"/>
              <p:nvPr/>
            </p:nvSpPr>
            <p:spPr>
              <a:xfrm>
                <a:off x="1968" y="3264"/>
                <a:ext cx="335" cy="289"/>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FFFF99"/>
                  </a:buClr>
                  <a:buSzPts val="2400"/>
                  <a:buFont typeface="Arial"/>
                  <a:buNone/>
                </a:pPr>
                <a:r>
                  <a:rPr b="0" i="0" lang="en-US" sz="2400" u="none" cap="none" strike="noStrike">
                    <a:solidFill>
                      <a:srgbClr val="FFFF99"/>
                    </a:solidFill>
                    <a:latin typeface="Verdana"/>
                    <a:ea typeface="Verdana"/>
                    <a:cs typeface="Verdana"/>
                    <a:sym typeface="Verdana"/>
                  </a:rPr>
                  <a:t> </a:t>
                </a:r>
                <a:r>
                  <a:rPr b="0" i="0" lang="en-US" sz="2400" u="none" cap="none" strike="noStrike">
                    <a:solidFill>
                      <a:srgbClr val="3300FF"/>
                    </a:solidFill>
                    <a:latin typeface="Verdana"/>
                    <a:ea typeface="Verdana"/>
                    <a:cs typeface="Verdana"/>
                    <a:sym typeface="Verdana"/>
                  </a:rPr>
                  <a:t>p</a:t>
                </a:r>
                <a:r>
                  <a:rPr b="0" i="0" lang="en-US" sz="2400" u="none" cap="none" strike="noStrike">
                    <a:solidFill>
                      <a:srgbClr val="FFFF99"/>
                    </a:solidFill>
                    <a:latin typeface="Verdana"/>
                    <a:ea typeface="Verdana"/>
                    <a:cs typeface="Verdana"/>
                    <a:sym typeface="Verdana"/>
                  </a:rPr>
                  <a:t> </a:t>
                </a:r>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67" name="Google Shape;667;p21"/>
          <p:cNvPicPr preferRelativeResize="0"/>
          <p:nvPr>
            <p:ph idx="1" type="body"/>
          </p:nvPr>
        </p:nvPicPr>
        <p:blipFill rotWithShape="1">
          <a:blip r:embed="rId3">
            <a:alphaModFix/>
          </a:blip>
          <a:srcRect b="0" l="0" r="0" t="0"/>
          <a:stretch/>
        </p:blipFill>
        <p:spPr>
          <a:xfrm>
            <a:off x="0" y="-182718"/>
            <a:ext cx="9144000" cy="6858000"/>
          </a:xfrm>
          <a:prstGeom prst="rect">
            <a:avLst/>
          </a:prstGeom>
          <a:noFill/>
          <a:ln>
            <a:noFill/>
          </a:ln>
        </p:spPr>
      </p:pic>
      <p:pic>
        <p:nvPicPr>
          <p:cNvPr id="668" name="Google Shape;668;p2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69" name="Google Shape;669;p2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70" name="Google Shape;670;p2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1" name="Google Shape;671;p2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2" name="Google Shape;672;p2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73" name="Google Shape;673;p2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74" name="Google Shape;674;p21"/>
          <p:cNvSpPr txBox="1"/>
          <p:nvPr/>
        </p:nvSpPr>
        <p:spPr>
          <a:xfrm>
            <a:off x="7239000" y="7285706"/>
            <a:ext cx="19050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75" name="Google Shape;675;p21"/>
          <p:cNvSpPr txBox="1"/>
          <p:nvPr/>
        </p:nvSpPr>
        <p:spPr>
          <a:xfrm>
            <a:off x="197794" y="1113506"/>
            <a:ext cx="8814444" cy="838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Arial"/>
              <a:buNone/>
            </a:pPr>
            <a:r>
              <a:rPr b="0" i="0" lang="en-US" sz="4000" u="none" cap="none" strike="noStrike">
                <a:solidFill>
                  <a:srgbClr val="993300"/>
                </a:solidFill>
                <a:latin typeface="Times New Roman"/>
                <a:ea typeface="Times New Roman"/>
                <a:cs typeface="Times New Roman"/>
                <a:sym typeface="Times New Roman"/>
              </a:rPr>
              <a:t>Quicksort I</a:t>
            </a:r>
            <a:endParaRPr/>
          </a:p>
        </p:txBody>
      </p:sp>
      <p:sp>
        <p:nvSpPr>
          <p:cNvPr id="676" name="Google Shape;676;p21"/>
          <p:cNvSpPr txBox="1"/>
          <p:nvPr/>
        </p:nvSpPr>
        <p:spPr>
          <a:xfrm>
            <a:off x="304800" y="2138078"/>
            <a:ext cx="8610600" cy="419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3000" u="none" cap="none" strike="noStrike">
                <a:solidFill>
                  <a:schemeClr val="dk1"/>
                </a:solidFill>
                <a:latin typeface="Times New Roman"/>
                <a:ea typeface="Times New Roman"/>
                <a:cs typeface="Times New Roman"/>
                <a:sym typeface="Times New Roman"/>
              </a:rPr>
              <a:t>To sort</a:t>
            </a:r>
            <a:r>
              <a:rPr b="1" i="0" lang="en-US" sz="2600" u="none" cap="none" strike="noStrike">
                <a:solidFill>
                  <a:schemeClr val="dk1"/>
                </a:solidFill>
                <a:latin typeface="Verdana"/>
                <a:ea typeface="Verdana"/>
                <a:cs typeface="Verdana"/>
                <a:sym typeface="Verdana"/>
              </a:rPr>
              <a:t> a[left...right]</a:t>
            </a:r>
            <a:r>
              <a:rPr b="1" i="0" lang="en-US" sz="3000" u="none" cap="none" strike="noStrike">
                <a:solidFill>
                  <a:schemeClr val="dk1"/>
                </a:solidFill>
                <a:latin typeface="Times New Roman"/>
                <a:ea typeface="Times New Roman"/>
                <a:cs typeface="Times New Roman"/>
                <a:sym typeface="Times New Roman"/>
              </a:rPr>
              <a:t>:</a:t>
            </a:r>
            <a:endParaRPr b="1" sz="3000">
              <a:solidFill>
                <a:schemeClr val="dk1"/>
              </a:solidFill>
              <a:latin typeface="Times New Roman"/>
              <a:ea typeface="Times New Roman"/>
              <a:cs typeface="Times New Roman"/>
              <a:sym typeface="Times New Roman"/>
            </a:endParaRPr>
          </a:p>
          <a:p>
            <a:pPr indent="-381000" lvl="0" marL="457200" marR="0" rtl="0" algn="l">
              <a:lnSpc>
                <a:spcPct val="100000"/>
              </a:lnSpc>
              <a:spcBef>
                <a:spcPts val="600"/>
              </a:spcBef>
              <a:spcAft>
                <a:spcPts val="0"/>
              </a:spcAft>
              <a:buClr>
                <a:schemeClr val="dk1"/>
              </a:buClr>
              <a:buSzPts val="2400"/>
              <a:buChar char="➢"/>
            </a:pPr>
            <a:r>
              <a:rPr b="0" i="0" lang="en-US" sz="2400" u="none" cap="none" strike="noStrike">
                <a:solidFill>
                  <a:schemeClr val="dk1"/>
                </a:solidFill>
                <a:latin typeface="Verdana"/>
                <a:ea typeface="Verdana"/>
                <a:cs typeface="Verdana"/>
                <a:sym typeface="Verdana"/>
              </a:rPr>
              <a:t>if left &lt; right:</a:t>
            </a:r>
            <a:endParaRPr>
              <a:solidFill>
                <a:schemeClr val="dk1"/>
              </a:solidFill>
            </a:endParaRPr>
          </a:p>
          <a:p>
            <a:pPr indent="0" lvl="0" marL="457200" marR="0" rtl="0" algn="l">
              <a:lnSpc>
                <a:spcPct val="100000"/>
              </a:lnSpc>
              <a:spcBef>
                <a:spcPts val="600"/>
              </a:spcBef>
              <a:spcAft>
                <a:spcPts val="0"/>
              </a:spcAft>
              <a:buNone/>
            </a:pPr>
            <a:r>
              <a:rPr lang="en-US" sz="2400">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Verdana"/>
                <a:ea typeface="Verdana"/>
                <a:cs typeface="Verdana"/>
                <a:sym typeface="Verdana"/>
              </a:rPr>
              <a:t>Partition a[left...right] such that:</a:t>
            </a:r>
            <a:endParaRPr>
              <a:solidFill>
                <a:schemeClr val="dk1"/>
              </a:solidFill>
            </a:endParaRPr>
          </a:p>
          <a:p>
            <a:pPr indent="0" lvl="0" marL="1371600" marR="0" rtl="0" algn="l">
              <a:lnSpc>
                <a:spcPct val="100000"/>
              </a:lnSpc>
              <a:spcBef>
                <a:spcPts val="600"/>
              </a:spcBef>
              <a:spcAft>
                <a:spcPts val="0"/>
              </a:spcAft>
              <a:buNone/>
            </a:pPr>
            <a:r>
              <a:rPr b="0" i="0" lang="en-US" sz="2400" u="none" cap="none" strike="noStrike">
                <a:solidFill>
                  <a:schemeClr val="dk1"/>
                </a:solidFill>
                <a:latin typeface="Verdana"/>
                <a:ea typeface="Verdana"/>
                <a:cs typeface="Verdana"/>
                <a:sym typeface="Verdana"/>
              </a:rPr>
              <a:t>    all a[left...p-1] are less than a[p], and</a:t>
            </a:r>
            <a:endParaRPr>
              <a:solidFill>
                <a:schemeClr val="dk1"/>
              </a:solidFill>
            </a:endParaRPr>
          </a:p>
          <a:p>
            <a:pPr indent="0" lvl="0" marL="0" marR="0" rtl="0" algn="l">
              <a:lnSpc>
                <a:spcPct val="100000"/>
              </a:lnSpc>
              <a:spcBef>
                <a:spcPts val="600"/>
              </a:spcBef>
              <a:spcAft>
                <a:spcPts val="0"/>
              </a:spcAft>
              <a:buNone/>
            </a:pPr>
            <a:r>
              <a:rPr lang="en-US" sz="2400">
                <a:solidFill>
                  <a:schemeClr val="dk1"/>
                </a:solidFill>
                <a:latin typeface="Verdana"/>
                <a:ea typeface="Verdana"/>
                <a:cs typeface="Verdana"/>
                <a:sym typeface="Verdana"/>
              </a:rPr>
              <a:t>        			</a:t>
            </a:r>
            <a:r>
              <a:rPr b="0" i="0" lang="en-US" sz="2400" u="none" cap="none" strike="noStrike">
                <a:solidFill>
                  <a:schemeClr val="dk1"/>
                </a:solidFill>
                <a:latin typeface="Verdana"/>
                <a:ea typeface="Verdana"/>
                <a:cs typeface="Verdana"/>
                <a:sym typeface="Verdana"/>
              </a:rPr>
              <a:t>all a[p+1...right] are &gt;= a[p]</a:t>
            </a:r>
            <a:endParaRPr>
              <a:solidFill>
                <a:schemeClr val="dk1"/>
              </a:solidFill>
            </a:endParaRPr>
          </a:p>
          <a:p>
            <a:pPr indent="457200" lvl="0" marL="1371600" marR="0" rtl="0" algn="l">
              <a:lnSpc>
                <a:spcPct val="100000"/>
              </a:lnSpc>
              <a:spcBef>
                <a:spcPts val="600"/>
              </a:spcBef>
              <a:spcAft>
                <a:spcPts val="0"/>
              </a:spcAft>
              <a:buNone/>
            </a:pPr>
            <a:r>
              <a:rPr b="0" i="0" lang="en-US" sz="2400" u="none" cap="none" strike="noStrike">
                <a:solidFill>
                  <a:schemeClr val="dk1"/>
                </a:solidFill>
                <a:latin typeface="Verdana"/>
                <a:ea typeface="Verdana"/>
                <a:cs typeface="Verdana"/>
                <a:sym typeface="Verdana"/>
              </a:rPr>
              <a:t>Quicksort a[left...p-1]</a:t>
            </a:r>
            <a:endParaRPr>
              <a:solidFill>
                <a:schemeClr val="dk1"/>
              </a:solidFill>
            </a:endParaRPr>
          </a:p>
          <a:p>
            <a:pPr indent="457200" lvl="0" marL="1371600" marR="0" rtl="0" algn="l">
              <a:lnSpc>
                <a:spcPct val="100000"/>
              </a:lnSpc>
              <a:spcBef>
                <a:spcPts val="600"/>
              </a:spcBef>
              <a:spcAft>
                <a:spcPts val="0"/>
              </a:spcAft>
              <a:buNone/>
            </a:pPr>
            <a:r>
              <a:rPr b="0" i="0" lang="en-US" sz="2400" u="none" cap="none" strike="noStrike">
                <a:solidFill>
                  <a:schemeClr val="dk1"/>
                </a:solidFill>
                <a:latin typeface="Verdana"/>
                <a:ea typeface="Verdana"/>
                <a:cs typeface="Verdana"/>
                <a:sym typeface="Verdana"/>
              </a:rPr>
              <a:t>Quicksort a[p+1...right]</a:t>
            </a:r>
            <a:endParaRPr>
              <a:solidFill>
                <a:schemeClr val="dk1"/>
              </a:solidFill>
            </a:endParaRPr>
          </a:p>
          <a:p>
            <a:pPr indent="-381000" lvl="0" marL="457200" marR="0" rtl="0" algn="l">
              <a:lnSpc>
                <a:spcPct val="100000"/>
              </a:lnSpc>
              <a:spcBef>
                <a:spcPts val="600"/>
              </a:spcBef>
              <a:spcAft>
                <a:spcPts val="0"/>
              </a:spcAft>
              <a:buClr>
                <a:schemeClr val="dk1"/>
              </a:buClr>
              <a:buSzPts val="2400"/>
              <a:buChar char="➢"/>
            </a:pPr>
            <a:r>
              <a:rPr lang="en-US" sz="2400">
                <a:solidFill>
                  <a:schemeClr val="dk1"/>
                </a:solidFill>
                <a:latin typeface="Verdana"/>
                <a:ea typeface="Verdana"/>
                <a:cs typeface="Verdana"/>
                <a:sym typeface="Verdana"/>
              </a:rPr>
              <a:t>T</a:t>
            </a:r>
            <a:r>
              <a:rPr b="0" i="0" lang="en-US" sz="2400" u="none" cap="none" strike="noStrike">
                <a:solidFill>
                  <a:schemeClr val="dk1"/>
                </a:solidFill>
                <a:latin typeface="Verdana"/>
                <a:ea typeface="Verdana"/>
                <a:cs typeface="Verdana"/>
                <a:sym typeface="Verdana"/>
              </a:rPr>
              <a:t>erminate</a:t>
            </a:r>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82" name="Google Shape;682;p2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83" name="Google Shape;683;p2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84" name="Google Shape;684;p2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85" name="Google Shape;685;p2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2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87" name="Google Shape;687;p22"/>
          <p:cNvSpPr txBox="1"/>
          <p:nvPr/>
        </p:nvSpPr>
        <p:spPr>
          <a:xfrm>
            <a:off x="6727724" y="6833419"/>
            <a:ext cx="19050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88" name="Google Shape;688;p22"/>
          <p:cNvSpPr txBox="1"/>
          <p:nvPr/>
        </p:nvSpPr>
        <p:spPr>
          <a:xfrm>
            <a:off x="500844" y="904842"/>
            <a:ext cx="7793100" cy="72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Arial"/>
              <a:buNone/>
            </a:pPr>
            <a:r>
              <a:rPr b="1" i="0" lang="en-US" sz="2900" u="none" cap="none" strike="noStrike">
                <a:solidFill>
                  <a:srgbClr val="993300"/>
                </a:solidFill>
                <a:latin typeface="Times New Roman"/>
                <a:ea typeface="Times New Roman"/>
                <a:cs typeface="Times New Roman"/>
                <a:sym typeface="Times New Roman"/>
              </a:rPr>
              <a:t>Partitioning I</a:t>
            </a:r>
            <a:endParaRPr b="1" sz="300"/>
          </a:p>
        </p:txBody>
      </p:sp>
      <p:sp>
        <p:nvSpPr>
          <p:cNvPr id="689" name="Google Shape;689;p22"/>
          <p:cNvSpPr txBox="1"/>
          <p:nvPr/>
        </p:nvSpPr>
        <p:spPr>
          <a:xfrm>
            <a:off x="174524" y="1880419"/>
            <a:ext cx="7772400" cy="4800600"/>
          </a:xfrm>
          <a:prstGeom prst="rect">
            <a:avLst/>
          </a:prstGeom>
          <a:noFill/>
          <a:ln>
            <a:noFill/>
          </a:ln>
        </p:spPr>
        <p:txBody>
          <a:bodyPr anchorCtr="0" anchor="t" bIns="45700" lIns="91425" spcFirstLastPara="1" rIns="91425" wrap="square" tIns="45700">
            <a:noAutofit/>
          </a:bodyPr>
          <a:lstStyle/>
          <a:p>
            <a:pPr indent="-315913" lvl="0" marL="341313" marR="0" rtl="0" algn="l">
              <a:lnSpc>
                <a:spcPct val="100000"/>
              </a:lnSpc>
              <a:spcBef>
                <a:spcPts val="0"/>
              </a:spcBef>
              <a:spcAft>
                <a:spcPts val="0"/>
              </a:spcAft>
              <a:buClr>
                <a:srgbClr val="9900FF"/>
              </a:buClr>
              <a:buSzPts val="1280"/>
              <a:buFont typeface="Times New Roman"/>
              <a:buChar char="❏"/>
            </a:pPr>
            <a:r>
              <a:rPr i="0" lang="en-US" sz="2400" u="none" cap="none" strike="noStrike">
                <a:solidFill>
                  <a:srgbClr val="000000"/>
                </a:solidFill>
                <a:latin typeface="Times New Roman"/>
                <a:ea typeface="Times New Roman"/>
                <a:cs typeface="Times New Roman"/>
                <a:sym typeface="Times New Roman"/>
              </a:rPr>
              <a:t>Choose an array value (say, the first) to use as the pivot</a:t>
            </a:r>
            <a:endParaRPr sz="1000">
              <a:latin typeface="Times New Roman"/>
              <a:ea typeface="Times New Roman"/>
              <a:cs typeface="Times New Roman"/>
              <a:sym typeface="Times New Roman"/>
            </a:endParaRPr>
          </a:p>
          <a:p>
            <a:pPr indent="-315913" lvl="0" marL="341313" marR="0" rtl="0" algn="l">
              <a:lnSpc>
                <a:spcPct val="100000"/>
              </a:lnSpc>
              <a:spcBef>
                <a:spcPts val="700"/>
              </a:spcBef>
              <a:spcAft>
                <a:spcPts val="0"/>
              </a:spcAft>
              <a:buClr>
                <a:srgbClr val="9900FF"/>
              </a:buClr>
              <a:buSzPts val="1280"/>
              <a:buFont typeface="Times New Roman"/>
              <a:buChar char="❏"/>
            </a:pPr>
            <a:r>
              <a:rPr i="0" lang="en-US" sz="2400" u="none" cap="none" strike="noStrike">
                <a:solidFill>
                  <a:srgbClr val="000000"/>
                </a:solidFill>
                <a:latin typeface="Times New Roman"/>
                <a:ea typeface="Times New Roman"/>
                <a:cs typeface="Times New Roman"/>
                <a:sym typeface="Times New Roman"/>
              </a:rPr>
              <a:t>Starting from the left end, find the first element that is greater than or equal to the pivot</a:t>
            </a:r>
            <a:endParaRPr sz="1000">
              <a:latin typeface="Times New Roman"/>
              <a:ea typeface="Times New Roman"/>
              <a:cs typeface="Times New Roman"/>
              <a:sym typeface="Times New Roman"/>
            </a:endParaRPr>
          </a:p>
          <a:p>
            <a:pPr indent="-315913" lvl="0" marL="341313" marR="0" rtl="0" algn="l">
              <a:lnSpc>
                <a:spcPct val="100000"/>
              </a:lnSpc>
              <a:spcBef>
                <a:spcPts val="700"/>
              </a:spcBef>
              <a:spcAft>
                <a:spcPts val="0"/>
              </a:spcAft>
              <a:buClr>
                <a:srgbClr val="9900FF"/>
              </a:buClr>
              <a:buSzPts val="1280"/>
              <a:buFont typeface="Times New Roman"/>
              <a:buChar char="❏"/>
            </a:pPr>
            <a:r>
              <a:rPr i="0" lang="en-US" sz="2400" u="none" cap="none" strike="noStrike">
                <a:solidFill>
                  <a:srgbClr val="000000"/>
                </a:solidFill>
                <a:latin typeface="Times New Roman"/>
                <a:ea typeface="Times New Roman"/>
                <a:cs typeface="Times New Roman"/>
                <a:sym typeface="Times New Roman"/>
              </a:rPr>
              <a:t>Searching backward from the right end, find the first element that is less than the pivot</a:t>
            </a:r>
            <a:endParaRPr sz="1000">
              <a:latin typeface="Times New Roman"/>
              <a:ea typeface="Times New Roman"/>
              <a:cs typeface="Times New Roman"/>
              <a:sym typeface="Times New Roman"/>
            </a:endParaRPr>
          </a:p>
          <a:p>
            <a:pPr indent="-315913" lvl="0" marL="341313" marR="0" rtl="0" algn="l">
              <a:lnSpc>
                <a:spcPct val="100000"/>
              </a:lnSpc>
              <a:spcBef>
                <a:spcPts val="700"/>
              </a:spcBef>
              <a:spcAft>
                <a:spcPts val="0"/>
              </a:spcAft>
              <a:buClr>
                <a:srgbClr val="9900FF"/>
              </a:buClr>
              <a:buSzPts val="1280"/>
              <a:buFont typeface="Times New Roman"/>
              <a:buChar char="❏"/>
            </a:pPr>
            <a:r>
              <a:rPr i="0" lang="en-US" sz="2400" u="none" cap="none" strike="noStrike">
                <a:solidFill>
                  <a:srgbClr val="000000"/>
                </a:solidFill>
                <a:latin typeface="Times New Roman"/>
                <a:ea typeface="Times New Roman"/>
                <a:cs typeface="Times New Roman"/>
                <a:sym typeface="Times New Roman"/>
              </a:rPr>
              <a:t>Interchange (swap) these two elements</a:t>
            </a:r>
            <a:endParaRPr sz="1000">
              <a:latin typeface="Times New Roman"/>
              <a:ea typeface="Times New Roman"/>
              <a:cs typeface="Times New Roman"/>
              <a:sym typeface="Times New Roman"/>
            </a:endParaRPr>
          </a:p>
          <a:p>
            <a:pPr indent="-315913" lvl="0" marL="341313" marR="0" rtl="0" algn="l">
              <a:lnSpc>
                <a:spcPct val="100000"/>
              </a:lnSpc>
              <a:spcBef>
                <a:spcPts val="700"/>
              </a:spcBef>
              <a:spcAft>
                <a:spcPts val="0"/>
              </a:spcAft>
              <a:buClr>
                <a:srgbClr val="9900FF"/>
              </a:buClr>
              <a:buSzPts val="1280"/>
              <a:buFont typeface="Times New Roman"/>
              <a:buChar char="❏"/>
            </a:pPr>
            <a:r>
              <a:rPr i="0" lang="en-US" sz="2400" u="none" cap="none" strike="noStrike">
                <a:solidFill>
                  <a:srgbClr val="000000"/>
                </a:solidFill>
                <a:latin typeface="Times New Roman"/>
                <a:ea typeface="Times New Roman"/>
                <a:cs typeface="Times New Roman"/>
                <a:sym typeface="Times New Roman"/>
              </a:rPr>
              <a:t>Repeat, searching from where we left off, until done</a:t>
            </a:r>
            <a:endParaRPr sz="10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2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95" name="Google Shape;695;p2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96" name="Google Shape;696;p2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97" name="Google Shape;697;p2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98" name="Google Shape;698;p2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p2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0" name="Google Shape;700;p2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01" name="Google Shape;701;p2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02" name="Google Shape;702;p23"/>
          <p:cNvSpPr txBox="1"/>
          <p:nvPr/>
        </p:nvSpPr>
        <p:spPr>
          <a:xfrm>
            <a:off x="197794" y="474407"/>
            <a:ext cx="8814444" cy="115657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993300"/>
              </a:buClr>
              <a:buSzPts val="4000"/>
              <a:buFont typeface="Arial"/>
              <a:buNone/>
            </a:pPr>
            <a:r>
              <a:rPr b="1" lang="en-US" sz="2900">
                <a:solidFill>
                  <a:srgbClr val="993300"/>
                </a:solidFill>
                <a:latin typeface="Times New Roman"/>
                <a:ea typeface="Times New Roman"/>
                <a:cs typeface="Times New Roman"/>
                <a:sym typeface="Times New Roman"/>
              </a:rPr>
              <a:t>Partitioning II</a:t>
            </a:r>
            <a:endParaRPr/>
          </a:p>
        </p:txBody>
      </p:sp>
      <p:sp>
        <p:nvSpPr>
          <p:cNvPr id="703" name="Google Shape;703;p23"/>
          <p:cNvSpPr txBox="1"/>
          <p:nvPr/>
        </p:nvSpPr>
        <p:spPr>
          <a:xfrm>
            <a:off x="381000" y="1998407"/>
            <a:ext cx="8534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Times New Roman"/>
                <a:ea typeface="Times New Roman"/>
                <a:cs typeface="Times New Roman"/>
                <a:sym typeface="Times New Roman"/>
              </a:rPr>
              <a:t>To partition a[left...right]:</a:t>
            </a:r>
            <a:endParaRPr b="1"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sz="2800">
              <a:latin typeface="Times New Roman"/>
              <a:ea typeface="Times New Roman"/>
              <a:cs typeface="Times New Roman"/>
              <a:sym typeface="Times New Roman"/>
            </a:endParaRPr>
          </a:p>
          <a:p>
            <a:pPr indent="-361950" lvl="0" marL="457200" marR="0" rtl="0" algn="l">
              <a:lnSpc>
                <a:spcPct val="100000"/>
              </a:lnSpc>
              <a:spcBef>
                <a:spcPts val="600"/>
              </a:spcBef>
              <a:spcAft>
                <a:spcPts val="0"/>
              </a:spcAft>
              <a:buClr>
                <a:schemeClr val="dk1"/>
              </a:buClr>
              <a:buSzPts val="2100"/>
              <a:buFont typeface="Trebuchet MS"/>
              <a:buChar char="➢"/>
            </a:pPr>
            <a:r>
              <a:rPr b="0" i="1" lang="en-US" sz="2100" u="none" cap="none" strike="noStrike">
                <a:solidFill>
                  <a:schemeClr val="dk1"/>
                </a:solidFill>
                <a:latin typeface="Trebuchet MS"/>
                <a:ea typeface="Trebuchet MS"/>
                <a:cs typeface="Trebuchet MS"/>
                <a:sym typeface="Trebuchet MS"/>
              </a:rPr>
              <a:t>Set pivot = a[left], l = left + 1, r = right;</a:t>
            </a:r>
            <a:endParaRPr i="1" sz="1100">
              <a:solidFill>
                <a:schemeClr val="dk1"/>
              </a:solidFill>
            </a:endParaRPr>
          </a:p>
          <a:p>
            <a:pPr indent="-361950" lvl="0" marL="457200" marR="0" rtl="0" algn="l">
              <a:lnSpc>
                <a:spcPct val="100000"/>
              </a:lnSpc>
              <a:spcBef>
                <a:spcPts val="0"/>
              </a:spcBef>
              <a:spcAft>
                <a:spcPts val="0"/>
              </a:spcAft>
              <a:buClr>
                <a:schemeClr val="dk1"/>
              </a:buClr>
              <a:buSzPts val="2100"/>
              <a:buFont typeface="Trebuchet MS"/>
              <a:buChar char="➢"/>
            </a:pPr>
            <a:r>
              <a:rPr b="0" i="1" lang="en-US" sz="2100" u="none" cap="none" strike="noStrike">
                <a:solidFill>
                  <a:schemeClr val="dk1"/>
                </a:solidFill>
                <a:latin typeface="Trebuchet MS"/>
                <a:ea typeface="Trebuchet MS"/>
                <a:cs typeface="Trebuchet MS"/>
                <a:sym typeface="Trebuchet MS"/>
              </a:rPr>
              <a:t>while l &lt; r, do</a:t>
            </a:r>
            <a:endParaRPr i="1" sz="1100">
              <a:solidFill>
                <a:schemeClr val="dk1"/>
              </a:solidFill>
            </a:endParaRPr>
          </a:p>
          <a:p>
            <a:pPr indent="457200" lvl="0" marL="914400" marR="0" rtl="0" algn="l">
              <a:lnSpc>
                <a:spcPct val="100000"/>
              </a:lnSpc>
              <a:spcBef>
                <a:spcPts val="600"/>
              </a:spcBef>
              <a:spcAft>
                <a:spcPts val="0"/>
              </a:spcAft>
              <a:buNone/>
            </a:pPr>
            <a:r>
              <a:rPr b="0" i="1" lang="en-US" sz="2100" u="none" cap="none" strike="noStrike">
                <a:solidFill>
                  <a:schemeClr val="dk1"/>
                </a:solidFill>
                <a:latin typeface="Trebuchet MS"/>
                <a:ea typeface="Trebuchet MS"/>
                <a:cs typeface="Trebuchet MS"/>
                <a:sym typeface="Trebuchet MS"/>
              </a:rPr>
              <a:t>while l &lt; right &amp; a[l] &lt; pivot , set l = l + 1</a:t>
            </a:r>
            <a:endParaRPr i="1" sz="1100">
              <a:solidFill>
                <a:schemeClr val="dk1"/>
              </a:solidFill>
            </a:endParaRPr>
          </a:p>
          <a:p>
            <a:pPr indent="457200" lvl="0" marL="914400" marR="0" rtl="0" algn="l">
              <a:lnSpc>
                <a:spcPct val="100000"/>
              </a:lnSpc>
              <a:spcBef>
                <a:spcPts val="600"/>
              </a:spcBef>
              <a:spcAft>
                <a:spcPts val="0"/>
              </a:spcAft>
              <a:buNone/>
            </a:pPr>
            <a:r>
              <a:rPr b="0" i="1" lang="en-US" sz="2100" u="none" cap="none" strike="noStrike">
                <a:solidFill>
                  <a:schemeClr val="dk1"/>
                </a:solidFill>
                <a:latin typeface="Trebuchet MS"/>
                <a:ea typeface="Trebuchet MS"/>
                <a:cs typeface="Trebuchet MS"/>
                <a:sym typeface="Trebuchet MS"/>
              </a:rPr>
              <a:t>while r &gt; left &amp; a[r] &gt;= pivot , set r = r - 1</a:t>
            </a:r>
            <a:endParaRPr i="1" sz="1100">
              <a:solidFill>
                <a:schemeClr val="dk1"/>
              </a:solidFill>
            </a:endParaRPr>
          </a:p>
          <a:p>
            <a:pPr indent="457200" lvl="0" marL="914400" marR="0" rtl="0" algn="l">
              <a:lnSpc>
                <a:spcPct val="100000"/>
              </a:lnSpc>
              <a:spcBef>
                <a:spcPts val="600"/>
              </a:spcBef>
              <a:spcAft>
                <a:spcPts val="0"/>
              </a:spcAft>
              <a:buNone/>
            </a:pPr>
            <a:r>
              <a:rPr b="0" i="1" lang="en-US" sz="2100" u="none" cap="none" strike="noStrike">
                <a:solidFill>
                  <a:schemeClr val="dk1"/>
                </a:solidFill>
                <a:latin typeface="Trebuchet MS"/>
                <a:ea typeface="Trebuchet MS"/>
                <a:cs typeface="Trebuchet MS"/>
                <a:sym typeface="Trebuchet MS"/>
              </a:rPr>
              <a:t>if l &lt; r, swap a[l] and a[r]</a:t>
            </a:r>
            <a:endParaRPr i="1" sz="1100">
              <a:solidFill>
                <a:schemeClr val="dk1"/>
              </a:solidFill>
            </a:endParaRPr>
          </a:p>
          <a:p>
            <a:pPr indent="-361950" lvl="0" marL="457200" marR="0" rtl="0" algn="l">
              <a:lnSpc>
                <a:spcPct val="100000"/>
              </a:lnSpc>
              <a:spcBef>
                <a:spcPts val="600"/>
              </a:spcBef>
              <a:spcAft>
                <a:spcPts val="0"/>
              </a:spcAft>
              <a:buClr>
                <a:schemeClr val="dk1"/>
              </a:buClr>
              <a:buSzPts val="2100"/>
              <a:buFont typeface="Trebuchet MS"/>
              <a:buChar char="➢"/>
            </a:pPr>
            <a:r>
              <a:rPr b="0" i="1" lang="en-US" sz="2100" u="none" cap="none" strike="noStrike">
                <a:solidFill>
                  <a:schemeClr val="dk1"/>
                </a:solidFill>
                <a:latin typeface="Trebuchet MS"/>
                <a:ea typeface="Trebuchet MS"/>
                <a:cs typeface="Trebuchet MS"/>
                <a:sym typeface="Trebuchet MS"/>
              </a:rPr>
              <a:t>Set a[left] = a[r], a[r] = pivot </a:t>
            </a:r>
            <a:endParaRPr i="1" sz="1100">
              <a:solidFill>
                <a:schemeClr val="dk1"/>
              </a:solidFill>
            </a:endParaRPr>
          </a:p>
          <a:p>
            <a:pPr indent="-361950" lvl="0" marL="457200" marR="0" rtl="0" algn="l">
              <a:lnSpc>
                <a:spcPct val="100000"/>
              </a:lnSpc>
              <a:spcBef>
                <a:spcPts val="0"/>
              </a:spcBef>
              <a:spcAft>
                <a:spcPts val="0"/>
              </a:spcAft>
              <a:buClr>
                <a:schemeClr val="dk1"/>
              </a:buClr>
              <a:buSzPts val="2100"/>
              <a:buFont typeface="Trebuchet MS"/>
              <a:buChar char="➢"/>
            </a:pPr>
            <a:r>
              <a:rPr b="0" i="1" lang="en-US" sz="2100" u="none" cap="none" strike="noStrike">
                <a:solidFill>
                  <a:schemeClr val="dk1"/>
                </a:solidFill>
                <a:latin typeface="Trebuchet MS"/>
                <a:ea typeface="Trebuchet MS"/>
                <a:cs typeface="Trebuchet MS"/>
                <a:sym typeface="Trebuchet MS"/>
              </a:rPr>
              <a:t>Terminate</a:t>
            </a:r>
            <a:endParaRPr i="1" sz="11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0" st="0"/>
                                            </p:txEl>
                                          </p:spTgt>
                                        </p:tgtEl>
                                        <p:attrNameLst>
                                          <p:attrName>style.visibility</p:attrName>
                                        </p:attrNameLst>
                                      </p:cBhvr>
                                      <p:to>
                                        <p:strVal val="visible"/>
                                      </p:to>
                                    </p:set>
                                    <p:animEffect filter="fade" transition="in">
                                      <p:cBhvr>
                                        <p:cTn dur="500"/>
                                        <p:tgtEl>
                                          <p:spTgt spid="7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1" st="1"/>
                                            </p:txEl>
                                          </p:spTgt>
                                        </p:tgtEl>
                                        <p:attrNameLst>
                                          <p:attrName>style.visibility</p:attrName>
                                        </p:attrNameLst>
                                      </p:cBhvr>
                                      <p:to>
                                        <p:strVal val="visible"/>
                                      </p:to>
                                    </p:set>
                                    <p:animEffect filter="fade" transition="in">
                                      <p:cBhvr>
                                        <p:cTn dur="500"/>
                                        <p:tgtEl>
                                          <p:spTgt spid="7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2" st="2"/>
                                            </p:txEl>
                                          </p:spTgt>
                                        </p:tgtEl>
                                        <p:attrNameLst>
                                          <p:attrName>style.visibility</p:attrName>
                                        </p:attrNameLst>
                                      </p:cBhvr>
                                      <p:to>
                                        <p:strVal val="visible"/>
                                      </p:to>
                                    </p:set>
                                    <p:animEffect filter="fade" transition="in">
                                      <p:cBhvr>
                                        <p:cTn dur="500"/>
                                        <p:tgtEl>
                                          <p:spTgt spid="7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3" st="3"/>
                                            </p:txEl>
                                          </p:spTgt>
                                        </p:tgtEl>
                                        <p:attrNameLst>
                                          <p:attrName>style.visibility</p:attrName>
                                        </p:attrNameLst>
                                      </p:cBhvr>
                                      <p:to>
                                        <p:strVal val="visible"/>
                                      </p:to>
                                    </p:set>
                                    <p:animEffect filter="fade" transition="in">
                                      <p:cBhvr>
                                        <p:cTn dur="500"/>
                                        <p:tgtEl>
                                          <p:spTgt spid="7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4" st="4"/>
                                            </p:txEl>
                                          </p:spTgt>
                                        </p:tgtEl>
                                        <p:attrNameLst>
                                          <p:attrName>style.visibility</p:attrName>
                                        </p:attrNameLst>
                                      </p:cBhvr>
                                      <p:to>
                                        <p:strVal val="visible"/>
                                      </p:to>
                                    </p:set>
                                    <p:animEffect filter="fade" transition="in">
                                      <p:cBhvr>
                                        <p:cTn dur="500"/>
                                        <p:tgtEl>
                                          <p:spTgt spid="7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5" st="5"/>
                                            </p:txEl>
                                          </p:spTgt>
                                        </p:tgtEl>
                                        <p:attrNameLst>
                                          <p:attrName>style.visibility</p:attrName>
                                        </p:attrNameLst>
                                      </p:cBhvr>
                                      <p:to>
                                        <p:strVal val="visible"/>
                                      </p:to>
                                    </p:set>
                                    <p:animEffect filter="fade" transition="in">
                                      <p:cBhvr>
                                        <p:cTn dur="500"/>
                                        <p:tgtEl>
                                          <p:spTgt spid="7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6" st="6"/>
                                            </p:txEl>
                                          </p:spTgt>
                                        </p:tgtEl>
                                        <p:attrNameLst>
                                          <p:attrName>style.visibility</p:attrName>
                                        </p:attrNameLst>
                                      </p:cBhvr>
                                      <p:to>
                                        <p:strVal val="visible"/>
                                      </p:to>
                                    </p:set>
                                    <p:animEffect filter="fade" transition="in">
                                      <p:cBhvr>
                                        <p:cTn dur="500"/>
                                        <p:tgtEl>
                                          <p:spTgt spid="7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7" st="7"/>
                                            </p:txEl>
                                          </p:spTgt>
                                        </p:tgtEl>
                                        <p:attrNameLst>
                                          <p:attrName>style.visibility</p:attrName>
                                        </p:attrNameLst>
                                      </p:cBhvr>
                                      <p:to>
                                        <p:strVal val="visible"/>
                                      </p:to>
                                    </p:set>
                                    <p:animEffect filter="fade" transition="in">
                                      <p:cBhvr>
                                        <p:cTn dur="500"/>
                                        <p:tgtEl>
                                          <p:spTgt spid="7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xEl>
                                              <p:pRg end="8" st="8"/>
                                            </p:txEl>
                                          </p:spTgt>
                                        </p:tgtEl>
                                        <p:attrNameLst>
                                          <p:attrName>style.visibility</p:attrName>
                                        </p:attrNameLst>
                                      </p:cBhvr>
                                      <p:to>
                                        <p:strVal val="visible"/>
                                      </p:to>
                                    </p:set>
                                    <p:animEffect filter="fade" transition="in">
                                      <p:cBhvr>
                                        <p:cTn dur="500"/>
                                        <p:tgtEl>
                                          <p:spTgt spid="70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2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09" name="Google Shape;709;p2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10" name="Google Shape;710;p2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11" name="Google Shape;711;p2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12" name="Google Shape;712;p2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2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4" name="Google Shape;714;p2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15" name="Google Shape;715;p2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16" name="Google Shape;716;p24"/>
          <p:cNvSpPr txBox="1"/>
          <p:nvPr/>
        </p:nvSpPr>
        <p:spPr>
          <a:xfrm>
            <a:off x="-98324" y="995518"/>
            <a:ext cx="7793038" cy="838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Arial"/>
              <a:buNone/>
            </a:pPr>
            <a:r>
              <a:rPr b="0" i="0" lang="en-US" sz="3500" u="none" cap="none" strike="noStrike">
                <a:solidFill>
                  <a:srgbClr val="993300"/>
                </a:solidFill>
                <a:latin typeface="Times New Roman"/>
                <a:ea typeface="Times New Roman"/>
                <a:cs typeface="Times New Roman"/>
                <a:sym typeface="Times New Roman"/>
              </a:rPr>
              <a:t>Example of </a:t>
            </a:r>
            <a:r>
              <a:rPr lang="en-US" sz="3500">
                <a:solidFill>
                  <a:srgbClr val="993300"/>
                </a:solidFill>
                <a:latin typeface="Times New Roman"/>
                <a:ea typeface="Times New Roman"/>
                <a:cs typeface="Times New Roman"/>
                <a:sym typeface="Times New Roman"/>
              </a:rPr>
              <a:t>P</a:t>
            </a:r>
            <a:r>
              <a:rPr b="0" i="0" lang="en-US" sz="3500" u="none" cap="none" strike="noStrike">
                <a:solidFill>
                  <a:srgbClr val="993300"/>
                </a:solidFill>
                <a:latin typeface="Times New Roman"/>
                <a:ea typeface="Times New Roman"/>
                <a:cs typeface="Times New Roman"/>
                <a:sym typeface="Times New Roman"/>
              </a:rPr>
              <a:t>artitioning</a:t>
            </a:r>
            <a:endParaRPr sz="900"/>
          </a:p>
        </p:txBody>
      </p:sp>
      <p:sp>
        <p:nvSpPr>
          <p:cNvPr id="717" name="Google Shape;717;p24"/>
          <p:cNvSpPr txBox="1"/>
          <p:nvPr/>
        </p:nvSpPr>
        <p:spPr>
          <a:xfrm>
            <a:off x="457200" y="1752600"/>
            <a:ext cx="8458200" cy="4800600"/>
          </a:xfrm>
          <a:prstGeom prst="rect">
            <a:avLst/>
          </a:prstGeom>
          <a:noFill/>
          <a:ln>
            <a:noFill/>
          </a:ln>
        </p:spPr>
        <p:txBody>
          <a:bodyPr anchorCtr="0" anchor="t" bIns="45700" lIns="91425" spcFirstLastPara="1" rIns="91425" wrap="square" tIns="45700">
            <a:noAutofit/>
          </a:bodyPr>
          <a:lstStyle/>
          <a:p>
            <a:pPr indent="-341313" lvl="0" marL="341313" marR="0" rtl="0" algn="l">
              <a:lnSpc>
                <a:spcPct val="100000"/>
              </a:lnSpc>
              <a:spcBef>
                <a:spcPts val="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choose pivot: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3 6 9 2 4 3 1 2 1 8 9 3 5 6</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search: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FF0000"/>
                </a:solidFill>
                <a:latin typeface="Times New Roman"/>
                <a:ea typeface="Times New Roman"/>
                <a:cs typeface="Times New Roman"/>
                <a:sym typeface="Times New Roman"/>
              </a:rPr>
              <a:t>6</a:t>
            </a:r>
            <a:r>
              <a:rPr b="1" i="0" lang="en-US" sz="2800" u="none" cap="none" strike="noStrike">
                <a:solidFill>
                  <a:srgbClr val="000000"/>
                </a:solidFill>
                <a:latin typeface="Times New Roman"/>
                <a:ea typeface="Times New Roman"/>
                <a:cs typeface="Times New Roman"/>
                <a:sym typeface="Times New Roman"/>
              </a:rPr>
              <a:t> 9 2 4 3 1 2 1 8 9 </a:t>
            </a:r>
            <a:r>
              <a:rPr b="1" i="0" lang="en-US" sz="2800" u="none" cap="none" strike="noStrike">
                <a:solidFill>
                  <a:srgbClr val="BF7300"/>
                </a:solidFill>
                <a:latin typeface="Times New Roman"/>
                <a:ea typeface="Times New Roman"/>
                <a:cs typeface="Times New Roman"/>
                <a:sym typeface="Times New Roman"/>
              </a:rPr>
              <a:t>3</a:t>
            </a:r>
            <a:r>
              <a:rPr b="1" i="0" lang="en-US" sz="2800" u="none" cap="none" strike="noStrike">
                <a:solidFill>
                  <a:srgbClr val="0099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5 6</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swap: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BF7300"/>
                </a:solidFill>
                <a:latin typeface="Times New Roman"/>
                <a:ea typeface="Times New Roman"/>
                <a:cs typeface="Times New Roman"/>
                <a:sym typeface="Times New Roman"/>
              </a:rPr>
              <a:t>3</a:t>
            </a:r>
            <a:r>
              <a:rPr b="1" i="0" lang="en-US" sz="2800" u="none" cap="none" strike="noStrike">
                <a:solidFill>
                  <a:srgbClr val="000000"/>
                </a:solidFill>
                <a:latin typeface="Times New Roman"/>
                <a:ea typeface="Times New Roman"/>
                <a:cs typeface="Times New Roman"/>
                <a:sym typeface="Times New Roman"/>
              </a:rPr>
              <a:t> 9 2 4 3 1 2 1 8 9 </a:t>
            </a:r>
            <a:r>
              <a:rPr b="1" i="0" lang="en-US" sz="2800" u="none" cap="none" strike="noStrike">
                <a:solidFill>
                  <a:srgbClr val="FF0000"/>
                </a:solidFill>
                <a:latin typeface="Times New Roman"/>
                <a:ea typeface="Times New Roman"/>
                <a:cs typeface="Times New Roman"/>
                <a:sym typeface="Times New Roman"/>
              </a:rPr>
              <a:t>6</a:t>
            </a:r>
            <a:r>
              <a:rPr b="1" i="0" lang="en-US" sz="2800" u="none" cap="none" strike="noStrike">
                <a:solidFill>
                  <a:srgbClr val="0099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5 6</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search: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3 3</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FF0000"/>
                </a:solidFill>
                <a:latin typeface="Times New Roman"/>
                <a:ea typeface="Times New Roman"/>
                <a:cs typeface="Times New Roman"/>
                <a:sym typeface="Times New Roman"/>
              </a:rPr>
              <a:t>9</a:t>
            </a:r>
            <a:r>
              <a:rPr b="1" i="0" lang="en-US" sz="2800" u="none" cap="none" strike="noStrike">
                <a:solidFill>
                  <a:srgbClr val="000000"/>
                </a:solidFill>
                <a:latin typeface="Times New Roman"/>
                <a:ea typeface="Times New Roman"/>
                <a:cs typeface="Times New Roman"/>
                <a:sym typeface="Times New Roman"/>
              </a:rPr>
              <a:t> 2 4 3 1 2 </a:t>
            </a:r>
            <a:r>
              <a:rPr b="1" i="0" lang="en-US" sz="2800" u="none" cap="none" strike="noStrike">
                <a:solidFill>
                  <a:srgbClr val="BF7300"/>
                </a:solidFill>
                <a:latin typeface="Times New Roman"/>
                <a:ea typeface="Times New Roman"/>
                <a:cs typeface="Times New Roman"/>
                <a:sym typeface="Times New Roman"/>
              </a:rPr>
              <a:t>1</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8 9 6 5 6</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swap: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3366FF"/>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BF7300"/>
                </a:solidFill>
                <a:latin typeface="Times New Roman"/>
                <a:ea typeface="Times New Roman"/>
                <a:cs typeface="Times New Roman"/>
                <a:sym typeface="Times New Roman"/>
              </a:rPr>
              <a:t>1</a:t>
            </a:r>
            <a:r>
              <a:rPr b="1" i="0" lang="en-US" sz="2800" u="none" cap="none" strike="noStrike">
                <a:solidFill>
                  <a:srgbClr val="000000"/>
                </a:solidFill>
                <a:latin typeface="Times New Roman"/>
                <a:ea typeface="Times New Roman"/>
                <a:cs typeface="Times New Roman"/>
                <a:sym typeface="Times New Roman"/>
              </a:rPr>
              <a:t> 2 4 3 1 2 </a:t>
            </a:r>
            <a:r>
              <a:rPr b="1" i="0" lang="en-US" sz="2800" u="none" cap="none" strike="noStrike">
                <a:solidFill>
                  <a:srgbClr val="FF0000"/>
                </a:solidFill>
                <a:latin typeface="Times New Roman"/>
                <a:ea typeface="Times New Roman"/>
                <a:cs typeface="Times New Roman"/>
                <a:sym typeface="Times New Roman"/>
              </a:rPr>
              <a:t>9</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8 9 6</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5 6</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search: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3366FF"/>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3 1 2</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FF00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3 1 </a:t>
            </a:r>
            <a:r>
              <a:rPr b="1" i="0" lang="en-US" sz="2800" u="none" cap="none" strike="noStrike">
                <a:solidFill>
                  <a:srgbClr val="BF7300"/>
                </a:solidFill>
                <a:latin typeface="Times New Roman"/>
                <a:ea typeface="Times New Roman"/>
                <a:cs typeface="Times New Roman"/>
                <a:sym typeface="Times New Roman"/>
              </a:rPr>
              <a:t>2</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9 8 9 6 5 6</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swap: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3366FF"/>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3 1 2</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BF7300"/>
                </a:solidFill>
                <a:latin typeface="Times New Roman"/>
                <a:ea typeface="Times New Roman"/>
                <a:cs typeface="Times New Roman"/>
                <a:sym typeface="Times New Roman"/>
              </a:rPr>
              <a:t>2</a:t>
            </a:r>
            <a:r>
              <a:rPr b="1" i="0" lang="en-US" sz="2800" u="none" cap="none" strike="noStrike">
                <a:solidFill>
                  <a:srgbClr val="000000"/>
                </a:solidFill>
                <a:latin typeface="Times New Roman"/>
                <a:ea typeface="Times New Roman"/>
                <a:cs typeface="Times New Roman"/>
                <a:sym typeface="Times New Roman"/>
              </a:rPr>
              <a:t> 3 1 </a:t>
            </a:r>
            <a:r>
              <a:rPr b="1" i="0" lang="en-US" sz="2800" u="none" cap="none" strike="noStrike">
                <a:solidFill>
                  <a:srgbClr val="FF00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9 8 9 6 5 6</a:t>
            </a:r>
            <a:endParaRPr/>
          </a:p>
          <a:p>
            <a:pPr indent="-341313" lvl="0" marL="341313" marR="0" rtl="0" algn="l">
              <a:lnSpc>
                <a:spcPct val="100000"/>
              </a:lnSpc>
              <a:spcBef>
                <a:spcPts val="5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search: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a:t>
            </a:r>
            <a:r>
              <a:rPr b="1" i="0" lang="en-US" sz="2800" u="none" cap="none" strike="noStrike">
                <a:solidFill>
                  <a:srgbClr val="3366FF"/>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3 1 2 2 3</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BF7300"/>
                </a:solidFill>
                <a:latin typeface="Times New Roman"/>
                <a:ea typeface="Times New Roman"/>
                <a:cs typeface="Times New Roman"/>
                <a:sym typeface="Times New Roman"/>
              </a:rPr>
              <a:t>1</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FF0000"/>
                </a:solidFill>
                <a:latin typeface="Times New Roman"/>
                <a:ea typeface="Times New Roman"/>
                <a:cs typeface="Times New Roman"/>
                <a:sym typeface="Times New Roman"/>
              </a:rPr>
              <a:t>9</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8 9 6</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5 6</a:t>
            </a:r>
            <a:r>
              <a:rPr b="0" i="0" lang="en-US" sz="2000" u="none" cap="none" strike="noStrike">
                <a:solidFill>
                  <a:srgbClr val="000000"/>
                </a:solidFill>
                <a:latin typeface="Times New Roman"/>
                <a:ea typeface="Times New Roman"/>
                <a:cs typeface="Times New Roman"/>
                <a:sym typeface="Times New Roman"/>
              </a:rPr>
              <a:t>  (left &gt; right)</a:t>
            </a:r>
            <a:endParaRPr/>
          </a:p>
          <a:p>
            <a:pPr indent="-341313" lvl="0" marL="341313" marR="0" rtl="0" algn="l">
              <a:lnSpc>
                <a:spcPct val="100000"/>
              </a:lnSpc>
              <a:spcBef>
                <a:spcPts val="700"/>
              </a:spcBef>
              <a:spcAft>
                <a:spcPts val="0"/>
              </a:spcAft>
              <a:buClr>
                <a:srgbClr val="9900FF"/>
              </a:buClr>
              <a:buSzPts val="1440"/>
              <a:buFont typeface="Noto Sans Symbols"/>
              <a:buChar char="■"/>
            </a:pPr>
            <a:r>
              <a:rPr b="0" i="0" lang="en-US" sz="2400" u="none" cap="none" strike="noStrike">
                <a:solidFill>
                  <a:srgbClr val="000000"/>
                </a:solidFill>
                <a:latin typeface="Times New Roman"/>
                <a:ea typeface="Times New Roman"/>
                <a:cs typeface="Times New Roman"/>
                <a:sym typeface="Times New Roman"/>
              </a:rPr>
              <a:t>swap with pivot:	</a:t>
            </a:r>
            <a:r>
              <a:rPr b="1" i="0" lang="en-US" sz="2800" u="none" cap="none" strike="noStrike">
                <a:solidFill>
                  <a:srgbClr val="BF7300"/>
                </a:solidFill>
                <a:latin typeface="Times New Roman"/>
                <a:ea typeface="Times New Roman"/>
                <a:cs typeface="Times New Roman"/>
                <a:sym typeface="Times New Roman"/>
              </a:rPr>
              <a:t>1</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3 3 1 2 2 3</a:t>
            </a:r>
            <a:r>
              <a:rPr b="1" i="0" lang="en-US" sz="2800" u="none" cap="none" strike="noStrike">
                <a:solidFill>
                  <a:srgbClr val="000000"/>
                </a:solidFill>
                <a:latin typeface="Times New Roman"/>
                <a:ea typeface="Times New Roman"/>
                <a:cs typeface="Times New Roman"/>
                <a:sym typeface="Times New Roman"/>
              </a:rPr>
              <a:t> </a:t>
            </a:r>
            <a:r>
              <a:rPr b="1" i="0" lang="en-US" sz="2800" u="sng" cap="none" strike="noStrike">
                <a:solidFill>
                  <a:srgbClr val="009900"/>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4</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FF0000"/>
                </a:solidFill>
                <a:latin typeface="Times New Roman"/>
                <a:ea typeface="Times New Roman"/>
                <a:cs typeface="Times New Roman"/>
                <a:sym typeface="Times New Roman"/>
              </a:rPr>
              <a:t>9</a:t>
            </a:r>
            <a:r>
              <a:rPr b="1" i="0" lang="en-US" sz="2800" u="none" cap="none" strike="noStrike">
                <a:solidFill>
                  <a:srgbClr val="000000"/>
                </a:solidFill>
                <a:latin typeface="Times New Roman"/>
                <a:ea typeface="Times New Roman"/>
                <a:cs typeface="Times New Roman"/>
                <a:sym typeface="Times New Roman"/>
              </a:rPr>
              <a:t> </a:t>
            </a:r>
            <a:r>
              <a:rPr b="1" i="0" lang="en-US" sz="2800" u="none" cap="none" strike="noStrike">
                <a:solidFill>
                  <a:srgbClr val="3300FF"/>
                </a:solidFill>
                <a:latin typeface="Times New Roman"/>
                <a:ea typeface="Times New Roman"/>
                <a:cs typeface="Times New Roman"/>
                <a:sym typeface="Times New Roman"/>
              </a:rPr>
              <a:t>8 9 6 5 6</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2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23" name="Google Shape;723;p2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24" name="Google Shape;724;p2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25" name="Google Shape;725;p2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26" name="Google Shape;726;p2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2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2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29" name="Google Shape;729;p2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30" name="Google Shape;730;p25"/>
          <p:cNvSpPr txBox="1"/>
          <p:nvPr/>
        </p:nvSpPr>
        <p:spPr>
          <a:xfrm>
            <a:off x="7239000" y="7118556"/>
            <a:ext cx="19050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31" name="Google Shape;731;p25"/>
          <p:cNvSpPr txBox="1"/>
          <p:nvPr/>
        </p:nvSpPr>
        <p:spPr>
          <a:xfrm>
            <a:off x="1219200" y="946356"/>
            <a:ext cx="7793038" cy="838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Arial"/>
              <a:buNone/>
            </a:pPr>
            <a:r>
              <a:rPr b="1" i="0" lang="en-US" sz="3300" u="none" cap="none" strike="noStrike">
                <a:solidFill>
                  <a:srgbClr val="993300"/>
                </a:solidFill>
                <a:latin typeface="Times New Roman"/>
                <a:ea typeface="Times New Roman"/>
                <a:cs typeface="Times New Roman"/>
                <a:sym typeface="Times New Roman"/>
              </a:rPr>
              <a:t>Typical case for quicksort</a:t>
            </a:r>
            <a:endParaRPr b="1" sz="700"/>
          </a:p>
        </p:txBody>
      </p:sp>
      <p:sp>
        <p:nvSpPr>
          <p:cNvPr id="732" name="Google Shape;732;p25"/>
          <p:cNvSpPr txBox="1"/>
          <p:nvPr/>
        </p:nvSpPr>
        <p:spPr>
          <a:xfrm>
            <a:off x="685800" y="2165556"/>
            <a:ext cx="7924800" cy="4572000"/>
          </a:xfrm>
          <a:prstGeom prst="rect">
            <a:avLst/>
          </a:prstGeom>
          <a:noFill/>
          <a:ln>
            <a:noFill/>
          </a:ln>
        </p:spPr>
        <p:txBody>
          <a:bodyPr anchorCtr="0" anchor="t" bIns="45700" lIns="91425" spcFirstLastPara="1" rIns="91425" wrap="square" tIns="45700">
            <a:noAutofit/>
          </a:bodyPr>
          <a:lstStyle/>
          <a:p>
            <a:pPr indent="-398463" lvl="0" marL="341313" marR="0" rtl="0" algn="l">
              <a:lnSpc>
                <a:spcPct val="100000"/>
              </a:lnSpc>
              <a:spcBef>
                <a:spcPts val="0"/>
              </a:spcBef>
              <a:spcAft>
                <a:spcPts val="0"/>
              </a:spcAft>
              <a:buClr>
                <a:srgbClr val="9900FF"/>
              </a:buClr>
              <a:buSzPts val="2580"/>
              <a:buFont typeface="Noto Sans Symbols"/>
              <a:buChar char="➢"/>
            </a:pPr>
            <a:r>
              <a:rPr i="0" lang="en-US" sz="2600" u="none" cap="none" strike="noStrike">
                <a:solidFill>
                  <a:srgbClr val="000000"/>
                </a:solidFill>
                <a:latin typeface="Times New Roman"/>
                <a:ea typeface="Times New Roman"/>
                <a:cs typeface="Times New Roman"/>
                <a:sym typeface="Times New Roman"/>
              </a:rPr>
              <a:t>If the array is sorted to begin with, Quicksort is terrible: </a:t>
            </a:r>
            <a:r>
              <a:rPr i="0" lang="en-US" sz="2600" u="none" cap="none" strike="noStrike">
                <a:solidFill>
                  <a:srgbClr val="3300FF"/>
                </a:solidFill>
                <a:latin typeface="Times New Roman"/>
                <a:ea typeface="Times New Roman"/>
                <a:cs typeface="Times New Roman"/>
                <a:sym typeface="Times New Roman"/>
              </a:rPr>
              <a:t>O(n</a:t>
            </a:r>
            <a:r>
              <a:rPr baseline="30000" i="0" lang="en-US" sz="2600" u="none" cap="none" strike="noStrike">
                <a:solidFill>
                  <a:srgbClr val="3300FF"/>
                </a:solidFill>
                <a:latin typeface="Times New Roman"/>
                <a:ea typeface="Times New Roman"/>
                <a:cs typeface="Times New Roman"/>
                <a:sym typeface="Times New Roman"/>
              </a:rPr>
              <a:t>2</a:t>
            </a:r>
            <a:r>
              <a:rPr i="0" lang="en-US" sz="2600" u="none" cap="none" strike="noStrike">
                <a:solidFill>
                  <a:srgbClr val="3300FF"/>
                </a:solidFill>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398463" lvl="0" marL="341313" marR="0" rtl="0" algn="l">
              <a:lnSpc>
                <a:spcPct val="100000"/>
              </a:lnSpc>
              <a:spcBef>
                <a:spcPts val="700"/>
              </a:spcBef>
              <a:spcAft>
                <a:spcPts val="0"/>
              </a:spcAft>
              <a:buClr>
                <a:srgbClr val="9900FF"/>
              </a:buClr>
              <a:buSzPts val="2580"/>
              <a:buFont typeface="Times New Roman"/>
              <a:buChar char="➢"/>
            </a:pPr>
            <a:r>
              <a:rPr i="0" lang="en-US" sz="2600" u="none" cap="none" strike="noStrike">
                <a:solidFill>
                  <a:srgbClr val="000000"/>
                </a:solidFill>
                <a:latin typeface="Times New Roman"/>
                <a:ea typeface="Times New Roman"/>
                <a:cs typeface="Times New Roman"/>
                <a:sym typeface="Times New Roman"/>
              </a:rPr>
              <a:t>It is possible to construct other bad cases</a:t>
            </a:r>
            <a:endParaRPr sz="1200">
              <a:latin typeface="Times New Roman"/>
              <a:ea typeface="Times New Roman"/>
              <a:cs typeface="Times New Roman"/>
              <a:sym typeface="Times New Roman"/>
            </a:endParaRPr>
          </a:p>
          <a:p>
            <a:pPr indent="-398463" lvl="0" marL="341313" marR="0" rtl="0" algn="l">
              <a:lnSpc>
                <a:spcPct val="100000"/>
              </a:lnSpc>
              <a:spcBef>
                <a:spcPts val="700"/>
              </a:spcBef>
              <a:spcAft>
                <a:spcPts val="0"/>
              </a:spcAft>
              <a:buClr>
                <a:srgbClr val="9900FF"/>
              </a:buClr>
              <a:buSzPts val="2580"/>
              <a:buFont typeface="Noto Sans Symbols"/>
              <a:buChar char="➢"/>
            </a:pPr>
            <a:r>
              <a:rPr i="0" lang="en-US" sz="2600" u="none" cap="none" strike="noStrike">
                <a:solidFill>
                  <a:srgbClr val="000000"/>
                </a:solidFill>
                <a:latin typeface="Times New Roman"/>
                <a:ea typeface="Times New Roman"/>
                <a:cs typeface="Times New Roman"/>
                <a:sym typeface="Times New Roman"/>
              </a:rPr>
              <a:t>However, Quicksort is </a:t>
            </a:r>
            <a:r>
              <a:rPr i="1" lang="en-US" sz="2600" u="none" cap="none" strike="noStrike">
                <a:solidFill>
                  <a:srgbClr val="000000"/>
                </a:solidFill>
                <a:latin typeface="Times New Roman"/>
                <a:ea typeface="Times New Roman"/>
                <a:cs typeface="Times New Roman"/>
                <a:sym typeface="Times New Roman"/>
              </a:rPr>
              <a:t>usually</a:t>
            </a:r>
            <a:r>
              <a:rPr i="0" lang="en-US" sz="2600" u="none" cap="none" strike="noStrike">
                <a:solidFill>
                  <a:srgbClr val="000000"/>
                </a:solidFill>
                <a:latin typeface="Times New Roman"/>
                <a:ea typeface="Times New Roman"/>
                <a:cs typeface="Times New Roman"/>
                <a:sym typeface="Times New Roman"/>
              </a:rPr>
              <a:t> </a:t>
            </a:r>
            <a:r>
              <a:rPr i="0" lang="en-US" sz="2600" u="none" cap="none" strike="noStrike">
                <a:solidFill>
                  <a:srgbClr val="3300FF"/>
                </a:solidFill>
                <a:latin typeface="Times New Roman"/>
                <a:ea typeface="Times New Roman"/>
                <a:cs typeface="Times New Roman"/>
                <a:sym typeface="Times New Roman"/>
              </a:rPr>
              <a:t>O(n log</a:t>
            </a:r>
            <a:r>
              <a:rPr baseline="-25000" i="0" lang="en-US" sz="2600" u="none" cap="none" strike="noStrike">
                <a:solidFill>
                  <a:srgbClr val="3300FF"/>
                </a:solidFill>
                <a:latin typeface="Times New Roman"/>
                <a:ea typeface="Times New Roman"/>
                <a:cs typeface="Times New Roman"/>
                <a:sym typeface="Times New Roman"/>
              </a:rPr>
              <a:t>2</a:t>
            </a:r>
            <a:r>
              <a:rPr i="0" lang="en-US" sz="2600" u="none" cap="none" strike="noStrike">
                <a:solidFill>
                  <a:srgbClr val="3300FF"/>
                </a:solidFill>
                <a:latin typeface="Times New Roman"/>
                <a:ea typeface="Times New Roman"/>
                <a:cs typeface="Times New Roman"/>
                <a:sym typeface="Times New Roman"/>
              </a:rPr>
              <a:t>n)</a:t>
            </a:r>
            <a:endParaRPr sz="1200">
              <a:latin typeface="Times New Roman"/>
              <a:ea typeface="Times New Roman"/>
              <a:cs typeface="Times New Roman"/>
              <a:sym typeface="Times New Roman"/>
            </a:endParaRPr>
          </a:p>
          <a:p>
            <a:pPr indent="-398463" lvl="0" marL="341313" marR="0" rtl="0" algn="l">
              <a:lnSpc>
                <a:spcPct val="100000"/>
              </a:lnSpc>
              <a:spcBef>
                <a:spcPts val="700"/>
              </a:spcBef>
              <a:spcAft>
                <a:spcPts val="0"/>
              </a:spcAft>
              <a:buClr>
                <a:srgbClr val="9900FF"/>
              </a:buClr>
              <a:buSzPts val="2580"/>
              <a:buFont typeface="Times New Roman"/>
              <a:buChar char="➢"/>
            </a:pPr>
            <a:r>
              <a:rPr i="0" lang="en-US" sz="2600" u="none" cap="none" strike="noStrike">
                <a:solidFill>
                  <a:srgbClr val="000000"/>
                </a:solidFill>
                <a:latin typeface="Times New Roman"/>
                <a:ea typeface="Times New Roman"/>
                <a:cs typeface="Times New Roman"/>
                <a:sym typeface="Times New Roman"/>
              </a:rPr>
              <a:t>The constants are so good that Quicksort is generally the fastest algorithm known</a:t>
            </a:r>
            <a:endParaRPr sz="1200">
              <a:latin typeface="Times New Roman"/>
              <a:ea typeface="Times New Roman"/>
              <a:cs typeface="Times New Roman"/>
              <a:sym typeface="Times New Roman"/>
            </a:endParaRPr>
          </a:p>
          <a:p>
            <a:pPr indent="-398463" lvl="0" marL="341313" marR="0" rtl="0" algn="l">
              <a:lnSpc>
                <a:spcPct val="100000"/>
              </a:lnSpc>
              <a:spcBef>
                <a:spcPts val="700"/>
              </a:spcBef>
              <a:spcAft>
                <a:spcPts val="0"/>
              </a:spcAft>
              <a:buClr>
                <a:srgbClr val="9900FF"/>
              </a:buClr>
              <a:buSzPts val="2580"/>
              <a:buFont typeface="Times New Roman"/>
              <a:buChar char="➢"/>
            </a:pPr>
            <a:r>
              <a:rPr i="0" lang="en-US" sz="2600" u="none" cap="none" strike="noStrike">
                <a:solidFill>
                  <a:srgbClr val="000000"/>
                </a:solidFill>
                <a:latin typeface="Times New Roman"/>
                <a:ea typeface="Times New Roman"/>
                <a:cs typeface="Times New Roman"/>
                <a:sym typeface="Times New Roman"/>
              </a:rPr>
              <a:t>Most real-world sorting is done by Quicksort</a:t>
            </a:r>
            <a:endParaRPr sz="12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2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38" name="Google Shape;738;p2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39" name="Google Shape;739;p2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40" name="Google Shape;740;p2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41" name="Google Shape;741;p2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2" name="Google Shape;742;p2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3" name="Google Shape;743;p2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44" name="Google Shape;744;p2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45" name="Google Shape;745;p26"/>
          <p:cNvSpPr txBox="1"/>
          <p:nvPr/>
        </p:nvSpPr>
        <p:spPr>
          <a:xfrm>
            <a:off x="380692" y="857671"/>
            <a:ext cx="7925415"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Calibri"/>
              <a:buNone/>
            </a:pPr>
            <a:r>
              <a:rPr b="0" i="0" lang="en-US" sz="4400" u="none" cap="none" strike="noStrike">
                <a:solidFill>
                  <a:schemeClr val="dk1"/>
                </a:solidFill>
                <a:latin typeface="Calibri"/>
                <a:ea typeface="Calibri"/>
                <a:cs typeface="Calibri"/>
                <a:sym typeface="Calibri"/>
              </a:rPr>
              <a:t>Strassen’s Algorithm</a:t>
            </a:r>
            <a:endParaRPr b="0" i="0" sz="4400" u="none" cap="none" strike="noStrike">
              <a:solidFill>
                <a:schemeClr val="dk1"/>
              </a:solidFill>
              <a:latin typeface="Calibri"/>
              <a:ea typeface="Calibri"/>
              <a:cs typeface="Calibri"/>
              <a:sym typeface="Calibri"/>
            </a:endParaRPr>
          </a:p>
        </p:txBody>
      </p:sp>
      <p:sp>
        <p:nvSpPr>
          <p:cNvPr id="746" name="Google Shape;746;p26"/>
          <p:cNvSpPr txBox="1"/>
          <p:nvPr/>
        </p:nvSpPr>
        <p:spPr>
          <a:xfrm>
            <a:off x="450376" y="1869308"/>
            <a:ext cx="8495700" cy="2709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0" lang="en-US" sz="2000" u="none" cap="none" strike="noStrike">
                <a:solidFill>
                  <a:srgbClr val="000000"/>
                </a:solidFill>
                <a:highlight>
                  <a:srgbClr val="FFFFFF"/>
                </a:highlight>
                <a:latin typeface="Times New Roman"/>
                <a:ea typeface="Times New Roman"/>
                <a:cs typeface="Times New Roman"/>
                <a:sym typeface="Times New Roman"/>
              </a:rPr>
              <a:t>Strassen's Matrix Multiplication is the divide and conquer approach to solve the matrix multiplication problems. The usual matrix multiplication method multiplies each row with each column to achieve the product matrix. The time complexity taken by this approach is </a:t>
            </a:r>
            <a:r>
              <a:rPr b="1" i="0" lang="en-US" sz="2000" u="none" cap="none" strike="noStrike">
                <a:solidFill>
                  <a:srgbClr val="000000"/>
                </a:solidFill>
                <a:highlight>
                  <a:srgbClr val="FFFFFF"/>
                </a:highlight>
                <a:latin typeface="Times New Roman"/>
                <a:ea typeface="Times New Roman"/>
                <a:cs typeface="Times New Roman"/>
                <a:sym typeface="Times New Roman"/>
              </a:rPr>
              <a:t>O(n</a:t>
            </a:r>
            <a:r>
              <a:rPr b="1" baseline="30000" i="0" lang="en-US" sz="2000" u="none" cap="none" strike="noStrike">
                <a:solidFill>
                  <a:srgbClr val="000000"/>
                </a:solidFill>
                <a:highlight>
                  <a:srgbClr val="FFFFFF"/>
                </a:highlight>
                <a:latin typeface="Times New Roman"/>
                <a:ea typeface="Times New Roman"/>
                <a:cs typeface="Times New Roman"/>
                <a:sym typeface="Times New Roman"/>
              </a:rPr>
              <a:t>3</a:t>
            </a:r>
            <a:r>
              <a:rPr b="1" i="0" lang="en-US" sz="2000" u="none" cap="none" strike="noStrike">
                <a:solidFill>
                  <a:srgbClr val="000000"/>
                </a:solidFill>
                <a:highlight>
                  <a:srgbClr val="FFFFFF"/>
                </a:highlight>
                <a:latin typeface="Times New Roman"/>
                <a:ea typeface="Times New Roman"/>
                <a:cs typeface="Times New Roman"/>
                <a:sym typeface="Times New Roman"/>
              </a:rPr>
              <a:t>)</a:t>
            </a:r>
            <a:r>
              <a:rPr i="0" lang="en-US" sz="2000" u="none" cap="none" strike="noStrike">
                <a:solidFill>
                  <a:srgbClr val="000000"/>
                </a:solidFill>
                <a:highlight>
                  <a:srgbClr val="FFFFFF"/>
                </a:highlight>
                <a:latin typeface="Times New Roman"/>
                <a:ea typeface="Times New Roman"/>
                <a:cs typeface="Times New Roman"/>
                <a:sym typeface="Times New Roman"/>
              </a:rPr>
              <a:t>, since it takes two loops to multiply. Strassen’s method was introduced to reduce the time complexity from </a:t>
            </a:r>
            <a:r>
              <a:rPr b="1" i="0" lang="en-US" sz="2000" u="none" cap="none" strike="noStrike">
                <a:solidFill>
                  <a:srgbClr val="000000"/>
                </a:solidFill>
                <a:highlight>
                  <a:srgbClr val="FFFFFF"/>
                </a:highlight>
                <a:latin typeface="Times New Roman"/>
                <a:ea typeface="Times New Roman"/>
                <a:cs typeface="Times New Roman"/>
                <a:sym typeface="Times New Roman"/>
              </a:rPr>
              <a:t>O(n</a:t>
            </a:r>
            <a:r>
              <a:rPr b="1" baseline="30000" i="0" lang="en-US" sz="2000" u="none" cap="none" strike="noStrike">
                <a:solidFill>
                  <a:srgbClr val="000000"/>
                </a:solidFill>
                <a:highlight>
                  <a:srgbClr val="FFFFFF"/>
                </a:highlight>
                <a:latin typeface="Times New Roman"/>
                <a:ea typeface="Times New Roman"/>
                <a:cs typeface="Times New Roman"/>
                <a:sym typeface="Times New Roman"/>
              </a:rPr>
              <a:t>3</a:t>
            </a:r>
            <a:r>
              <a:rPr b="1" i="0" lang="en-US" sz="2000" u="none" cap="none" strike="noStrike">
                <a:solidFill>
                  <a:srgbClr val="000000"/>
                </a:solidFill>
                <a:highlight>
                  <a:srgbClr val="FFFFFF"/>
                </a:highlight>
                <a:latin typeface="Times New Roman"/>
                <a:ea typeface="Times New Roman"/>
                <a:cs typeface="Times New Roman"/>
                <a:sym typeface="Times New Roman"/>
              </a:rPr>
              <a:t>)</a:t>
            </a:r>
            <a:r>
              <a:rPr i="0" lang="en-US" sz="2000" u="none" cap="none" strike="noStrike">
                <a:solidFill>
                  <a:srgbClr val="000000"/>
                </a:solidFill>
                <a:highlight>
                  <a:srgbClr val="FFFFFF"/>
                </a:highlight>
                <a:latin typeface="Times New Roman"/>
                <a:ea typeface="Times New Roman"/>
                <a:cs typeface="Times New Roman"/>
                <a:sym typeface="Times New Roman"/>
              </a:rPr>
              <a:t> to </a:t>
            </a:r>
            <a:r>
              <a:rPr b="1" i="0" lang="en-US" sz="2000" u="none" cap="none" strike="noStrike">
                <a:solidFill>
                  <a:srgbClr val="000000"/>
                </a:solidFill>
                <a:highlight>
                  <a:srgbClr val="FFFFFF"/>
                </a:highlight>
                <a:latin typeface="Times New Roman"/>
                <a:ea typeface="Times New Roman"/>
                <a:cs typeface="Times New Roman"/>
                <a:sym typeface="Times New Roman"/>
              </a:rPr>
              <a:t>O(n</a:t>
            </a:r>
            <a:r>
              <a:rPr b="1" baseline="30000" i="0" lang="en-US" sz="2000" u="none" cap="none" strike="noStrike">
                <a:solidFill>
                  <a:srgbClr val="000000"/>
                </a:solidFill>
                <a:highlight>
                  <a:srgbClr val="FFFFFF"/>
                </a:highlight>
                <a:latin typeface="Times New Roman"/>
                <a:ea typeface="Times New Roman"/>
                <a:cs typeface="Times New Roman"/>
                <a:sym typeface="Times New Roman"/>
              </a:rPr>
              <a:t>log 7</a:t>
            </a:r>
            <a:r>
              <a:rPr b="1" i="0" lang="en-US" sz="2000" u="none" cap="none" strike="noStrike">
                <a:solidFill>
                  <a:srgbClr val="000000"/>
                </a:solidFill>
                <a:highlight>
                  <a:srgbClr val="FFFFFF"/>
                </a:highlight>
                <a:latin typeface="Times New Roman"/>
                <a:ea typeface="Times New Roman"/>
                <a:cs typeface="Times New Roman"/>
                <a:sym typeface="Times New Roman"/>
              </a:rPr>
              <a:t>)</a:t>
            </a:r>
            <a:r>
              <a:rPr i="0" lang="en-US" sz="2000" u="none" cap="none" strike="noStrike">
                <a:solidFill>
                  <a:srgbClr val="000000"/>
                </a:solidFill>
                <a:highlight>
                  <a:srgbClr val="FFFFFF"/>
                </a:highlight>
                <a:latin typeface="Times New Roman"/>
                <a:ea typeface="Times New Roman"/>
                <a:cs typeface="Times New Roman"/>
                <a:sym typeface="Times New Roman"/>
              </a:rPr>
              <a:t>.</a:t>
            </a:r>
            <a:endParaRPr i="0" sz="2000" u="none" cap="none" strike="noStrike">
              <a:solidFill>
                <a:srgbClr val="0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2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52" name="Google Shape;752;p2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53" name="Google Shape;753;p2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54" name="Google Shape;754;p2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55" name="Google Shape;755;p2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6" name="Google Shape;756;p2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7" name="Google Shape;757;p2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58" name="Google Shape;758;p2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59" name="Google Shape;759;p27"/>
          <p:cNvSpPr txBox="1"/>
          <p:nvPr/>
        </p:nvSpPr>
        <p:spPr>
          <a:xfrm>
            <a:off x="380692" y="857671"/>
            <a:ext cx="7925415"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Calibri"/>
              <a:buNone/>
            </a:pPr>
            <a:r>
              <a:rPr b="0" i="0" lang="en-US" sz="4400" u="none" cap="none" strike="noStrike">
                <a:solidFill>
                  <a:schemeClr val="dk1"/>
                </a:solidFill>
                <a:latin typeface="Calibri"/>
                <a:ea typeface="Calibri"/>
                <a:cs typeface="Calibri"/>
                <a:sym typeface="Calibri"/>
              </a:rPr>
              <a:t>Strassen’s Algorithm</a:t>
            </a:r>
            <a:endParaRPr b="0" i="0" sz="4400" u="none" cap="none" strike="noStrike">
              <a:solidFill>
                <a:schemeClr val="dk1"/>
              </a:solidFill>
              <a:latin typeface="Calibri"/>
              <a:ea typeface="Calibri"/>
              <a:cs typeface="Calibri"/>
              <a:sym typeface="Calibri"/>
            </a:endParaRPr>
          </a:p>
        </p:txBody>
      </p:sp>
      <p:sp>
        <p:nvSpPr>
          <p:cNvPr id="760" name="Google Shape;760;p27"/>
          <p:cNvSpPr txBox="1"/>
          <p:nvPr/>
        </p:nvSpPr>
        <p:spPr>
          <a:xfrm>
            <a:off x="457200" y="2207342"/>
            <a:ext cx="4114800" cy="1735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Multiply 2 x 2 Matrices:</a:t>
            </a:r>
            <a:endParaRPr/>
          </a:p>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 r    s |    | a    b|   |e    g|</a:t>
            </a:r>
            <a:endParaRPr/>
          </a:p>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 t     u|    | c    d|   | f    h|</a:t>
            </a:r>
            <a:endParaRPr/>
          </a:p>
          <a:p>
            <a:pPr indent="0" lvl="0" marL="0" marR="0" rtl="0" algn="l">
              <a:lnSpc>
                <a:spcPct val="100000"/>
              </a:lnSpc>
              <a:spcBef>
                <a:spcPts val="1200"/>
              </a:spcBef>
              <a:spcAft>
                <a:spcPts val="0"/>
              </a:spcAft>
              <a:buNone/>
            </a:pPr>
            <a:r>
              <a:t/>
            </a:r>
            <a:endParaRPr b="0" i="0" sz="2400" u="none" cap="none" strike="noStrike">
              <a:solidFill>
                <a:schemeClr val="dk1"/>
              </a:solidFill>
              <a:latin typeface="Arial"/>
              <a:ea typeface="Arial"/>
              <a:cs typeface="Arial"/>
              <a:sym typeface="Arial"/>
            </a:endParaRPr>
          </a:p>
        </p:txBody>
      </p:sp>
      <p:sp>
        <p:nvSpPr>
          <p:cNvPr id="761" name="Google Shape;761;p27"/>
          <p:cNvSpPr txBox="1"/>
          <p:nvPr/>
        </p:nvSpPr>
        <p:spPr>
          <a:xfrm>
            <a:off x="533400" y="4340942"/>
            <a:ext cx="3810000" cy="210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r = p</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4</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5</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7</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s = p</a:t>
            </a:r>
            <a:r>
              <a:rPr b="0" baseline="-25000" i="0" lang="en-US" sz="2400" u="none" cap="none" strike="noStrike">
                <a:solidFill>
                  <a:schemeClr val="dk1"/>
                </a:solidFill>
                <a:latin typeface="Arial"/>
                <a:ea typeface="Arial"/>
                <a:cs typeface="Arial"/>
                <a:sym typeface="Arial"/>
              </a:rPr>
              <a:t>3</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5</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t = p</a:t>
            </a:r>
            <a:r>
              <a:rPr b="0" baseline="-25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5</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u = p</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3</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 p</a:t>
            </a:r>
            <a:r>
              <a:rPr b="0" baseline="-25000" i="0" lang="en-US" sz="2400" u="none" cap="none" strike="noStrike">
                <a:solidFill>
                  <a:schemeClr val="dk1"/>
                </a:solidFill>
                <a:latin typeface="Arial"/>
                <a:ea typeface="Arial"/>
                <a:cs typeface="Arial"/>
                <a:sym typeface="Arial"/>
              </a:rPr>
              <a:t>7</a:t>
            </a:r>
            <a:endParaRPr/>
          </a:p>
        </p:txBody>
      </p:sp>
      <p:sp>
        <p:nvSpPr>
          <p:cNvPr id="762" name="Google Shape;762;p27"/>
          <p:cNvSpPr txBox="1"/>
          <p:nvPr/>
        </p:nvSpPr>
        <p:spPr>
          <a:xfrm>
            <a:off x="5029200" y="2435942"/>
            <a:ext cx="3733800" cy="42910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Where:</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1</a:t>
            </a:r>
            <a:r>
              <a:rPr b="0" i="0" lang="en-US" sz="2400" u="none" cap="none" strike="noStrike">
                <a:solidFill>
                  <a:schemeClr val="dk1"/>
                </a:solidFill>
                <a:latin typeface="Arial"/>
                <a:ea typeface="Arial"/>
                <a:cs typeface="Arial"/>
                <a:sym typeface="Arial"/>
              </a:rPr>
              <a:t> = (b + d)(f + g)</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(c + d)e</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3</a:t>
            </a:r>
            <a:r>
              <a:rPr b="0" i="0" lang="en-US" sz="2400" u="none" cap="none" strike="noStrike">
                <a:solidFill>
                  <a:schemeClr val="dk1"/>
                </a:solidFill>
                <a:latin typeface="Arial"/>
                <a:ea typeface="Arial"/>
                <a:cs typeface="Arial"/>
                <a:sym typeface="Arial"/>
              </a:rPr>
              <a:t>= a(g – h)</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4</a:t>
            </a:r>
            <a:r>
              <a:rPr b="0" i="0" lang="en-US" sz="2400" u="none" cap="none" strike="noStrike">
                <a:solidFill>
                  <a:schemeClr val="dk1"/>
                </a:solidFill>
                <a:latin typeface="Arial"/>
                <a:ea typeface="Arial"/>
                <a:cs typeface="Arial"/>
                <a:sym typeface="Arial"/>
              </a:rPr>
              <a:t>= d(f – e)</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5</a:t>
            </a:r>
            <a:r>
              <a:rPr b="0" i="0" lang="en-US" sz="2400" u="none" cap="none" strike="noStrike">
                <a:solidFill>
                  <a:schemeClr val="dk1"/>
                </a:solidFill>
                <a:latin typeface="Arial"/>
                <a:ea typeface="Arial"/>
                <a:cs typeface="Arial"/>
                <a:sym typeface="Arial"/>
              </a:rPr>
              <a:t>= (a – b)h</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6</a:t>
            </a:r>
            <a:r>
              <a:rPr b="0" i="0" lang="en-US" sz="2400" u="none" cap="none" strike="noStrike">
                <a:solidFill>
                  <a:schemeClr val="dk1"/>
                </a:solidFill>
                <a:latin typeface="Arial"/>
                <a:ea typeface="Arial"/>
                <a:cs typeface="Arial"/>
                <a:sym typeface="Arial"/>
              </a:rPr>
              <a:t>= (c – d)(e + g)</a:t>
            </a:r>
            <a:endParaRPr/>
          </a:p>
          <a:p>
            <a:pPr indent="0" lvl="0" marL="0" marR="0" rtl="0" algn="l">
              <a:lnSpc>
                <a:spcPct val="100000"/>
              </a:lnSpc>
              <a:spcBef>
                <a:spcPts val="1200"/>
              </a:spcBef>
              <a:spcAft>
                <a:spcPts val="0"/>
              </a:spcAft>
              <a:buNone/>
            </a:pPr>
            <a:r>
              <a:rPr b="0" i="0" lang="en-US" sz="2400" u="none" cap="none" strike="noStrike">
                <a:solidFill>
                  <a:schemeClr val="dk1"/>
                </a:solidFill>
                <a:latin typeface="Arial"/>
                <a:ea typeface="Arial"/>
                <a:cs typeface="Arial"/>
                <a:sym typeface="Arial"/>
              </a:rPr>
              <a:t>p</a:t>
            </a:r>
            <a:r>
              <a:rPr b="0" baseline="-25000" i="0" lang="en-US" sz="2400" u="none" cap="none" strike="noStrike">
                <a:solidFill>
                  <a:schemeClr val="dk1"/>
                </a:solidFill>
                <a:latin typeface="Arial"/>
                <a:ea typeface="Arial"/>
                <a:cs typeface="Arial"/>
                <a:sym typeface="Arial"/>
              </a:rPr>
              <a:t>7</a:t>
            </a:r>
            <a:r>
              <a:rPr b="0" i="0" lang="en-US" sz="2400" u="none" cap="none" strike="noStrike">
                <a:solidFill>
                  <a:schemeClr val="dk1"/>
                </a:solidFill>
                <a:latin typeface="Arial"/>
                <a:ea typeface="Arial"/>
                <a:cs typeface="Arial"/>
                <a:sym typeface="Arial"/>
              </a:rPr>
              <a:t>= (b – d)(f + h)</a:t>
            </a:r>
            <a:endParaRPr/>
          </a:p>
        </p:txBody>
      </p:sp>
      <p:sp>
        <p:nvSpPr>
          <p:cNvPr id="763" name="Google Shape;763;p27"/>
          <p:cNvSpPr txBox="1"/>
          <p:nvPr/>
        </p:nvSpPr>
        <p:spPr>
          <a:xfrm>
            <a:off x="1447800" y="2740742"/>
            <a:ext cx="361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2018-03-07T17:43:46Z</dcterms:created>
  <dc:creator>User</dc:creator>
</cp:coreProperties>
</file>