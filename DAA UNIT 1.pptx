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Lst>
  <p:sldSz cy="6858000" cx="9144000"/>
  <p:notesSz cx="6888150" cy="10018700"/>
  <p:embeddedFontLst>
    <p:embeddedFont>
      <p:font typeface="Roboto"/>
      <p:regular r:id="rId68"/>
      <p:bold r:id="rId69"/>
      <p:italic r:id="rId70"/>
      <p:boldItalic r:id="rId71"/>
    </p:embeddedFont>
    <p:embeddedFont>
      <p:font typeface="Nunito"/>
      <p:regular r:id="rId72"/>
      <p:bold r:id="rId73"/>
      <p:italic r:id="rId74"/>
      <p:boldItalic r:id="rId7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6" roundtripDataSignature="AMtx7mgOl0TTuOc+3Fwvsr3qysAiRDcy4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Nunito-bold.fntdata"/><Relationship Id="rId72" Type="http://schemas.openxmlformats.org/officeDocument/2006/relationships/font" Target="fonts/Nunito-regular.fntdata"/><Relationship Id="rId31" Type="http://schemas.openxmlformats.org/officeDocument/2006/relationships/slide" Target="slides/slide26.xml"/><Relationship Id="rId75" Type="http://schemas.openxmlformats.org/officeDocument/2006/relationships/font" Target="fonts/Nunito-boldItalic.fntdata"/><Relationship Id="rId30" Type="http://schemas.openxmlformats.org/officeDocument/2006/relationships/slide" Target="slides/slide25.xml"/><Relationship Id="rId74" Type="http://schemas.openxmlformats.org/officeDocument/2006/relationships/font" Target="fonts/Nunito-italic.fntdata"/><Relationship Id="rId33" Type="http://schemas.openxmlformats.org/officeDocument/2006/relationships/slide" Target="slides/slide28.xml"/><Relationship Id="rId32" Type="http://schemas.openxmlformats.org/officeDocument/2006/relationships/slide" Target="slides/slide27.xml"/><Relationship Id="rId76" Type="http://customschemas.google.com/relationships/presentationmetadata" Target="metadata"/><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Roboto-boldItalic.fntdata"/><Relationship Id="rId70" Type="http://schemas.openxmlformats.org/officeDocument/2006/relationships/font" Target="fonts/Roboto-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Roboto-regular.fntdata"/><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Roboto-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84871" cy="502676"/>
          </a:xfrm>
          <a:prstGeom prst="rect">
            <a:avLst/>
          </a:prstGeom>
          <a:noFill/>
          <a:ln>
            <a:noFill/>
          </a:ln>
        </p:spPr>
        <p:txBody>
          <a:bodyPr anchorCtr="0" anchor="t"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01698" y="0"/>
            <a:ext cx="2984871" cy="502676"/>
          </a:xfrm>
          <a:prstGeom prst="rect">
            <a:avLst/>
          </a:prstGeom>
          <a:noFill/>
          <a:ln>
            <a:noFill/>
          </a:ln>
        </p:spPr>
        <p:txBody>
          <a:bodyPr anchorCtr="0" anchor="t" bIns="48300" lIns="96600" spcFirstLastPara="1" rIns="96600" wrap="square" tIns="48300">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516039"/>
            <a:ext cx="2984871" cy="502674"/>
          </a:xfrm>
          <a:prstGeom prst="rect">
            <a:avLst/>
          </a:prstGeom>
          <a:noFill/>
          <a:ln>
            <a:noFill/>
          </a:ln>
        </p:spPr>
        <p:txBody>
          <a:bodyPr anchorCtr="0" anchor="b" bIns="48300" lIns="96600" spcFirstLastPara="1" rIns="96600" wrap="square" tIns="48300">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1" name="Google Shape;81;p1:notes"/>
          <p:cNvSpPr txBox="1"/>
          <p:nvPr>
            <p:ph idx="12" type="sldNum"/>
          </p:nvPr>
        </p:nvSpPr>
        <p:spPr>
          <a:xfrm>
            <a:off x="3901698" y="9516039"/>
            <a:ext cx="2984871" cy="502674"/>
          </a:xfrm>
          <a:prstGeom prst="rect">
            <a:avLst/>
          </a:prstGeom>
          <a:noFill/>
          <a:ln>
            <a:noFill/>
          </a:ln>
        </p:spPr>
        <p:txBody>
          <a:bodyPr anchorCtr="0" anchor="b" bIns="48300" lIns="96600" spcFirstLastPara="1" rIns="96600" wrap="square" tIns="483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95" name="Google Shape;95;p2: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20:notes"/>
          <p:cNvSpPr txBox="1"/>
          <p:nvPr>
            <p:ph idx="1" type="body"/>
          </p:nvPr>
        </p:nvSpPr>
        <p:spPr>
          <a:xfrm>
            <a:off x="688817" y="4821506"/>
            <a:ext cx="5510530" cy="3944868"/>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08" name="Google Shape;108;p20:notes"/>
          <p:cNvSpPr/>
          <p:nvPr>
            <p:ph idx="2" type="sldImg"/>
          </p:nvPr>
        </p:nvSpPr>
        <p:spPr>
          <a:xfrm>
            <a:off x="1190625" y="1252538"/>
            <a:ext cx="4506913" cy="33813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55f9865c41_0_10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21" name="Google Shape;121;g255f9865c41_0_10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55f9865c41_0_120: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35" name="Google Shape;135;g255f9865c41_0_120: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5f9865c41_0_13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48" name="Google Shape;148;g255f9865c41_0_13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55f9865c41_0_1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61" name="Google Shape;161;g255f9865c41_0_12: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55f9865c41_0_2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74" name="Google Shape;174;g255f9865c41_0_26: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96f7e9f36_0_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187" name="Google Shape;187;g3f96f7e9f36_0_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55f9865c41_0_3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00" name="Google Shape;200;g255f9865c41_0_3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55f9865c41_0_5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13" name="Google Shape;213;g255f9865c41_0_5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55f9865c41_0_6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26" name="Google Shape;226;g255f9865c41_0_6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55f9865c41_0_9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39" name="Google Shape;239;g255f9865c41_0_94: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55f9865c41_1_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53" name="Google Shape;253;g255f9865c41_1_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255f9865c41_1_1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67" name="Google Shape;267;g255f9865c41_1_1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f5da4610e5_0_1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81" name="Google Shape;281;g3f5da4610e5_0_1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55f9865c41_1_2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298" name="Google Shape;298;g255f9865c41_1_2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55f9865c41_1_4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12" name="Google Shape;312;g255f9865c41_1_4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55f9865c41_1_5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26" name="Google Shape;326;g255f9865c41_1_5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55f9865c41_1_7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40" name="Google Shape;340;g255f9865c41_1_7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55f9865c41_1_8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54" name="Google Shape;354;g255f9865c41_1_8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255f9865c41_1_9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68" name="Google Shape;368;g255f9865c41_1_9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55f9865c41_1_11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82" name="Google Shape;382;g255f9865c41_1_11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55f9865c41_1_12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396" name="Google Shape;396;g255f9865c41_1_12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255f9865c41_1_14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10" name="Google Shape;410;g255f9865c41_1_14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55f9865c41_1_21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24" name="Google Shape;424;g255f9865c41_1_214: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255f9865c41_1_22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38" name="Google Shape;438;g255f9865c41_1_22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55f9865c41_1_24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52" name="Google Shape;452;g255f9865c41_1_242: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55f9865c41_1_25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66" name="Google Shape;466;g255f9865c41_1_256: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255f9865c41_1_270: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80" name="Google Shape;480;g255f9865c41_1_270: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55f9865c41_1_28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494" name="Google Shape;494;g255f9865c41_1_284: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255f9865c41_1_15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08" name="Google Shape;508;g255f9865c41_1_15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f34ad19fa4_0_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22" name="Google Shape;522;g3f34ad19fa4_0_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255f9865c41_1_18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36" name="Google Shape;536;g255f9865c41_1_18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55f9865c41_1_19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51" name="Google Shape;551;g255f9865c41_1_19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255f9865c41_1_29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66" name="Google Shape;566;g255f9865c41_1_29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255f9865c41_1_31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81" name="Google Shape;581;g255f9865c41_1_31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55f9865c41_1_32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596" name="Google Shape;596;g255f9865c41_1_32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55f9865c41_1_34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11" name="Google Shape;611;g255f9865c41_1_34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55f9865c41_1_35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26" name="Google Shape;626;g255f9865c41_1_35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255f9865c41_1_37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41" name="Google Shape;641;g255f9865c41_1_37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255f9865c41_1_38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57" name="Google Shape;657;g255f9865c41_1_38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255f9865c41_1_40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72" name="Google Shape;672;g255f9865c41_1_40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255f9865c41_1_41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687" name="Google Shape;687;g255f9865c41_1_41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255f9865c41_1_43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02" name="Google Shape;702;g255f9865c41_1_43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255f9865c41_1_454: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17" name="Google Shape;717;g255f9865c41_1_454: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255f9865c41_1_48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33" name="Google Shape;733;g255f9865c41_1_48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55f9865c41_1_518: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48" name="Google Shape;748;g255f9865c41_1_518: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255f9865c41_1_53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63" name="Google Shape;763;g255f9865c41_1_53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255f986635b_0_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79" name="Google Shape;779;g255f986635b_0_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255f986635b_0_1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794" name="Google Shape;794;g255f986635b_0_1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255f986635b_0_32: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09" name="Google Shape;809;g255f986635b_0_32: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255f986635b_0_4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24" name="Google Shape;824;g255f986635b_0_4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255f986635b_0_63: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39" name="Google Shape;839;g255f986635b_0_63: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g255f986635b_0_77: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54" name="Google Shape;854;g255f986635b_0_77: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255f986635b_0_9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69" name="Google Shape;869;g255f986635b_0_9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255f986635b_0_111: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84" name="Google Shape;884;g255f986635b_0_111: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55f986635b_0_125: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899" name="Google Shape;899;g255f986635b_0_125: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255f986635b_0_140: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915" name="Google Shape;915;g255f986635b_0_140: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2e68271dbcd_1_9: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931" name="Google Shape;931;g2e68271dbcd_1_9: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2e68271dbcd_1_26: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946" name="Google Shape;946;g2e68271dbcd_1_26: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f38efe3c04_0_0:notes"/>
          <p:cNvSpPr txBox="1"/>
          <p:nvPr>
            <p:ph idx="1" type="body"/>
          </p:nvPr>
        </p:nvSpPr>
        <p:spPr>
          <a:xfrm>
            <a:off x="688817" y="4821506"/>
            <a:ext cx="5510400" cy="3945000"/>
          </a:xfrm>
          <a:prstGeom prst="rect">
            <a:avLst/>
          </a:prstGeom>
          <a:noFill/>
          <a:ln>
            <a:noFill/>
          </a:ln>
        </p:spPr>
        <p:txBody>
          <a:bodyPr anchorCtr="0" anchor="t" bIns="48300" lIns="96600" spcFirstLastPara="1" rIns="96600" wrap="square" tIns="48300">
            <a:noAutofit/>
          </a:bodyPr>
          <a:lstStyle/>
          <a:p>
            <a:pPr indent="0" lvl="0" marL="0" rtl="0" algn="l">
              <a:lnSpc>
                <a:spcPct val="100000"/>
              </a:lnSpc>
              <a:spcBef>
                <a:spcPts val="0"/>
              </a:spcBef>
              <a:spcAft>
                <a:spcPts val="0"/>
              </a:spcAft>
              <a:buSzPts val="1400"/>
              <a:buNone/>
            </a:pPr>
            <a:r>
              <a:t/>
            </a:r>
            <a:endParaRPr/>
          </a:p>
        </p:txBody>
      </p:sp>
      <p:sp>
        <p:nvSpPr>
          <p:cNvPr id="961" name="Google Shape;961;g3f38efe3c04_0_0:notes"/>
          <p:cNvSpPr/>
          <p:nvPr>
            <p:ph idx="2" type="sldImg"/>
          </p:nvPr>
        </p:nvSpPr>
        <p:spPr>
          <a:xfrm>
            <a:off x="1190625" y="1252538"/>
            <a:ext cx="4506900" cy="3381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8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84"/>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8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8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86"/>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86"/>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8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8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87"/>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87"/>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8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8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8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88"/>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88"/>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7" name="Google Shape;37;p88"/>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88"/>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88"/>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8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8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8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8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8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8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9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9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91"/>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1"/>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5" name="Google Shape;55;p91"/>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6" name="Google Shape;56;p9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9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9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92"/>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2"/>
          <p:cNvSpPr/>
          <p:nvPr>
            <p:ph idx="2" type="pic"/>
          </p:nvPr>
        </p:nvSpPr>
        <p:spPr>
          <a:xfrm>
            <a:off x="3887391" y="987426"/>
            <a:ext cx="4629150" cy="4873625"/>
          </a:xfrm>
          <a:prstGeom prst="rect">
            <a:avLst/>
          </a:prstGeom>
          <a:noFill/>
          <a:ln>
            <a:noFill/>
          </a:ln>
        </p:spPr>
      </p:sp>
      <p:sp>
        <p:nvSpPr>
          <p:cNvPr id="62" name="Google Shape;62;p92"/>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3" name="Google Shape;63;p9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9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9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9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93"/>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9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9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94"/>
          <p:cNvSpPr txBox="1"/>
          <p:nvPr>
            <p:ph type="title"/>
          </p:nvPr>
        </p:nvSpPr>
        <p:spPr>
          <a:xfrm rot="5400000">
            <a:off x="4623593" y="2285206"/>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94"/>
          <p:cNvSpPr txBox="1"/>
          <p:nvPr>
            <p:ph idx="1" type="body"/>
          </p:nvPr>
        </p:nvSpPr>
        <p:spPr>
          <a:xfrm rot="5400000">
            <a:off x="623093"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9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9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9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8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8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mc:AlternateContent>
    <mc:Choice Requires="p14">
      <p:transition spd="slow" p14:dur="700">
        <p:fade/>
      </p:transition>
    </mc:Choice>
    <mc:Fallback>
      <p:transition spd="slow">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jpg"/><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2.png"/><Relationship Id="rId6" Type="http://schemas.openxmlformats.org/officeDocument/2006/relationships/image" Target="../media/image14.png"/><Relationship Id="rId7" Type="http://schemas.openxmlformats.org/officeDocument/2006/relationships/image" Target="../media/image25.png"/><Relationship Id="rId8"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1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jpg"/><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jp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5.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2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42.png"/><Relationship Id="rId6"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jp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4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2.jpg"/><Relationship Id="rId4"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jpg"/><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jpg"/><Relationship Id="rId4"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2.jpg"/><Relationship Id="rId4"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2.jpg"/><Relationship Id="rId4"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2.jpg"/><Relationship Id="rId4"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2.jpg"/><Relationship Id="rId4"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2.jpg"/><Relationship Id="rId4"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2.jpg"/><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 Id="rId3" Type="http://schemas.openxmlformats.org/officeDocument/2006/relationships/image" Target="../media/image2.jpg"/><Relationship Id="rId4"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2.jpg"/><Relationship Id="rId4"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2.jp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4" name="Google Shape;84;p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85" name="Google Shape;85;p1"/>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86" name="Google Shape;86;p1"/>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1" i="0" sz="1600" u="none" cap="none" strike="noStrike">
              <a:solidFill>
                <a:schemeClr val="lt1"/>
              </a:solidFill>
              <a:latin typeface="Arial"/>
              <a:ea typeface="Arial"/>
              <a:cs typeface="Arial"/>
              <a:sym typeface="Arial"/>
            </a:endParaRPr>
          </a:p>
        </p:txBody>
      </p:sp>
      <p:sp>
        <p:nvSpPr>
          <p:cNvPr id="87" name="Google Shape;87;p1"/>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txBox="1"/>
          <p:nvPr/>
        </p:nvSpPr>
        <p:spPr>
          <a:xfrm>
            <a:off x="450376" y="1460311"/>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1" name="Google Shape;91;p1"/>
          <p:cNvSpPr txBox="1"/>
          <p:nvPr/>
        </p:nvSpPr>
        <p:spPr>
          <a:xfrm>
            <a:off x="628650" y="1320476"/>
            <a:ext cx="7648500" cy="3971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Third Year Engineering</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lang="en-US" sz="2800">
                <a:solidFill>
                  <a:srgbClr val="CC00CC"/>
                </a:solidFill>
                <a:latin typeface="Times New Roman"/>
                <a:ea typeface="Times New Roman"/>
                <a:cs typeface="Times New Roman"/>
                <a:sym typeface="Times New Roman"/>
              </a:rPr>
              <a:t>23CSE3011 </a:t>
            </a:r>
            <a:r>
              <a:rPr b="1" i="0" lang="en-US" sz="2800" u="none" cap="none" strike="noStrike">
                <a:solidFill>
                  <a:srgbClr val="CC00CC"/>
                </a:solidFill>
                <a:latin typeface="Times New Roman"/>
                <a:ea typeface="Times New Roman"/>
                <a:cs typeface="Times New Roman"/>
                <a:sym typeface="Times New Roman"/>
              </a:rPr>
              <a:t>- Design and Analysis of Algorithms</a:t>
            </a:r>
            <a:endParaRPr b="1" i="0" sz="2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800"/>
              <a:buFont typeface="Arial"/>
              <a:buNone/>
            </a:pPr>
            <a:br>
              <a:rPr b="0" i="0" lang="en-US" sz="2800" u="none" cap="none" strike="noStrike">
                <a:solidFill>
                  <a:srgbClr val="000000"/>
                </a:solidFill>
                <a:latin typeface="Arial"/>
                <a:ea typeface="Arial"/>
                <a:cs typeface="Arial"/>
                <a:sym typeface="Arial"/>
              </a:rPr>
            </a:br>
            <a:r>
              <a:rPr b="1" i="0" lang="en-US" sz="2800" u="none" cap="none" strike="noStrike">
                <a:solidFill>
                  <a:srgbClr val="FF0000"/>
                </a:solidFill>
                <a:latin typeface="Times New Roman"/>
                <a:ea typeface="Times New Roman"/>
                <a:cs typeface="Times New Roman"/>
                <a:sym typeface="Times New Roman"/>
              </a:rPr>
              <a:t>Class - T.Y. (SEM-</a:t>
            </a:r>
            <a:r>
              <a:rPr b="1" lang="en-US" sz="2800">
                <a:solidFill>
                  <a:srgbClr val="FF0000"/>
                </a:solidFill>
                <a:latin typeface="Times New Roman"/>
                <a:ea typeface="Times New Roman"/>
                <a:cs typeface="Times New Roman"/>
                <a:sym typeface="Times New Roman"/>
              </a:rPr>
              <a:t>V</a:t>
            </a:r>
            <a:r>
              <a:rPr b="1" i="0" lang="en-US" sz="2800" u="none" cap="none" strike="noStrike">
                <a:solidFill>
                  <a:srgbClr val="FF0000"/>
                </a:solidFill>
                <a:latin typeface="Times New Roman"/>
                <a:ea typeface="Times New Roman"/>
                <a:cs typeface="Times New Roman"/>
                <a:sym typeface="Times New Roman"/>
              </a:rPr>
              <a:t>)</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F0000"/>
                </a:solidFill>
                <a:latin typeface="Times New Roman"/>
                <a:ea typeface="Times New Roman"/>
                <a:cs typeface="Times New Roman"/>
                <a:sym typeface="Times New Roman"/>
              </a:rPr>
              <a:t> </a:t>
            </a:r>
            <a:endParaRPr b="1" i="0" sz="2800" u="none" cap="none" strike="noStrike">
              <a:solidFill>
                <a:srgbClr val="FF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Unit - I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b="1" i="0" sz="2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Times New Roman"/>
                <a:ea typeface="Times New Roman"/>
                <a:cs typeface="Times New Roman"/>
                <a:sym typeface="Times New Roman"/>
              </a:rPr>
              <a:t>Fundamentals of Algorithm </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1973325" y="5402056"/>
            <a:ext cx="4648200" cy="954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0" i="0" lang="en-US" sz="2800" u="none" cap="none" strike="noStrike">
                <a:solidFill>
                  <a:srgbClr val="CC00CC"/>
                </a:solidFill>
                <a:latin typeface="Times New Roman"/>
                <a:ea typeface="Times New Roman"/>
                <a:cs typeface="Times New Roman"/>
                <a:sym typeface="Times New Roman"/>
              </a:rPr>
              <a:t>AY 202</a:t>
            </a:r>
            <a:r>
              <a:rPr lang="en-US" sz="2800">
                <a:solidFill>
                  <a:srgbClr val="CC00CC"/>
                </a:solidFill>
                <a:latin typeface="Times New Roman"/>
                <a:ea typeface="Times New Roman"/>
                <a:cs typeface="Times New Roman"/>
                <a:sym typeface="Times New Roman"/>
              </a:rPr>
              <a:t>6</a:t>
            </a:r>
            <a:r>
              <a:rPr b="0" i="0" lang="en-US" sz="2800" u="none" cap="none" strike="noStrike">
                <a:solidFill>
                  <a:srgbClr val="CC00CC"/>
                </a:solidFill>
                <a:latin typeface="Times New Roman"/>
                <a:ea typeface="Times New Roman"/>
                <a:cs typeface="Times New Roman"/>
                <a:sym typeface="Times New Roman"/>
              </a:rPr>
              <a:t>-2027     </a:t>
            </a:r>
            <a:r>
              <a:rPr b="1" i="0" lang="en-US" sz="2800" u="none" cap="none" strike="noStrike">
                <a:solidFill>
                  <a:srgbClr val="CC00CC"/>
                </a:solidFill>
                <a:latin typeface="Times New Roman"/>
                <a:ea typeface="Times New Roman"/>
                <a:cs typeface="Times New Roman"/>
                <a:sym typeface="Times New Roman"/>
              </a:rPr>
              <a:t>SEM-</a:t>
            </a:r>
            <a:r>
              <a:rPr b="1" lang="en-US" sz="2800">
                <a:solidFill>
                  <a:srgbClr val="CC00CC"/>
                </a:solidFill>
                <a:latin typeface="Times New Roman"/>
                <a:ea typeface="Times New Roman"/>
                <a:cs typeface="Times New Roman"/>
                <a:sym typeface="Times New Roman"/>
              </a:rPr>
              <a:t>V</a:t>
            </a:r>
            <a:endParaRPr b="1"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br>
              <a:rPr b="0" i="0" lang="en-US" sz="1400" u="none" cap="none" strike="noStrike">
                <a:solidFill>
                  <a:srgbClr val="000000"/>
                </a:solidFill>
                <a:latin typeface="Arial"/>
                <a:ea typeface="Arial"/>
                <a:cs typeface="Arial"/>
                <a:sym typeface="Arial"/>
              </a:rPr>
            </a:b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8" name="Google Shape;98;p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99" name="Google Shape;99;p2"/>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00" name="Google Shape;100;p2"/>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01" name="Google Shape;101;p2"/>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 name="Google Shape;102;p2"/>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3" name="Google Shape;103;p2"/>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04" name="Google Shape;104;p2"/>
          <p:cNvSpPr txBox="1"/>
          <p:nvPr/>
        </p:nvSpPr>
        <p:spPr>
          <a:xfrm>
            <a:off x="497728" y="1259402"/>
            <a:ext cx="8338800" cy="4792800"/>
          </a:xfrm>
          <a:prstGeom prst="rect">
            <a:avLst/>
          </a:prstGeom>
          <a:noFill/>
          <a:ln>
            <a:noFill/>
          </a:ln>
        </p:spPr>
        <p:txBody>
          <a:bodyPr anchorCtr="0" anchor="t" bIns="45700" lIns="91425" spcFirstLastPara="1" rIns="91425" wrap="square" tIns="45700">
            <a:normAutofit fontScale="47500" lnSpcReduction="10000"/>
          </a:bodyPr>
          <a:lstStyle/>
          <a:p>
            <a:pPr indent="0" lvl="0" marL="0" marR="0" rtl="0" algn="l">
              <a:lnSpc>
                <a:spcPct val="80000"/>
              </a:lnSpc>
              <a:spcBef>
                <a:spcPts val="0"/>
              </a:spcBef>
              <a:spcAft>
                <a:spcPts val="0"/>
              </a:spcAft>
              <a:buClr>
                <a:srgbClr val="000000"/>
              </a:buClr>
              <a:buSzPct val="75248"/>
              <a:buFont typeface="Arial"/>
              <a:buNone/>
            </a:pPr>
            <a:r>
              <a:rPr b="1" lang="en-US" sz="4253">
                <a:solidFill>
                  <a:srgbClr val="C00000"/>
                </a:solidFill>
                <a:latin typeface="Times New Roman"/>
                <a:ea typeface="Times New Roman"/>
                <a:cs typeface="Times New Roman"/>
                <a:sym typeface="Times New Roman"/>
              </a:rPr>
              <a:t>UNIT - I</a:t>
            </a:r>
            <a:endParaRPr b="1" sz="4253">
              <a:solidFill>
                <a:srgbClr val="C0000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rgbClr val="000000"/>
              </a:buClr>
              <a:buSzPct val="75248"/>
              <a:buFont typeface="Arial"/>
              <a:buNone/>
            </a:pPr>
            <a:r>
              <a:rPr b="1" lang="en-US" sz="4253">
                <a:solidFill>
                  <a:srgbClr val="C00000"/>
                </a:solidFill>
                <a:latin typeface="Times New Roman"/>
                <a:ea typeface="Times New Roman"/>
                <a:cs typeface="Times New Roman"/>
                <a:sym typeface="Times New Roman"/>
              </a:rPr>
              <a:t>   </a:t>
            </a:r>
            <a:endParaRPr b="1" sz="4253">
              <a:solidFill>
                <a:srgbClr val="C0000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rgbClr val="000000"/>
              </a:buClr>
              <a:buSzPct val="75248"/>
              <a:buFont typeface="Arial"/>
              <a:buNone/>
            </a:pPr>
            <a:r>
              <a:rPr b="1" lang="en-US" sz="4253">
                <a:solidFill>
                  <a:srgbClr val="C00000"/>
                </a:solidFill>
                <a:latin typeface="Times New Roman"/>
                <a:ea typeface="Times New Roman"/>
                <a:cs typeface="Times New Roman"/>
                <a:sym typeface="Times New Roman"/>
              </a:rPr>
              <a:t>SYLLABUS</a:t>
            </a:r>
            <a:endParaRPr b="1" sz="4253">
              <a:solidFill>
                <a:srgbClr val="C00000"/>
              </a:solidFill>
              <a:latin typeface="Times New Roman"/>
              <a:ea typeface="Times New Roman"/>
              <a:cs typeface="Times New Roman"/>
              <a:sym typeface="Times New Roman"/>
            </a:endParaRPr>
          </a:p>
          <a:p>
            <a:pPr indent="0" lvl="0" marL="0" marR="0" rtl="0" algn="l">
              <a:lnSpc>
                <a:spcPct val="80000"/>
              </a:lnSpc>
              <a:spcBef>
                <a:spcPts val="0"/>
              </a:spcBef>
              <a:spcAft>
                <a:spcPts val="0"/>
              </a:spcAft>
              <a:buClr>
                <a:srgbClr val="000000"/>
              </a:buClr>
              <a:buSzPct val="100000"/>
              <a:buFont typeface="Arial"/>
              <a:buNone/>
            </a:pPr>
            <a:r>
              <a:rPr b="1" i="0" lang="en-US" sz="3200" u="none" cap="none" strike="noStrike">
                <a:solidFill>
                  <a:srgbClr val="C00000"/>
                </a:solidFill>
                <a:latin typeface="Times New Roman"/>
                <a:ea typeface="Times New Roman"/>
                <a:cs typeface="Times New Roman"/>
                <a:sym typeface="Times New Roman"/>
              </a:rPr>
              <a:t>			</a:t>
            </a:r>
            <a:endParaRPr b="1" i="0" sz="2800" u="none" cap="none" strike="noStrike">
              <a:solidFill>
                <a:srgbClr val="C00000"/>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rPr b="1" i="0" lang="en-US" sz="3955" u="none" cap="none" strike="noStrike">
                <a:solidFill>
                  <a:schemeClr val="dk1"/>
                </a:solidFill>
                <a:latin typeface="Times New Roman"/>
                <a:ea typeface="Times New Roman"/>
                <a:cs typeface="Times New Roman"/>
                <a:sym typeface="Times New Roman"/>
              </a:rPr>
              <a:t>What is algorithm, </a:t>
            </a:r>
            <a:r>
              <a:rPr i="0" lang="en-US" sz="3955" u="none" cap="none" strike="noStrike">
                <a:solidFill>
                  <a:schemeClr val="dk1"/>
                </a:solidFill>
                <a:latin typeface="Times New Roman"/>
                <a:ea typeface="Times New Roman"/>
                <a:cs typeface="Times New Roman"/>
                <a:sym typeface="Times New Roman"/>
              </a:rPr>
              <a:t>Fundamentals of algorithmic problem solving</a:t>
            </a:r>
            <a:endParaRPr i="0" sz="3955" u="none" cap="none" strike="noStrike">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rPr b="1" i="0" lang="en-US" sz="3955" u="none" cap="none" strike="noStrike">
                <a:solidFill>
                  <a:schemeClr val="dk1"/>
                </a:solidFill>
                <a:latin typeface="Times New Roman"/>
                <a:ea typeface="Times New Roman"/>
                <a:cs typeface="Times New Roman"/>
                <a:sym typeface="Times New Roman"/>
              </a:rPr>
              <a:t>The Analysis Framework: </a:t>
            </a:r>
            <a:r>
              <a:rPr i="0" lang="en-US" sz="3955" u="none" cap="none" strike="noStrike">
                <a:solidFill>
                  <a:schemeClr val="dk1"/>
                </a:solidFill>
                <a:latin typeface="Times New Roman"/>
                <a:ea typeface="Times New Roman"/>
                <a:cs typeface="Times New Roman"/>
                <a:sym typeface="Times New Roman"/>
              </a:rPr>
              <a:t>Measuring an Input’s Size, Units for Measuring Running Time, Orders of Growth, Worst-Case, Best-Case, and Average-Case Efficiencies</a:t>
            </a:r>
            <a:endParaRPr i="0" sz="3955" u="none" cap="none" strike="noStrike">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rPr b="1" i="0" lang="en-US" sz="3955" u="none" cap="none" strike="noStrike">
                <a:solidFill>
                  <a:schemeClr val="dk1"/>
                </a:solidFill>
                <a:latin typeface="Times New Roman"/>
                <a:ea typeface="Times New Roman"/>
                <a:cs typeface="Times New Roman"/>
                <a:sym typeface="Times New Roman"/>
              </a:rPr>
              <a:t>Asymptotic notations:</a:t>
            </a:r>
            <a:r>
              <a:rPr i="0" lang="en-US" sz="3955" u="none" cap="none" strike="noStrike">
                <a:solidFill>
                  <a:schemeClr val="dk1"/>
                </a:solidFill>
                <a:latin typeface="Times New Roman"/>
                <a:ea typeface="Times New Roman"/>
                <a:cs typeface="Times New Roman"/>
                <a:sym typeface="Times New Roman"/>
              </a:rPr>
              <a:t> Asymptotic complexities calculations for given function</a:t>
            </a:r>
            <a:endParaRPr i="0" sz="3955" u="none" cap="none" strike="noStrike">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rPr b="1" i="0" lang="en-US" sz="3955" u="none" cap="none" strike="noStrike">
                <a:solidFill>
                  <a:schemeClr val="dk1"/>
                </a:solidFill>
                <a:latin typeface="Times New Roman"/>
                <a:ea typeface="Times New Roman"/>
                <a:cs typeface="Times New Roman"/>
                <a:sym typeface="Times New Roman"/>
              </a:rPr>
              <a:t>Mathematical Analysis of Non recursive Algorithms:</a:t>
            </a:r>
            <a:r>
              <a:rPr i="0" lang="en-US" sz="3955" u="none" cap="none" strike="noStrike">
                <a:solidFill>
                  <a:schemeClr val="dk1"/>
                </a:solidFill>
                <a:latin typeface="Times New Roman"/>
                <a:ea typeface="Times New Roman"/>
                <a:cs typeface="Times New Roman"/>
                <a:sym typeface="Times New Roman"/>
              </a:rPr>
              <a:t> Finding the value of largest element in the list, element uniqueness problem.</a:t>
            </a:r>
            <a:endParaRPr i="0" sz="3955" u="none" cap="none" strike="noStrike">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rPr b="1" i="0" lang="en-US" sz="3955" u="none" cap="none" strike="noStrike">
                <a:solidFill>
                  <a:schemeClr val="dk1"/>
                </a:solidFill>
                <a:latin typeface="Times New Roman"/>
                <a:ea typeface="Times New Roman"/>
                <a:cs typeface="Times New Roman"/>
                <a:sym typeface="Times New Roman"/>
              </a:rPr>
              <a:t>Mathematical Analysis of Recursive Algorithms:</a:t>
            </a:r>
            <a:r>
              <a:rPr i="0" lang="en-US" sz="3955" u="none" cap="none" strike="noStrike">
                <a:solidFill>
                  <a:schemeClr val="dk1"/>
                </a:solidFill>
                <a:latin typeface="Times New Roman"/>
                <a:ea typeface="Times New Roman"/>
                <a:cs typeface="Times New Roman"/>
                <a:sym typeface="Times New Roman"/>
              </a:rPr>
              <a:t> Factorial function</a:t>
            </a:r>
            <a:endParaRPr i="0" sz="3955" u="none" cap="none" strike="noStrike">
              <a:solidFill>
                <a:schemeClr val="dk1"/>
              </a:solidFill>
              <a:latin typeface="Times New Roman"/>
              <a:ea typeface="Times New Roman"/>
              <a:cs typeface="Times New Roman"/>
              <a:sym typeface="Times New Roman"/>
            </a:endParaRPr>
          </a:p>
          <a:p>
            <a:pPr indent="0" lvl="0" marL="457200" marR="0" rtl="0" algn="just">
              <a:lnSpc>
                <a:spcPct val="150000"/>
              </a:lnSpc>
              <a:spcBef>
                <a:spcPts val="0"/>
              </a:spcBef>
              <a:spcAft>
                <a:spcPts val="0"/>
              </a:spcAft>
              <a:buNone/>
            </a:pPr>
            <a:r>
              <a:rPr b="1" i="0" lang="en-US" sz="3955" u="none" cap="none" strike="noStrike">
                <a:solidFill>
                  <a:schemeClr val="dk1"/>
                </a:solidFill>
                <a:latin typeface="Times New Roman"/>
                <a:ea typeface="Times New Roman"/>
                <a:cs typeface="Times New Roman"/>
                <a:sym typeface="Times New Roman"/>
              </a:rPr>
              <a:t>Master Theorem: </a:t>
            </a:r>
            <a:r>
              <a:rPr i="0" lang="en-US" sz="3955" u="none" cap="none" strike="noStrike">
                <a:solidFill>
                  <a:schemeClr val="dk1"/>
                </a:solidFill>
                <a:latin typeface="Times New Roman"/>
                <a:ea typeface="Times New Roman"/>
                <a:cs typeface="Times New Roman"/>
                <a:sym typeface="Times New Roman"/>
              </a:rPr>
              <a:t>Solving recurrence relations using master theorem.</a:t>
            </a:r>
            <a:endParaRPr b="1" i="0" sz="3085" u="none" cap="none" strike="noStrike">
              <a:solidFill>
                <a:srgbClr val="0070C0"/>
              </a:solidFill>
              <a:latin typeface="Times New Roman"/>
              <a:ea typeface="Times New Roman"/>
              <a:cs typeface="Times New Roman"/>
              <a:sym typeface="Times New Roman"/>
            </a:endParaRPr>
          </a:p>
          <a:p>
            <a:pPr indent="0" lvl="0" marL="0" marR="0" rtl="0" algn="just">
              <a:lnSpc>
                <a:spcPct val="115000"/>
              </a:lnSpc>
              <a:spcBef>
                <a:spcPts val="0"/>
              </a:spcBef>
              <a:spcAft>
                <a:spcPts val="0"/>
              </a:spcAft>
              <a:buClr>
                <a:srgbClr val="000000"/>
              </a:buClr>
              <a:buSzPct val="100000"/>
              <a:buFont typeface="Arial"/>
              <a:buNone/>
            </a:pPr>
            <a:r>
              <a:t/>
            </a:r>
            <a:endParaRPr b="1" i="0" sz="2300" u="none" cap="none" strike="noStrike">
              <a:solidFill>
                <a:srgbClr val="0070C0"/>
              </a:solidFill>
              <a:latin typeface="Times New Roman"/>
              <a:ea typeface="Times New Roman"/>
              <a:cs typeface="Times New Roman"/>
              <a:sym typeface="Times New Roman"/>
            </a:endParaRPr>
          </a:p>
        </p:txBody>
      </p:sp>
      <p:sp>
        <p:nvSpPr>
          <p:cNvPr id="105" name="Google Shape;105;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11" name="Google Shape;111;p2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12" name="Google Shape;112;p20"/>
          <p:cNvPicPr preferRelativeResize="0"/>
          <p:nvPr/>
        </p:nvPicPr>
        <p:blipFill rotWithShape="1">
          <a:blip r:embed="rId4">
            <a:alphaModFix/>
          </a:blip>
          <a:srcRect b="0" l="0" r="0" t="0"/>
          <a:stretch/>
        </p:blipFill>
        <p:spPr>
          <a:xfrm>
            <a:off x="354842" y="123715"/>
            <a:ext cx="5950424" cy="831628"/>
          </a:xfrm>
          <a:prstGeom prst="rect">
            <a:avLst/>
          </a:prstGeom>
          <a:noFill/>
          <a:ln>
            <a:noFill/>
          </a:ln>
        </p:spPr>
      </p:pic>
      <p:sp>
        <p:nvSpPr>
          <p:cNvPr id="113" name="Google Shape;113;p20"/>
          <p:cNvSpPr txBox="1"/>
          <p:nvPr/>
        </p:nvSpPr>
        <p:spPr>
          <a:xfrm>
            <a:off x="1287262" y="166260"/>
            <a:ext cx="4928058" cy="66010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14" name="Google Shape;114;p20"/>
          <p:cNvSpPr/>
          <p:nvPr/>
        </p:nvSpPr>
        <p:spPr>
          <a:xfrm>
            <a:off x="197794" y="1322773"/>
            <a:ext cx="1775534"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5" name="Google Shape;115;p20"/>
          <p:cNvSpPr txBox="1"/>
          <p:nvPr/>
        </p:nvSpPr>
        <p:spPr>
          <a:xfrm>
            <a:off x="450376" y="1501254"/>
            <a:ext cx="8338782"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16" name="Google Shape;116;p20"/>
          <p:cNvSpPr/>
          <p:nvPr/>
        </p:nvSpPr>
        <p:spPr>
          <a:xfrm>
            <a:off x="4250437" y="3244334"/>
            <a:ext cx="64312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17" name="Google Shape;117;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18" name="Google Shape;118;p20"/>
          <p:cNvSpPr txBox="1"/>
          <p:nvPr/>
        </p:nvSpPr>
        <p:spPr>
          <a:xfrm>
            <a:off x="354842" y="1105287"/>
            <a:ext cx="8338800" cy="4199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What is algorithm</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800"/>
              <a:buFont typeface="Arial"/>
              <a:buNone/>
            </a:pPr>
            <a:r>
              <a:rPr i="0" lang="en-US" sz="2400" u="none" cap="none" strike="noStrike">
                <a:solidFill>
                  <a:schemeClr val="dk1"/>
                </a:solidFill>
                <a:latin typeface="Times New Roman"/>
                <a:ea typeface="Times New Roman"/>
                <a:cs typeface="Times New Roman"/>
                <a:sym typeface="Times New Roman"/>
              </a:rPr>
              <a:t>A </a:t>
            </a:r>
            <a:r>
              <a:rPr b="1" i="0" lang="en-US" sz="2400" u="none" cap="none" strike="noStrike">
                <a:solidFill>
                  <a:schemeClr val="dk1"/>
                </a:solidFill>
                <a:latin typeface="Times New Roman"/>
                <a:ea typeface="Times New Roman"/>
                <a:cs typeface="Times New Roman"/>
                <a:sym typeface="Times New Roman"/>
              </a:rPr>
              <a:t>finite set of instruction</a:t>
            </a:r>
            <a:r>
              <a:rPr i="0" lang="en-US" sz="2400" u="none" cap="none" strike="noStrike">
                <a:solidFill>
                  <a:schemeClr val="dk1"/>
                </a:solidFill>
                <a:latin typeface="Times New Roman"/>
                <a:ea typeface="Times New Roman"/>
                <a:cs typeface="Times New Roman"/>
                <a:sym typeface="Times New Roman"/>
              </a:rPr>
              <a:t> that specify a sequence of operations to be carried out in order to solve a specific problem or class of problems is called an algorithm.  </a:t>
            </a:r>
            <a:endParaRPr i="0" sz="24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t/>
            </a:r>
            <a:endParaRPr sz="2400">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400" u="none" cap="none" strike="noStrike">
                <a:solidFill>
                  <a:schemeClr val="dk1"/>
                </a:solidFill>
                <a:latin typeface="Times New Roman"/>
                <a:ea typeface="Times New Roman"/>
                <a:cs typeface="Times New Roman"/>
                <a:sym typeface="Times New Roman"/>
              </a:rPr>
              <a:t>                                     </a:t>
            </a:r>
            <a:r>
              <a:rPr b="1" lang="en-US" sz="2400">
                <a:solidFill>
                  <a:srgbClr val="C00000"/>
                </a:solidFill>
                <a:latin typeface="Times New Roman"/>
                <a:ea typeface="Times New Roman"/>
                <a:cs typeface="Times New Roman"/>
                <a:sym typeface="Times New Roman"/>
              </a:rPr>
              <a:t>OR</a:t>
            </a:r>
            <a:endParaRPr b="1" i="0" sz="2400" u="none" cap="none" strike="noStrike">
              <a:solidFill>
                <a:srgbClr val="C0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t/>
            </a:r>
            <a:endParaRPr b="1" sz="2400">
              <a:solidFill>
                <a:srgbClr val="C0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i="0" lang="en-US" sz="2400" u="none" cap="none" strike="noStrike">
                <a:solidFill>
                  <a:schemeClr val="dk1"/>
                </a:solidFill>
                <a:latin typeface="Times New Roman"/>
                <a:ea typeface="Times New Roman"/>
                <a:cs typeface="Times New Roman"/>
                <a:sym typeface="Times New Roman"/>
              </a:rPr>
              <a:t>Algorithm is defined as a </a:t>
            </a:r>
            <a:r>
              <a:rPr b="1" i="0" lang="en-US" sz="2400" u="none" cap="none" strike="noStrike">
                <a:solidFill>
                  <a:schemeClr val="dk1"/>
                </a:solidFill>
                <a:latin typeface="Times New Roman"/>
                <a:ea typeface="Times New Roman"/>
                <a:cs typeface="Times New Roman"/>
                <a:sym typeface="Times New Roman"/>
              </a:rPr>
              <a:t>step by step procedure</a:t>
            </a:r>
            <a:r>
              <a:rPr i="0" lang="en-US" sz="2400" u="none" cap="none" strike="noStrike">
                <a:solidFill>
                  <a:schemeClr val="dk1"/>
                </a:solidFill>
                <a:latin typeface="Times New Roman"/>
                <a:ea typeface="Times New Roman"/>
                <a:cs typeface="Times New Roman"/>
                <a:sym typeface="Times New Roman"/>
              </a:rPr>
              <a:t> to perform a specific task within finite number of steps.</a:t>
            </a:r>
            <a:endParaRPr b="0" i="0" sz="24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55f9865c41_0_10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24" name="Google Shape;124;g255f9865c41_0_10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25" name="Google Shape;125;g255f9865c41_0_10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26" name="Google Shape;126;g255f9865c41_0_10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27" name="Google Shape;127;g255f9865c41_0_10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8" name="Google Shape;128;g255f9865c41_0_10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29" name="Google Shape;129;g255f9865c41_0_10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30" name="Google Shape;130;g255f9865c41_0_10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31" name="Google Shape;131;g255f9865c41_0_107"/>
          <p:cNvSpPr txBox="1"/>
          <p:nvPr/>
        </p:nvSpPr>
        <p:spPr>
          <a:xfrm>
            <a:off x="354842" y="1105287"/>
            <a:ext cx="8338800" cy="1305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What is algorithm</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800"/>
              <a:buFont typeface="Arial"/>
              <a:buNone/>
            </a:pPr>
            <a:r>
              <a:t/>
            </a:r>
            <a:endParaRPr b="0" i="0" sz="2800" u="none" cap="none" strike="noStrike">
              <a:solidFill>
                <a:schemeClr val="dk1"/>
              </a:solidFill>
              <a:latin typeface="Arial"/>
              <a:ea typeface="Arial"/>
              <a:cs typeface="Arial"/>
              <a:sym typeface="Arial"/>
            </a:endParaRPr>
          </a:p>
        </p:txBody>
      </p:sp>
      <p:pic>
        <p:nvPicPr>
          <p:cNvPr id="132" name="Google Shape;132;g255f9865c41_0_107"/>
          <p:cNvPicPr preferRelativeResize="0"/>
          <p:nvPr/>
        </p:nvPicPr>
        <p:blipFill rotWithShape="1">
          <a:blip r:embed="rId5">
            <a:alphaModFix/>
          </a:blip>
          <a:srcRect b="8768" l="13011" r="17851" t="20858"/>
          <a:stretch/>
        </p:blipFill>
        <p:spPr>
          <a:xfrm>
            <a:off x="1287250" y="1861388"/>
            <a:ext cx="6669761" cy="428071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255f9865c41_0_120"/>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38" name="Google Shape;138;g255f9865c41_0_12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39" name="Google Shape;139;g255f9865c41_0_120"/>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40" name="Google Shape;140;g255f9865c41_0_120"/>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41" name="Google Shape;141;g255f9865c41_0_120"/>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2" name="Google Shape;142;g255f9865c41_0_120"/>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3" name="Google Shape;143;g255f9865c41_0_120"/>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44" name="Google Shape;144;g255f9865c41_0_12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45" name="Google Shape;145;g255f9865c41_0_120"/>
          <p:cNvSpPr txBox="1"/>
          <p:nvPr/>
        </p:nvSpPr>
        <p:spPr>
          <a:xfrm>
            <a:off x="354850" y="1105275"/>
            <a:ext cx="8338800" cy="4602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chemeClr val="dk1"/>
              </a:buClr>
              <a:buSzPts val="1100"/>
              <a:buFont typeface="Arial"/>
              <a:buNone/>
            </a:pPr>
            <a:r>
              <a:rPr b="1" i="0" lang="en-US" sz="2500" u="none" cap="none" strike="noStrike">
                <a:solidFill>
                  <a:srgbClr val="C00000"/>
                </a:solidFill>
                <a:latin typeface="Times New Roman"/>
                <a:ea typeface="Times New Roman"/>
                <a:cs typeface="Times New Roman"/>
                <a:sym typeface="Times New Roman"/>
              </a:rPr>
              <a:t>PSEUDOCODE</a:t>
            </a:r>
            <a:endParaRPr b="0" i="0" sz="1100" u="none" cap="none" strike="noStrike">
              <a:solidFill>
                <a:srgbClr val="C00000"/>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800"/>
              <a:buFont typeface="Arial"/>
              <a:buNone/>
            </a:pPr>
            <a:r>
              <a:rPr i="0" lang="en-US" sz="2500" u="none" cap="none" strike="noStrike">
                <a:solidFill>
                  <a:schemeClr val="dk1"/>
                </a:solidFill>
                <a:latin typeface="Times New Roman"/>
                <a:ea typeface="Times New Roman"/>
                <a:cs typeface="Times New Roman"/>
                <a:sym typeface="Times New Roman"/>
              </a:rPr>
              <a:t>Pseudocode (pronounced SOO-doh-kohd) is a detailed yet </a:t>
            </a:r>
            <a:r>
              <a:rPr b="1" i="0" lang="en-US" sz="2500" u="none" cap="none" strike="noStrike">
                <a:solidFill>
                  <a:schemeClr val="dk1"/>
                </a:solidFill>
                <a:latin typeface="Times New Roman"/>
                <a:ea typeface="Times New Roman"/>
                <a:cs typeface="Times New Roman"/>
                <a:sym typeface="Times New Roman"/>
              </a:rPr>
              <a:t>readable description</a:t>
            </a:r>
            <a:r>
              <a:rPr i="0" lang="en-US" sz="2500" u="none" cap="none" strike="noStrike">
                <a:solidFill>
                  <a:schemeClr val="dk1"/>
                </a:solidFill>
                <a:latin typeface="Times New Roman"/>
                <a:ea typeface="Times New Roman"/>
                <a:cs typeface="Times New Roman"/>
                <a:sym typeface="Times New Roman"/>
              </a:rPr>
              <a:t> of what a computer program or algorithm must do, expressed in a formally-styled natural language rather than in a programming language.  </a:t>
            </a:r>
            <a:endParaRPr i="0" sz="25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720"/>
              </a:spcBef>
              <a:spcAft>
                <a:spcPts val="0"/>
              </a:spcAft>
              <a:buClr>
                <a:srgbClr val="000000"/>
              </a:buClr>
              <a:buSzPts val="2800"/>
              <a:buFont typeface="Arial"/>
              <a:buNone/>
            </a:pPr>
            <a:r>
              <a:t/>
            </a:r>
            <a:endParaRPr i="0" sz="25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720"/>
              </a:spcBef>
              <a:spcAft>
                <a:spcPts val="0"/>
              </a:spcAft>
              <a:buClr>
                <a:srgbClr val="000000"/>
              </a:buClr>
              <a:buSzPts val="2800"/>
              <a:buFont typeface="Arial"/>
              <a:buNone/>
            </a:pPr>
            <a:r>
              <a:rPr i="0" lang="en-US" sz="2500" u="none" cap="none" strike="noStrike">
                <a:solidFill>
                  <a:schemeClr val="dk1"/>
                </a:solidFill>
                <a:latin typeface="Times New Roman"/>
                <a:ea typeface="Times New Roman"/>
                <a:cs typeface="Times New Roman"/>
                <a:sym typeface="Times New Roman"/>
              </a:rPr>
              <a:t>It is sometimes used as </a:t>
            </a:r>
            <a:r>
              <a:rPr b="1" i="0" lang="en-US" sz="2500" u="none" cap="none" strike="noStrike">
                <a:solidFill>
                  <a:schemeClr val="dk1"/>
                </a:solidFill>
                <a:latin typeface="Times New Roman"/>
                <a:ea typeface="Times New Roman"/>
                <a:cs typeface="Times New Roman"/>
                <a:sym typeface="Times New Roman"/>
              </a:rPr>
              <a:t>a detailed step in the process of developing a program. </a:t>
            </a:r>
            <a:r>
              <a:rPr i="0" lang="en-US" sz="2500" u="none" cap="none" strike="noStrike">
                <a:solidFill>
                  <a:schemeClr val="dk1"/>
                </a:solidFill>
                <a:latin typeface="Times New Roman"/>
                <a:ea typeface="Times New Roman"/>
                <a:cs typeface="Times New Roman"/>
                <a:sym typeface="Times New Roman"/>
              </a:rPr>
              <a:t> It allows programmers to express the design in great detail and provides programmers a detailed </a:t>
            </a:r>
            <a:r>
              <a:rPr b="1" i="0" lang="en-US" sz="2500" u="none" cap="none" strike="noStrike">
                <a:solidFill>
                  <a:schemeClr val="dk1"/>
                </a:solidFill>
                <a:latin typeface="Times New Roman"/>
                <a:ea typeface="Times New Roman"/>
                <a:cs typeface="Times New Roman"/>
                <a:sym typeface="Times New Roman"/>
              </a:rPr>
              <a:t>template </a:t>
            </a:r>
            <a:r>
              <a:rPr i="0" lang="en-US" sz="2500" u="none" cap="none" strike="noStrike">
                <a:solidFill>
                  <a:schemeClr val="dk1"/>
                </a:solidFill>
                <a:latin typeface="Times New Roman"/>
                <a:ea typeface="Times New Roman"/>
                <a:cs typeface="Times New Roman"/>
                <a:sym typeface="Times New Roman"/>
              </a:rPr>
              <a:t>for the next step of writing code in a specific programming language.</a:t>
            </a:r>
            <a:endParaRPr b="0" i="0" sz="25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55f9865c41_0_13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51" name="Google Shape;151;g255f9865c41_0_13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52" name="Google Shape;152;g255f9865c41_0_13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53" name="Google Shape;153;g255f9865c41_0_13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54" name="Google Shape;154;g255f9865c41_0_13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5" name="Google Shape;155;g255f9865c41_0_13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6" name="Google Shape;156;g255f9865c41_0_13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57" name="Google Shape;157;g255f9865c41_0_13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58" name="Google Shape;158;g255f9865c41_0_133"/>
          <p:cNvSpPr txBox="1"/>
          <p:nvPr/>
        </p:nvSpPr>
        <p:spPr>
          <a:xfrm>
            <a:off x="354850" y="1105275"/>
            <a:ext cx="8338800" cy="48147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rgbClr val="000000"/>
              </a:buClr>
              <a:buSzPts val="2800"/>
              <a:buFont typeface="Arial"/>
              <a:buNone/>
            </a:pPr>
            <a:r>
              <a:rPr b="1" i="0" lang="en-US" sz="2800" u="none" cap="none" strike="noStrike">
                <a:solidFill>
                  <a:srgbClr val="C00000"/>
                </a:solidFill>
                <a:latin typeface="Times New Roman"/>
                <a:ea typeface="Times New Roman"/>
                <a:cs typeface="Times New Roman"/>
                <a:sym typeface="Times New Roman"/>
              </a:rPr>
              <a:t>PSEUDOCODE </a:t>
            </a:r>
            <a:r>
              <a:rPr b="1" lang="en-US" sz="2800">
                <a:solidFill>
                  <a:srgbClr val="C00000"/>
                </a:solidFill>
                <a:latin typeface="Times New Roman"/>
                <a:ea typeface="Times New Roman"/>
                <a:cs typeface="Times New Roman"/>
                <a:sym typeface="Times New Roman"/>
              </a:rPr>
              <a:t>- </a:t>
            </a:r>
            <a:r>
              <a:rPr b="1" i="0" lang="en-US" sz="2800" u="none" cap="none" strike="noStrike">
                <a:solidFill>
                  <a:srgbClr val="C00000"/>
                </a:solidFill>
                <a:highlight>
                  <a:srgbClr val="FFFFFF"/>
                </a:highlight>
                <a:latin typeface="Times New Roman"/>
                <a:ea typeface="Times New Roman"/>
                <a:cs typeface="Times New Roman"/>
                <a:sym typeface="Times New Roman"/>
              </a:rPr>
              <a:t>find the sum of numbers</a:t>
            </a:r>
            <a:endParaRPr b="1" i="0" sz="2800" u="none" cap="none" strike="noStrike">
              <a:solidFill>
                <a:srgbClr val="C00000"/>
              </a:solidFill>
              <a:highlight>
                <a:srgbClr val="FFFFFF"/>
              </a:highlight>
              <a:latin typeface="Times New Roman"/>
              <a:ea typeface="Times New Roman"/>
              <a:cs typeface="Times New Roman"/>
              <a:sym typeface="Times New Roman"/>
            </a:endParaRPr>
          </a:p>
          <a:p>
            <a:pPr indent="0" lvl="0" marL="0" marR="0" rtl="0" algn="just">
              <a:lnSpc>
                <a:spcPct val="100000"/>
              </a:lnSpc>
              <a:spcBef>
                <a:spcPts val="0"/>
              </a:spcBef>
              <a:spcAft>
                <a:spcPts val="0"/>
              </a:spcAft>
              <a:buClr>
                <a:srgbClr val="000000"/>
              </a:buClr>
              <a:buSzPts val="2800"/>
              <a:buFont typeface="Arial"/>
              <a:buNone/>
            </a:pPr>
            <a:r>
              <a:rPr i="0" lang="en-US" sz="2800" u="none" cap="none" strike="noStrike">
                <a:solidFill>
                  <a:srgbClr val="C00000"/>
                </a:solidFill>
                <a:highlight>
                  <a:srgbClr val="FFFFFF"/>
                </a:highlight>
                <a:latin typeface="Times New Roman"/>
                <a:ea typeface="Times New Roman"/>
                <a:cs typeface="Times New Roman"/>
                <a:sym typeface="Times New Roman"/>
              </a:rPr>
              <a:t> </a:t>
            </a:r>
            <a:endParaRPr i="0" sz="2800" u="none" cap="none" strike="noStrike">
              <a:solidFill>
                <a:srgbClr val="C00000"/>
              </a:solidFill>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i="1" lang="en-US" sz="2400" u="none" cap="none" strike="noStrike">
                <a:solidFill>
                  <a:srgbClr val="202124"/>
                </a:solidFill>
                <a:highlight>
                  <a:srgbClr val="FFFFFF"/>
                </a:highlight>
                <a:latin typeface="Times New Roman"/>
                <a:ea typeface="Times New Roman"/>
                <a:cs typeface="Times New Roman"/>
                <a:sym typeface="Times New Roman"/>
              </a:rPr>
              <a:t>int</a:t>
            </a:r>
            <a:r>
              <a:rPr i="1" lang="en-US" sz="2400">
                <a:solidFill>
                  <a:srgbClr val="202124"/>
                </a:solidFill>
                <a:highlight>
                  <a:srgbClr val="FFFFFF"/>
                </a:highlight>
                <a:latin typeface="Times New Roman"/>
                <a:ea typeface="Times New Roman"/>
                <a:cs typeface="Times New Roman"/>
                <a:sym typeface="Times New Roman"/>
              </a:rPr>
              <a:t>N</a:t>
            </a:r>
            <a:r>
              <a:rPr i="1" lang="en-US" sz="2400" u="none" cap="none" strike="noStrike">
                <a:solidFill>
                  <a:srgbClr val="202124"/>
                </a:solidFill>
                <a:highlight>
                  <a:srgbClr val="FFFFFF"/>
                </a:highlight>
                <a:latin typeface="Times New Roman"/>
                <a:ea typeface="Times New Roman"/>
                <a:cs typeface="Times New Roman"/>
                <a:sym typeface="Times New Roman"/>
              </a:rPr>
              <a:t>, sum = </a:t>
            </a:r>
            <a:r>
              <a:rPr i="1" lang="en-US" sz="2400">
                <a:solidFill>
                  <a:srgbClr val="202124"/>
                </a:solidFill>
                <a:highlight>
                  <a:srgbClr val="FFFFFF"/>
                </a:highlight>
                <a:latin typeface="Times New Roman"/>
                <a:ea typeface="Times New Roman"/>
                <a:cs typeface="Times New Roman"/>
                <a:sym typeface="Times New Roman"/>
              </a:rPr>
              <a:t>0</a:t>
            </a:r>
            <a:r>
              <a:rPr i="1" lang="en-US" sz="2400" u="none" cap="none" strike="noStrike">
                <a:solidFill>
                  <a:srgbClr val="202124"/>
                </a:solidFill>
                <a:highlight>
                  <a:srgbClr val="FFFFFF"/>
                </a:highlight>
                <a:latin typeface="Times New Roman"/>
                <a:ea typeface="Times New Roman"/>
                <a:cs typeface="Times New Roman"/>
                <a:sym typeface="Times New Roman"/>
              </a:rPr>
              <a:t>, i = 1         </a:t>
            </a:r>
            <a:endParaRPr i="1" sz="2400">
              <a:solidFill>
                <a:srgbClr val="202124"/>
              </a:solidFill>
              <a:highlight>
                <a:srgbClr val="FFFFFF"/>
              </a:highlight>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i="1" lang="en-US" sz="2400" u="none" cap="none" strike="noStrike">
                <a:solidFill>
                  <a:srgbClr val="202124"/>
                </a:solidFill>
                <a:highlight>
                  <a:srgbClr val="FFFFFF"/>
                </a:highlight>
                <a:latin typeface="Times New Roman"/>
                <a:ea typeface="Times New Roman"/>
                <a:cs typeface="Times New Roman"/>
                <a:sym typeface="Times New Roman"/>
              </a:rPr>
              <a:t>Input N from user</a:t>
            </a:r>
            <a:r>
              <a:rPr i="1" lang="en-US" sz="2400">
                <a:solidFill>
                  <a:srgbClr val="202124"/>
                </a:solidFill>
                <a:highlight>
                  <a:srgbClr val="FFFFFF"/>
                </a:highlight>
                <a:latin typeface="Times New Roman"/>
                <a:ea typeface="Times New Roman"/>
                <a:cs typeface="Times New Roman"/>
                <a:sym typeface="Times New Roman"/>
              </a:rPr>
              <a:t>.</a:t>
            </a:r>
            <a:endParaRPr i="1" sz="2400" u="none" cap="none" strike="noStrike">
              <a:solidFill>
                <a:srgbClr val="202124"/>
              </a:solidFill>
              <a:highlight>
                <a:srgbClr val="FFFFFF"/>
              </a:highlight>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i="1" lang="en-US" sz="2400" u="none" cap="none" strike="noStrike">
                <a:solidFill>
                  <a:srgbClr val="202124"/>
                </a:solidFill>
                <a:highlight>
                  <a:srgbClr val="FFFFFF"/>
                </a:highlight>
                <a:latin typeface="Times New Roman"/>
                <a:ea typeface="Times New Roman"/>
                <a:cs typeface="Times New Roman"/>
                <a:sym typeface="Times New Roman"/>
              </a:rPr>
              <a:t>do</a:t>
            </a:r>
            <a:r>
              <a:rPr i="1" lang="en-US" sz="2400">
                <a:solidFill>
                  <a:srgbClr val="202124"/>
                </a:solidFill>
                <a:highlight>
                  <a:srgbClr val="FFFFFF"/>
                </a:highlight>
                <a:latin typeface="Times New Roman"/>
                <a:ea typeface="Times New Roman"/>
                <a:cs typeface="Times New Roman"/>
                <a:sym typeface="Times New Roman"/>
              </a:rPr>
              <a:t>,                                                </a:t>
            </a:r>
            <a:endParaRPr i="1" sz="2400" u="none" cap="none" strike="noStrike">
              <a:solidFill>
                <a:srgbClr val="202124"/>
              </a:solidFill>
              <a:highlight>
                <a:srgbClr val="FFFFFF"/>
              </a:highlight>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i="1" lang="en-US" sz="2400" u="none" cap="none" strike="noStrike">
                <a:solidFill>
                  <a:srgbClr val="202124"/>
                </a:solidFill>
                <a:highlight>
                  <a:srgbClr val="FFFFFF"/>
                </a:highlight>
                <a:latin typeface="Times New Roman"/>
                <a:ea typeface="Times New Roman"/>
                <a:cs typeface="Times New Roman"/>
                <a:sym typeface="Times New Roman"/>
              </a:rPr>
              <a:t>sum = sum + i.</a:t>
            </a:r>
            <a:endParaRPr i="1" sz="2400" u="none" cap="none" strike="noStrike">
              <a:solidFill>
                <a:srgbClr val="202124"/>
              </a:solidFill>
              <a:highlight>
                <a:srgbClr val="FFFFFF"/>
              </a:highlight>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i="1" lang="en-US" sz="2400" u="none" cap="none" strike="noStrike">
                <a:solidFill>
                  <a:srgbClr val="202124"/>
                </a:solidFill>
                <a:highlight>
                  <a:srgbClr val="FFFFFF"/>
                </a:highlight>
                <a:latin typeface="Times New Roman"/>
                <a:ea typeface="Times New Roman"/>
                <a:cs typeface="Times New Roman"/>
                <a:sym typeface="Times New Roman"/>
              </a:rPr>
              <a:t>i = i + </a:t>
            </a:r>
            <a:r>
              <a:rPr i="1" lang="en-US" sz="2400">
                <a:solidFill>
                  <a:srgbClr val="202124"/>
                </a:solidFill>
                <a:highlight>
                  <a:srgbClr val="FFFFFF"/>
                </a:highlight>
                <a:latin typeface="Times New Roman"/>
                <a:ea typeface="Times New Roman"/>
                <a:cs typeface="Times New Roman"/>
                <a:sym typeface="Times New Roman"/>
              </a:rPr>
              <a:t>1</a:t>
            </a:r>
            <a:r>
              <a:rPr i="1" lang="en-US" sz="2400" u="none" cap="none" strike="noStrike">
                <a:solidFill>
                  <a:srgbClr val="202124"/>
                </a:solidFill>
                <a:highlight>
                  <a:srgbClr val="FFFFFF"/>
                </a:highlight>
                <a:latin typeface="Times New Roman"/>
                <a:ea typeface="Times New Roman"/>
                <a:cs typeface="Times New Roman"/>
                <a:sym typeface="Times New Roman"/>
              </a:rPr>
              <a:t>.                              </a:t>
            </a:r>
            <a:endParaRPr i="1" sz="2400" u="none" cap="none" strike="noStrike">
              <a:solidFill>
                <a:srgbClr val="202124"/>
              </a:solidFill>
              <a:highlight>
                <a:srgbClr val="FFFFFF"/>
              </a:highlight>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i="1" lang="en-US" sz="2400" u="none" cap="none" strike="noStrike">
                <a:solidFill>
                  <a:srgbClr val="202124"/>
                </a:solidFill>
                <a:highlight>
                  <a:srgbClr val="FFFFFF"/>
                </a:highlight>
                <a:latin typeface="Times New Roman"/>
                <a:ea typeface="Times New Roman"/>
                <a:cs typeface="Times New Roman"/>
                <a:sym typeface="Times New Roman"/>
              </a:rPr>
              <a:t>Repeat step 3 to 5 till </a:t>
            </a:r>
            <a:endParaRPr i="1" sz="2400" u="none" cap="none" strike="noStrike">
              <a:solidFill>
                <a:srgbClr val="202124"/>
              </a:solidFill>
              <a:highlight>
                <a:srgbClr val="FFFFFF"/>
              </a:highlight>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i="1" lang="en-US" sz="2400" u="none" cap="none" strike="noStrike">
                <a:solidFill>
                  <a:srgbClr val="202124"/>
                </a:solidFill>
                <a:highlight>
                  <a:srgbClr val="FFFFFF"/>
                </a:highlight>
                <a:latin typeface="Times New Roman"/>
                <a:ea typeface="Times New Roman"/>
                <a:cs typeface="Times New Roman"/>
                <a:sym typeface="Times New Roman"/>
              </a:rPr>
              <a:t>i &lt; = N.</a:t>
            </a:r>
            <a:endParaRPr i="1" sz="2400" u="none" cap="none" strike="noStrike">
              <a:solidFill>
                <a:srgbClr val="202124"/>
              </a:solidFill>
              <a:highlight>
                <a:srgbClr val="FFFFFF"/>
              </a:highlight>
              <a:latin typeface="Times New Roman"/>
              <a:ea typeface="Times New Roman"/>
              <a:cs typeface="Times New Roman"/>
              <a:sym typeface="Times New Roman"/>
            </a:endParaRPr>
          </a:p>
          <a:p>
            <a:pPr indent="0" lvl="0" marL="457200" marR="0" rtl="0" algn="l">
              <a:lnSpc>
                <a:spcPct val="115000"/>
              </a:lnSpc>
              <a:spcBef>
                <a:spcPts val="0"/>
              </a:spcBef>
              <a:spcAft>
                <a:spcPts val="0"/>
              </a:spcAft>
              <a:buNone/>
            </a:pPr>
            <a:r>
              <a:rPr i="1" lang="en-US" sz="2400" u="none" cap="none" strike="noStrike">
                <a:solidFill>
                  <a:srgbClr val="202124"/>
                </a:solidFill>
                <a:highlight>
                  <a:srgbClr val="FFFFFF"/>
                </a:highlight>
                <a:latin typeface="Times New Roman"/>
                <a:ea typeface="Times New Roman"/>
                <a:cs typeface="Times New Roman"/>
                <a:sym typeface="Times New Roman"/>
              </a:rPr>
              <a:t>Display the value of sum.</a:t>
            </a:r>
            <a:endParaRPr i="1" sz="2400" u="none" cap="none" strike="noStrike">
              <a:solidFill>
                <a:srgbClr val="202124"/>
              </a:solidFill>
              <a:highlight>
                <a:srgbClr val="FFFFFF"/>
              </a:highlight>
              <a:latin typeface="Times New Roman"/>
              <a:ea typeface="Times New Roman"/>
              <a:cs typeface="Times New Roman"/>
              <a:sym typeface="Times New Roman"/>
            </a:endParaRPr>
          </a:p>
          <a:p>
            <a:pPr indent="0" lvl="0" marL="0" marR="0" rtl="0" algn="just">
              <a:lnSpc>
                <a:spcPct val="100000"/>
              </a:lnSpc>
              <a:spcBef>
                <a:spcPts val="720"/>
              </a:spcBef>
              <a:spcAft>
                <a:spcPts val="0"/>
              </a:spcAft>
              <a:buClr>
                <a:srgbClr val="000000"/>
              </a:buClr>
              <a:buSzPts val="2400"/>
              <a:buFont typeface="Arial"/>
              <a:buNone/>
            </a:pPr>
            <a:r>
              <a:t/>
            </a:r>
            <a:endParaRPr b="1" i="0" sz="24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55f9865c41_0_1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64" name="Google Shape;164;g255f9865c41_0_1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65" name="Google Shape;165;g255f9865c41_0_1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66" name="Google Shape;166;g255f9865c41_0_1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67" name="Google Shape;167;g255f9865c41_0_1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8" name="Google Shape;168;g255f9865c41_0_12"/>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9" name="Google Shape;169;g255f9865c41_0_12"/>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70" name="Google Shape;170;g255f9865c41_0_1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71" name="Google Shape;171;g255f9865c41_0_12"/>
          <p:cNvSpPr txBox="1"/>
          <p:nvPr/>
        </p:nvSpPr>
        <p:spPr>
          <a:xfrm>
            <a:off x="354842" y="1105287"/>
            <a:ext cx="8338800" cy="43917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988"/>
              <a:buFont typeface="Arial"/>
              <a:buNone/>
            </a:pPr>
            <a:r>
              <a:rPr b="1" i="0" lang="en-US" sz="2688" u="none" cap="none" strike="noStrike">
                <a:solidFill>
                  <a:srgbClr val="FF0000"/>
                </a:solidFill>
                <a:latin typeface="Times New Roman"/>
                <a:ea typeface="Times New Roman"/>
                <a:cs typeface="Times New Roman"/>
                <a:sym typeface="Times New Roman"/>
              </a:rPr>
              <a:t>Fundamentals of algorithmic - problem solving</a:t>
            </a:r>
            <a:endParaRPr b="0" i="0" sz="1100" u="none" cap="none" strike="noStrike">
              <a:solidFill>
                <a:srgbClr val="FF0000"/>
              </a:solidFill>
              <a:latin typeface="Arial"/>
              <a:ea typeface="Arial"/>
              <a:cs typeface="Arial"/>
              <a:sym typeface="Arial"/>
            </a:endParaRPr>
          </a:p>
          <a:p>
            <a:pPr indent="0" lvl="0" marL="0" marR="0" rtl="0" algn="just">
              <a:lnSpc>
                <a:spcPct val="100000"/>
              </a:lnSpc>
              <a:spcBef>
                <a:spcPts val="720"/>
              </a:spcBef>
              <a:spcAft>
                <a:spcPts val="0"/>
              </a:spcAft>
              <a:buClr>
                <a:srgbClr val="000000"/>
              </a:buClr>
              <a:buSzPts val="2800"/>
              <a:buFont typeface="Arial"/>
              <a:buNone/>
            </a:pPr>
            <a:r>
              <a:rPr i="0" lang="en-US" sz="2500" u="none" cap="none" strike="noStrike">
                <a:solidFill>
                  <a:schemeClr val="dk1"/>
                </a:solidFill>
                <a:latin typeface="Times New Roman"/>
                <a:ea typeface="Times New Roman"/>
                <a:cs typeface="Times New Roman"/>
                <a:sym typeface="Times New Roman"/>
              </a:rPr>
              <a:t>Every algorithm should have the following 5 characteristic features: </a:t>
            </a:r>
            <a:endParaRPr i="0" sz="25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i="0" lang="en-US" sz="2500" u="none" cap="none" strike="noStrike">
                <a:solidFill>
                  <a:schemeClr val="dk1"/>
                </a:solidFill>
                <a:latin typeface="Times New Roman"/>
                <a:ea typeface="Times New Roman"/>
                <a:cs typeface="Times New Roman"/>
                <a:sym typeface="Times New Roman"/>
              </a:rPr>
              <a:t>a) Input</a:t>
            </a:r>
            <a:endParaRPr i="0" sz="25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i="0" lang="en-US" sz="2500" u="none" cap="none" strike="noStrike">
                <a:solidFill>
                  <a:schemeClr val="dk1"/>
                </a:solidFill>
                <a:latin typeface="Times New Roman"/>
                <a:ea typeface="Times New Roman"/>
                <a:cs typeface="Times New Roman"/>
                <a:sym typeface="Times New Roman"/>
              </a:rPr>
              <a:t>b) Output </a:t>
            </a:r>
            <a:endParaRPr i="0" sz="25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i="0" lang="en-US" sz="2500" u="none" cap="none" strike="noStrike">
                <a:solidFill>
                  <a:schemeClr val="dk1"/>
                </a:solidFill>
                <a:latin typeface="Times New Roman"/>
                <a:ea typeface="Times New Roman"/>
                <a:cs typeface="Times New Roman"/>
                <a:sym typeface="Times New Roman"/>
              </a:rPr>
              <a:t>c) Finiteness </a:t>
            </a:r>
            <a:endParaRPr i="0" sz="25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i="0" lang="en-US" sz="2500" u="none" cap="none" strike="noStrike">
                <a:solidFill>
                  <a:schemeClr val="dk1"/>
                </a:solidFill>
                <a:latin typeface="Times New Roman"/>
                <a:ea typeface="Times New Roman"/>
                <a:cs typeface="Times New Roman"/>
                <a:sym typeface="Times New Roman"/>
              </a:rPr>
              <a:t>d) Definiteness </a:t>
            </a:r>
            <a:endParaRPr i="0" sz="25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3300"/>
              <a:buFont typeface="Arial"/>
              <a:buNone/>
            </a:pPr>
            <a:r>
              <a:rPr i="0" lang="en-US" sz="2500" u="none" cap="none" strike="noStrike">
                <a:solidFill>
                  <a:schemeClr val="dk1"/>
                </a:solidFill>
                <a:latin typeface="Times New Roman"/>
                <a:ea typeface="Times New Roman"/>
                <a:cs typeface="Times New Roman"/>
                <a:sym typeface="Times New Roman"/>
              </a:rPr>
              <a:t>e) Effectiveness </a:t>
            </a:r>
            <a:endParaRPr i="0" sz="25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200"/>
              <a:buFont typeface="Arial"/>
              <a:buNone/>
            </a:pPr>
            <a:r>
              <a:t/>
            </a:r>
            <a:endParaRPr b="0" i="0" sz="2200" u="none" cap="none" strike="noStrike">
              <a:solidFill>
                <a:schemeClr val="dk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55f9865c41_0_2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77" name="Google Shape;177;g255f9865c41_0_2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78" name="Google Shape;178;g255f9865c41_0_2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79" name="Google Shape;179;g255f9865c41_0_2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80" name="Google Shape;180;g255f9865c41_0_2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1" name="Google Shape;181;g255f9865c41_0_2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g255f9865c41_0_2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83" name="Google Shape;183;g255f9865c41_0_2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84" name="Google Shape;184;g255f9865c41_0_26"/>
          <p:cNvSpPr txBox="1"/>
          <p:nvPr/>
        </p:nvSpPr>
        <p:spPr>
          <a:xfrm>
            <a:off x="197800" y="1105275"/>
            <a:ext cx="8591400" cy="54924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100"/>
              <a:buFont typeface="Arial"/>
              <a:buNone/>
            </a:pPr>
            <a:r>
              <a:rPr b="1" i="0" lang="en-US" sz="2988" u="none" cap="none" strike="noStrike">
                <a:solidFill>
                  <a:srgbClr val="FF0000"/>
                </a:solidFill>
                <a:latin typeface="Times New Roman"/>
                <a:ea typeface="Times New Roman"/>
                <a:cs typeface="Times New Roman"/>
                <a:sym typeface="Times New Roman"/>
              </a:rPr>
              <a:t>Fundamentals of algorithmic problem solving</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400"/>
              <a:buFont typeface="Arial"/>
              <a:buNone/>
            </a:pPr>
            <a:r>
              <a:rPr b="1" i="0" lang="en-US" sz="2000" u="none" cap="none" strike="noStrike">
                <a:solidFill>
                  <a:srgbClr val="C00000"/>
                </a:solidFill>
                <a:latin typeface="Times New Roman"/>
                <a:ea typeface="Times New Roman"/>
                <a:cs typeface="Times New Roman"/>
                <a:sym typeface="Times New Roman"/>
              </a:rPr>
              <a:t>a) Input: </a:t>
            </a:r>
            <a:r>
              <a:rPr lang="en-US" sz="2000">
                <a:solidFill>
                  <a:schemeClr val="dk1"/>
                </a:solidFill>
                <a:latin typeface="Times New Roman"/>
                <a:ea typeface="Times New Roman"/>
                <a:cs typeface="Times New Roman"/>
                <a:sym typeface="Times New Roman"/>
              </a:rPr>
              <a:t>An algorithm may have zero or one or more inputs.</a:t>
            </a:r>
            <a:r>
              <a:rPr i="0" lang="en-US" sz="2000" u="none" cap="none" strike="noStrike">
                <a:solidFill>
                  <a:schemeClr val="dk1"/>
                </a:solidFill>
                <a:latin typeface="Times New Roman"/>
                <a:ea typeface="Times New Roman"/>
                <a:cs typeface="Times New Roman"/>
                <a:sym typeface="Times New Roman"/>
              </a:rPr>
              <a:t> The inputs are taken from a specified set of subjects or </a:t>
            </a:r>
            <a:r>
              <a:rPr lang="en-US" sz="2000">
                <a:solidFill>
                  <a:schemeClr val="dk1"/>
                </a:solidFill>
                <a:latin typeface="Times New Roman"/>
                <a:ea typeface="Times New Roman"/>
                <a:cs typeface="Times New Roman"/>
                <a:sym typeface="Times New Roman"/>
              </a:rPr>
              <a:t>values (input domain).</a:t>
            </a:r>
            <a:endParaRPr sz="2000">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400"/>
              <a:buFont typeface="Arial"/>
              <a:buNone/>
            </a:pPr>
            <a:r>
              <a:t/>
            </a:r>
            <a:endParaRPr sz="2000">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400"/>
              <a:buFont typeface="Arial"/>
              <a:buNone/>
            </a:pPr>
            <a:r>
              <a:rPr i="0" lang="en-US" sz="2000" u="none" cap="none" strike="noStrike">
                <a:solidFill>
                  <a:schemeClr val="dk1"/>
                </a:solidFill>
                <a:latin typeface="Times New Roman"/>
                <a:ea typeface="Times New Roman"/>
                <a:cs typeface="Times New Roman"/>
                <a:sym typeface="Times New Roman"/>
              </a:rPr>
              <a:t>The input pattern may be texts, images or any type of files.</a:t>
            </a:r>
            <a:endParaRPr i="0" sz="20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400"/>
              <a:buFont typeface="Arial"/>
              <a:buNone/>
            </a:pPr>
            <a:r>
              <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lang="en-US" sz="2000">
                <a:solidFill>
                  <a:schemeClr val="dk1"/>
                </a:solidFill>
                <a:latin typeface="Times New Roman"/>
                <a:ea typeface="Times New Roman"/>
                <a:cs typeface="Times New Roman"/>
                <a:sym typeface="Times New Roman"/>
              </a:rPr>
              <a:t>       For example:</a:t>
            </a:r>
            <a:endParaRPr sz="2000">
              <a:solidFill>
                <a:schemeClr val="dk1"/>
              </a:solidFill>
              <a:latin typeface="Times New Roman"/>
              <a:ea typeface="Times New Roman"/>
              <a:cs typeface="Times New Roman"/>
              <a:sym typeface="Times New Roman"/>
            </a:endParaRPr>
          </a:p>
          <a:p>
            <a:pPr indent="-355600" lvl="0" marL="1371600" rtl="0" algn="l">
              <a:lnSpc>
                <a:spcPct val="115000"/>
              </a:lnSpc>
              <a:spcBef>
                <a:spcPts val="1200"/>
              </a:spcBef>
              <a:spcAft>
                <a:spcPts val="0"/>
              </a:spcAft>
              <a:buClr>
                <a:schemeClr val="dk1"/>
              </a:buClr>
              <a:buSzPts val="2000"/>
              <a:buChar char="●"/>
            </a:pPr>
            <a:r>
              <a:rPr b="1" lang="en-US" sz="2000">
                <a:solidFill>
                  <a:schemeClr val="dk1"/>
                </a:solidFill>
                <a:latin typeface="Times New Roman"/>
                <a:ea typeface="Times New Roman"/>
                <a:cs typeface="Times New Roman"/>
                <a:sym typeface="Times New Roman"/>
              </a:rPr>
              <a:t>Zero inputs:</a:t>
            </a:r>
            <a:r>
              <a:rPr lang="en-US" sz="2000">
                <a:solidFill>
                  <a:schemeClr val="dk1"/>
                </a:solidFill>
                <a:latin typeface="Times New Roman"/>
                <a:ea typeface="Times New Roman"/>
                <a:cs typeface="Times New Roman"/>
                <a:sym typeface="Times New Roman"/>
              </a:rPr>
              <a:t> An algorithm that prints "Hello, World!" or displays the current date without requiring user input.</a:t>
            </a:r>
            <a:endParaRPr sz="2000">
              <a:solidFill>
                <a:schemeClr val="dk1"/>
              </a:solidFill>
              <a:latin typeface="Times New Roman"/>
              <a:ea typeface="Times New Roman"/>
              <a:cs typeface="Times New Roman"/>
              <a:sym typeface="Times New Roman"/>
            </a:endParaRPr>
          </a:p>
          <a:p>
            <a:pPr indent="-355600" lvl="0" marL="1371600" rtl="0" algn="l">
              <a:lnSpc>
                <a:spcPct val="115000"/>
              </a:lnSpc>
              <a:spcBef>
                <a:spcPts val="0"/>
              </a:spcBef>
              <a:spcAft>
                <a:spcPts val="0"/>
              </a:spcAft>
              <a:buClr>
                <a:schemeClr val="dk1"/>
              </a:buClr>
              <a:buSzPts val="2000"/>
              <a:buChar char="●"/>
            </a:pPr>
            <a:r>
              <a:rPr b="1" lang="en-US" sz="2000">
                <a:solidFill>
                  <a:schemeClr val="dk1"/>
                </a:solidFill>
                <a:latin typeface="Times New Roman"/>
                <a:ea typeface="Times New Roman"/>
                <a:cs typeface="Times New Roman"/>
                <a:sym typeface="Times New Roman"/>
              </a:rPr>
              <a:t>One input:</a:t>
            </a:r>
            <a:r>
              <a:rPr lang="en-US" sz="2000">
                <a:solidFill>
                  <a:schemeClr val="dk1"/>
                </a:solidFill>
                <a:latin typeface="Times New Roman"/>
                <a:ea typeface="Times New Roman"/>
                <a:cs typeface="Times New Roman"/>
                <a:sym typeface="Times New Roman"/>
              </a:rPr>
              <a:t> An algorithm that computes the square of a number.</a:t>
            </a:r>
            <a:endParaRPr sz="2000">
              <a:solidFill>
                <a:schemeClr val="dk1"/>
              </a:solidFill>
              <a:latin typeface="Times New Roman"/>
              <a:ea typeface="Times New Roman"/>
              <a:cs typeface="Times New Roman"/>
              <a:sym typeface="Times New Roman"/>
            </a:endParaRPr>
          </a:p>
          <a:p>
            <a:pPr indent="-355600" lvl="0" marL="1371600" rtl="0" algn="l">
              <a:lnSpc>
                <a:spcPct val="115000"/>
              </a:lnSpc>
              <a:spcBef>
                <a:spcPts val="0"/>
              </a:spcBef>
              <a:spcAft>
                <a:spcPts val="0"/>
              </a:spcAft>
              <a:buClr>
                <a:schemeClr val="dk1"/>
              </a:buClr>
              <a:buSzPts val="2000"/>
              <a:buChar char="●"/>
            </a:pPr>
            <a:r>
              <a:rPr b="1" lang="en-US" sz="2000">
                <a:solidFill>
                  <a:schemeClr val="dk1"/>
                </a:solidFill>
                <a:latin typeface="Times New Roman"/>
                <a:ea typeface="Times New Roman"/>
                <a:cs typeface="Times New Roman"/>
                <a:sym typeface="Times New Roman"/>
              </a:rPr>
              <a:t>Multiple inputs:</a:t>
            </a:r>
            <a:r>
              <a:rPr lang="en-US" sz="2000">
                <a:solidFill>
                  <a:schemeClr val="dk1"/>
                </a:solidFill>
                <a:latin typeface="Times New Roman"/>
                <a:ea typeface="Times New Roman"/>
                <a:cs typeface="Times New Roman"/>
                <a:sym typeface="Times New Roman"/>
              </a:rPr>
              <a:t> An algorithm that adds two numbers or sorts a list of numbers.</a:t>
            </a:r>
            <a:endParaRPr sz="2000">
              <a:solidFill>
                <a:schemeClr val="dk1"/>
              </a:solidFill>
              <a:latin typeface="Times New Roman"/>
              <a:ea typeface="Times New Roman"/>
              <a:cs typeface="Times New Roman"/>
              <a:sym typeface="Times New Roman"/>
            </a:endParaRPr>
          </a:p>
          <a:p>
            <a:pPr indent="0" lvl="0" marL="457200" marR="0" rtl="0" algn="just">
              <a:lnSpc>
                <a:spcPct val="100000"/>
              </a:lnSpc>
              <a:spcBef>
                <a:spcPts val="1200"/>
              </a:spcBef>
              <a:spcAft>
                <a:spcPts val="0"/>
              </a:spcAft>
              <a:buClr>
                <a:srgbClr val="000000"/>
              </a:buClr>
              <a:buSzPts val="2400"/>
              <a:buFont typeface="Arial"/>
              <a:buNone/>
            </a:pPr>
            <a:r>
              <a:t/>
            </a:r>
            <a:endParaRPr i="0" u="none" cap="none" strike="noStrike">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f96f7e9f36_0_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90" name="Google Shape;190;g3f96f7e9f36_0_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191" name="Google Shape;191;g3f96f7e9f36_0_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192" name="Google Shape;192;g3f96f7e9f36_0_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193" name="Google Shape;193;g3f96f7e9f36_0_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4" name="Google Shape;194;g3f96f7e9f36_0_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95" name="Google Shape;195;g3f96f7e9f36_0_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196" name="Google Shape;196;g3f96f7e9f36_0_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197" name="Google Shape;197;g3f96f7e9f36_0_9"/>
          <p:cNvSpPr txBox="1"/>
          <p:nvPr/>
        </p:nvSpPr>
        <p:spPr>
          <a:xfrm>
            <a:off x="197800" y="1105275"/>
            <a:ext cx="8591400" cy="46920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100"/>
              <a:buFont typeface="Arial"/>
              <a:buNone/>
            </a:pPr>
            <a:r>
              <a:rPr b="1" i="0" lang="en-US" sz="2988" u="none" cap="none" strike="noStrike">
                <a:solidFill>
                  <a:srgbClr val="FF0000"/>
                </a:solidFill>
                <a:latin typeface="Times New Roman"/>
                <a:ea typeface="Times New Roman"/>
                <a:cs typeface="Times New Roman"/>
                <a:sym typeface="Times New Roman"/>
              </a:rPr>
              <a:t>Fundamentals of algorithmic problem solving</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400"/>
              <a:buFont typeface="Arial"/>
              <a:buNone/>
            </a:pPr>
            <a:r>
              <a:t/>
            </a:r>
            <a:endParaRPr>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400"/>
              <a:buFont typeface="Arial"/>
              <a:buNone/>
            </a:pPr>
            <a:r>
              <a:rPr b="1" i="0" lang="en-US" sz="2400" u="none" cap="none" strike="noStrike">
                <a:solidFill>
                  <a:srgbClr val="C00000"/>
                </a:solidFill>
                <a:latin typeface="Times New Roman"/>
                <a:ea typeface="Times New Roman"/>
                <a:cs typeface="Times New Roman"/>
                <a:sym typeface="Times New Roman"/>
              </a:rPr>
              <a:t>b) Output:</a:t>
            </a:r>
            <a:r>
              <a:rPr b="1" i="0" lang="en-US" sz="2400" u="none" cap="none" strike="noStrike">
                <a:solidFill>
                  <a:schemeClr val="dk1"/>
                </a:solidFill>
                <a:latin typeface="Times New Roman"/>
                <a:ea typeface="Times New Roman"/>
                <a:cs typeface="Times New Roman"/>
                <a:sym typeface="Times New Roman"/>
              </a:rPr>
              <a:t> </a:t>
            </a:r>
            <a:r>
              <a:rPr i="0" lang="en-US" sz="2400" u="none" cap="none" strike="noStrike">
                <a:solidFill>
                  <a:schemeClr val="dk1"/>
                </a:solidFill>
                <a:latin typeface="Times New Roman"/>
                <a:ea typeface="Times New Roman"/>
                <a:cs typeface="Times New Roman"/>
                <a:sym typeface="Times New Roman"/>
              </a:rPr>
              <a:t>An algorithm may have one or more outputs. Output is basically a quantity which has a </a:t>
            </a:r>
            <a:r>
              <a:rPr b="1" i="0" lang="en-US" sz="2400" u="none" cap="none" strike="noStrike">
                <a:solidFill>
                  <a:schemeClr val="dk1"/>
                </a:solidFill>
                <a:latin typeface="Times New Roman"/>
                <a:ea typeface="Times New Roman"/>
                <a:cs typeface="Times New Roman"/>
                <a:sym typeface="Times New Roman"/>
              </a:rPr>
              <a:t>specified relation with the input. </a:t>
            </a:r>
            <a:endParaRPr b="1" i="0" sz="24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400"/>
              <a:buFont typeface="Arial"/>
              <a:buNone/>
            </a:pPr>
            <a:r>
              <a:t/>
            </a:r>
            <a:endParaRPr b="1" sz="2400">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400"/>
              <a:buFont typeface="Arial"/>
              <a:buNone/>
            </a:pPr>
            <a:r>
              <a:rPr b="1" i="0" lang="en-US" sz="2400" u="none" cap="none" strike="noStrike">
                <a:solidFill>
                  <a:srgbClr val="C00000"/>
                </a:solidFill>
                <a:latin typeface="Times New Roman"/>
                <a:ea typeface="Times New Roman"/>
                <a:cs typeface="Times New Roman"/>
                <a:sym typeface="Times New Roman"/>
              </a:rPr>
              <a:t>c) Finiteness:</a:t>
            </a:r>
            <a:r>
              <a:rPr b="1" i="0" lang="en-US" sz="2400" u="none" cap="none" strike="noStrike">
                <a:solidFill>
                  <a:schemeClr val="dk1"/>
                </a:solidFill>
                <a:latin typeface="Times New Roman"/>
                <a:ea typeface="Times New Roman"/>
                <a:cs typeface="Times New Roman"/>
                <a:sym typeface="Times New Roman"/>
              </a:rPr>
              <a:t> </a:t>
            </a:r>
            <a:r>
              <a:rPr i="0" lang="en-US" sz="2400" u="none" cap="none" strike="noStrike">
                <a:solidFill>
                  <a:schemeClr val="dk1"/>
                </a:solidFill>
                <a:latin typeface="Times New Roman"/>
                <a:ea typeface="Times New Roman"/>
                <a:cs typeface="Times New Roman"/>
                <a:sym typeface="Times New Roman"/>
              </a:rPr>
              <a:t>An algorithm should terminate after a countable number of steps. In some cases the repetition of steps may be larger in number. If a procedure is able to resolve in finite number of execution of steps, then it is referred to be computational method. </a:t>
            </a:r>
            <a:endParaRPr i="0" sz="2400" u="none" cap="none" strike="noStrike">
              <a:solidFill>
                <a:schemeClr val="dk1"/>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255f9865c41_0_3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03" name="Google Shape;203;g255f9865c41_0_3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04" name="Google Shape;204;g255f9865c41_0_3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05" name="Google Shape;205;g255f9865c41_0_3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06" name="Google Shape;206;g255f9865c41_0_3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7" name="Google Shape;207;g255f9865c41_0_3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8" name="Google Shape;208;g255f9865c41_0_3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09" name="Google Shape;209;g255f9865c41_0_3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10" name="Google Shape;210;g255f9865c41_0_39"/>
          <p:cNvSpPr txBox="1"/>
          <p:nvPr/>
        </p:nvSpPr>
        <p:spPr>
          <a:xfrm>
            <a:off x="354842" y="1105287"/>
            <a:ext cx="8338800" cy="42456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chemeClr val="dk1"/>
              </a:buClr>
              <a:buSzPts val="1100"/>
              <a:buFont typeface="Arial"/>
              <a:buNone/>
            </a:pPr>
            <a:r>
              <a:rPr b="1" i="0" lang="en-US" sz="2988" u="none" cap="none" strike="noStrike">
                <a:solidFill>
                  <a:srgbClr val="FF0000"/>
                </a:solidFill>
                <a:latin typeface="Times New Roman"/>
                <a:ea typeface="Times New Roman"/>
                <a:cs typeface="Times New Roman"/>
                <a:sym typeface="Times New Roman"/>
              </a:rPr>
              <a:t>Fundamentals of </a:t>
            </a:r>
            <a:r>
              <a:rPr b="1" lang="en-US" sz="2988">
                <a:solidFill>
                  <a:srgbClr val="FF0000"/>
                </a:solidFill>
                <a:latin typeface="Times New Roman"/>
                <a:ea typeface="Times New Roman"/>
                <a:cs typeface="Times New Roman"/>
                <a:sym typeface="Times New Roman"/>
              </a:rPr>
              <a:t>A</a:t>
            </a:r>
            <a:r>
              <a:rPr b="1" i="0" lang="en-US" sz="2988" u="none" cap="none" strike="noStrike">
                <a:solidFill>
                  <a:srgbClr val="FF0000"/>
                </a:solidFill>
                <a:latin typeface="Times New Roman"/>
                <a:ea typeface="Times New Roman"/>
                <a:cs typeface="Times New Roman"/>
                <a:sym typeface="Times New Roman"/>
              </a:rPr>
              <a:t>lgorithmic </a:t>
            </a:r>
            <a:r>
              <a:rPr b="1" lang="en-US" sz="2988">
                <a:solidFill>
                  <a:srgbClr val="FF0000"/>
                </a:solidFill>
                <a:latin typeface="Times New Roman"/>
                <a:ea typeface="Times New Roman"/>
                <a:cs typeface="Times New Roman"/>
                <a:sym typeface="Times New Roman"/>
              </a:rPr>
              <a:t>P</a:t>
            </a:r>
            <a:r>
              <a:rPr b="1" i="0" lang="en-US" sz="2988" u="none" cap="none" strike="noStrike">
                <a:solidFill>
                  <a:srgbClr val="FF0000"/>
                </a:solidFill>
                <a:latin typeface="Times New Roman"/>
                <a:ea typeface="Times New Roman"/>
                <a:cs typeface="Times New Roman"/>
                <a:sym typeface="Times New Roman"/>
              </a:rPr>
              <a:t>roblem </a:t>
            </a:r>
            <a:r>
              <a:rPr b="1" lang="en-US" sz="2988">
                <a:solidFill>
                  <a:srgbClr val="FF0000"/>
                </a:solidFill>
                <a:latin typeface="Times New Roman"/>
                <a:ea typeface="Times New Roman"/>
                <a:cs typeface="Times New Roman"/>
                <a:sym typeface="Times New Roman"/>
              </a:rPr>
              <a:t>S</a:t>
            </a:r>
            <a:r>
              <a:rPr b="1" i="0" lang="en-US" sz="2988" u="none" cap="none" strike="noStrike">
                <a:solidFill>
                  <a:srgbClr val="FF0000"/>
                </a:solidFill>
                <a:latin typeface="Times New Roman"/>
                <a:ea typeface="Times New Roman"/>
                <a:cs typeface="Times New Roman"/>
                <a:sym typeface="Times New Roman"/>
              </a:rPr>
              <a:t>olving</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800"/>
              <a:buFont typeface="Arial"/>
              <a:buNone/>
            </a:pPr>
            <a:r>
              <a:rPr b="1" i="0" lang="en-US" sz="2300" u="none" cap="none" strike="noStrike">
                <a:solidFill>
                  <a:srgbClr val="C00000"/>
                </a:solidFill>
                <a:latin typeface="Times New Roman"/>
                <a:ea typeface="Times New Roman"/>
                <a:cs typeface="Times New Roman"/>
                <a:sym typeface="Times New Roman"/>
              </a:rPr>
              <a:t>d) Definiteness: </a:t>
            </a:r>
            <a:r>
              <a:rPr i="0" lang="en-US" sz="2300" u="none" cap="none" strike="noStrike">
                <a:solidFill>
                  <a:schemeClr val="dk1"/>
                </a:solidFill>
                <a:latin typeface="Times New Roman"/>
                <a:ea typeface="Times New Roman"/>
                <a:cs typeface="Times New Roman"/>
                <a:sym typeface="Times New Roman"/>
              </a:rPr>
              <a:t>Each step of an algorithm must be precisely defined. Due to the lack of understandability one may think that the step might be lacking definiteness. Therefore in such cases mathematically expressions are written, so that it resembles the instruction of any computer language. </a:t>
            </a:r>
            <a:endParaRPr i="0" sz="23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t/>
            </a:r>
            <a:endParaRPr b="1" sz="2300">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300" u="none" cap="none" strike="noStrike">
                <a:solidFill>
                  <a:srgbClr val="C00000"/>
                </a:solidFill>
                <a:latin typeface="Times New Roman"/>
                <a:ea typeface="Times New Roman"/>
                <a:cs typeface="Times New Roman"/>
                <a:sym typeface="Times New Roman"/>
              </a:rPr>
              <a:t>e) Effectiveness:</a:t>
            </a:r>
            <a:r>
              <a:rPr b="1" i="0" lang="en-US" sz="2300" u="none" cap="none" strike="noStrike">
                <a:solidFill>
                  <a:schemeClr val="dk1"/>
                </a:solidFill>
                <a:latin typeface="Times New Roman"/>
                <a:ea typeface="Times New Roman"/>
                <a:cs typeface="Times New Roman"/>
                <a:sym typeface="Times New Roman"/>
              </a:rPr>
              <a:t> </a:t>
            </a:r>
            <a:r>
              <a:rPr i="0" lang="en-US" sz="2300" u="none" cap="none" strike="noStrike">
                <a:solidFill>
                  <a:schemeClr val="dk1"/>
                </a:solidFill>
                <a:latin typeface="Times New Roman"/>
                <a:ea typeface="Times New Roman"/>
                <a:cs typeface="Times New Roman"/>
                <a:sym typeface="Times New Roman"/>
              </a:rPr>
              <a:t>An algorithm is generally expected to effective. Means the steps should be sufficiently basic, so that it may be possible for a man to resolve them. </a:t>
            </a:r>
            <a:endParaRPr i="0" sz="1900" u="none" cap="none" strike="noStrike">
              <a:solidFill>
                <a:srgbClr val="C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g255f9865c41_0_5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16" name="Google Shape;216;g255f9865c41_0_5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17" name="Google Shape;217;g255f9865c41_0_5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18" name="Google Shape;218;g255f9865c41_0_5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19" name="Google Shape;219;g255f9865c41_0_5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g255f9865c41_0_5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g255f9865c41_0_5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22" name="Google Shape;222;g255f9865c41_0_5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23" name="Google Shape;223;g255f9865c41_0_51"/>
          <p:cNvSpPr txBox="1"/>
          <p:nvPr/>
        </p:nvSpPr>
        <p:spPr>
          <a:xfrm>
            <a:off x="354842" y="1105287"/>
            <a:ext cx="8338800" cy="50922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Expectation from an </a:t>
            </a:r>
            <a:r>
              <a:rPr b="1" lang="en-US" sz="2988">
                <a:solidFill>
                  <a:srgbClr val="FF0000"/>
                </a:solidFill>
                <a:latin typeface="Times New Roman"/>
                <a:ea typeface="Times New Roman"/>
                <a:cs typeface="Times New Roman"/>
                <a:sym typeface="Times New Roman"/>
              </a:rPr>
              <a:t>A</a:t>
            </a:r>
            <a:r>
              <a:rPr b="1" i="0" lang="en-US" sz="2988" u="none" cap="none" strike="noStrike">
                <a:solidFill>
                  <a:srgbClr val="FF0000"/>
                </a:solidFill>
                <a:latin typeface="Times New Roman"/>
                <a:ea typeface="Times New Roman"/>
                <a:cs typeface="Times New Roman"/>
                <a:sym typeface="Times New Roman"/>
              </a:rPr>
              <a:t>lgorithm</a:t>
            </a:r>
            <a:endParaRPr b="0" i="0" sz="1400" u="none" cap="none" strike="noStrike">
              <a:solidFill>
                <a:srgbClr val="FF0000"/>
              </a:solidFill>
              <a:latin typeface="Arial"/>
              <a:ea typeface="Arial"/>
              <a:cs typeface="Arial"/>
              <a:sym typeface="Arial"/>
            </a:endParaRPr>
          </a:p>
          <a:p>
            <a:pPr indent="0" lvl="0" marL="457200" marR="0" rtl="0" algn="just">
              <a:lnSpc>
                <a:spcPct val="100000"/>
              </a:lnSpc>
              <a:spcBef>
                <a:spcPts val="720"/>
              </a:spcBef>
              <a:spcAft>
                <a:spcPts val="0"/>
              </a:spcAft>
              <a:buClr>
                <a:srgbClr val="000000"/>
              </a:buClr>
              <a:buSzPts val="2800"/>
              <a:buFont typeface="Arial"/>
              <a:buNone/>
            </a:pPr>
            <a:r>
              <a:rPr b="1" i="0" lang="en-US" sz="2200" u="none" cap="none" strike="noStrike">
                <a:solidFill>
                  <a:srgbClr val="C00000"/>
                </a:solidFill>
                <a:latin typeface="Times New Roman"/>
                <a:ea typeface="Times New Roman"/>
                <a:cs typeface="Times New Roman"/>
                <a:sym typeface="Times New Roman"/>
              </a:rPr>
              <a:t>Correctness		:</a:t>
            </a:r>
            <a:r>
              <a:rPr b="1" i="0" lang="en-US" sz="2200" u="none" cap="none" strike="noStrike">
                <a:solidFill>
                  <a:schemeClr val="dk1"/>
                </a:solidFill>
                <a:latin typeface="Times New Roman"/>
                <a:ea typeface="Times New Roman"/>
                <a:cs typeface="Times New Roman"/>
                <a:sym typeface="Times New Roman"/>
              </a:rPr>
              <a:t> 	</a:t>
            </a:r>
            <a:r>
              <a:rPr i="0" lang="en-US" sz="2200" u="none" cap="none" strike="noStrike">
                <a:solidFill>
                  <a:schemeClr val="dk1"/>
                </a:solidFill>
                <a:latin typeface="Times New Roman"/>
                <a:ea typeface="Times New Roman"/>
                <a:cs typeface="Times New Roman"/>
                <a:sym typeface="Times New Roman"/>
              </a:rPr>
              <a:t>Produced by the algorithm should correct.</a:t>
            </a:r>
            <a:endParaRPr i="0" sz="22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t/>
            </a:r>
            <a:endParaRPr sz="2200">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200" u="none" cap="none" strike="noStrike">
                <a:solidFill>
                  <a:srgbClr val="C00000"/>
                </a:solidFill>
                <a:latin typeface="Times New Roman"/>
                <a:ea typeface="Times New Roman"/>
                <a:cs typeface="Times New Roman"/>
                <a:sym typeface="Times New Roman"/>
              </a:rPr>
              <a:t>Approximation		</a:t>
            </a:r>
            <a:r>
              <a:rPr b="1" i="0" lang="en-US" sz="2200" u="none" cap="none" strike="noStrike">
                <a:solidFill>
                  <a:schemeClr val="dk1"/>
                </a:solidFill>
                <a:latin typeface="Times New Roman"/>
                <a:ea typeface="Times New Roman"/>
                <a:cs typeface="Times New Roman"/>
                <a:sym typeface="Times New Roman"/>
              </a:rPr>
              <a:t>:	</a:t>
            </a:r>
            <a:r>
              <a:rPr i="0" lang="en-US" sz="2200" u="none" cap="none" strike="noStrike">
                <a:solidFill>
                  <a:schemeClr val="dk1"/>
                </a:solidFill>
                <a:latin typeface="Times New Roman"/>
                <a:ea typeface="Times New Roman"/>
                <a:cs typeface="Times New Roman"/>
                <a:sym typeface="Times New Roman"/>
              </a:rPr>
              <a:t>Exact solution is not found, but near </a:t>
            </a:r>
            <a:endParaRPr i="0" sz="2200" u="none" cap="none" strike="noStrike">
              <a:solidFill>
                <a:schemeClr val="dk1"/>
              </a:solidFill>
              <a:latin typeface="Times New Roman"/>
              <a:ea typeface="Times New Roman"/>
              <a:cs typeface="Times New Roman"/>
              <a:sym typeface="Times New Roman"/>
            </a:endParaRPr>
          </a:p>
          <a:p>
            <a:pPr indent="0" lvl="0" marL="3200400" marR="0" rtl="0" algn="just">
              <a:lnSpc>
                <a:spcPct val="100000"/>
              </a:lnSpc>
              <a:spcBef>
                <a:spcPts val="720"/>
              </a:spcBef>
              <a:spcAft>
                <a:spcPts val="0"/>
              </a:spcAft>
              <a:buClr>
                <a:srgbClr val="000000"/>
              </a:buClr>
              <a:buSzPts val="2800"/>
              <a:buFont typeface="Arial"/>
              <a:buNone/>
            </a:pPr>
            <a:r>
              <a:rPr i="0" lang="en-US" sz="2200" u="none" cap="none" strike="noStrike">
                <a:solidFill>
                  <a:schemeClr val="dk1"/>
                </a:solidFill>
                <a:latin typeface="Times New Roman"/>
                <a:ea typeface="Times New Roman"/>
                <a:cs typeface="Times New Roman"/>
                <a:sym typeface="Times New Roman"/>
              </a:rPr>
              <a:t>optimal solution can be found out</a:t>
            </a:r>
            <a:endParaRPr i="0" sz="22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t/>
            </a:r>
            <a:endParaRPr sz="2200">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200" u="none" cap="none" strike="noStrike">
                <a:solidFill>
                  <a:srgbClr val="C00000"/>
                </a:solidFill>
                <a:latin typeface="Times New Roman"/>
                <a:ea typeface="Times New Roman"/>
                <a:cs typeface="Times New Roman"/>
                <a:sym typeface="Times New Roman"/>
              </a:rPr>
              <a:t>Generality			:</a:t>
            </a:r>
            <a:r>
              <a:rPr b="1" i="0" lang="en-US" sz="2200" u="none" cap="none" strike="noStrike">
                <a:solidFill>
                  <a:schemeClr val="dk1"/>
                </a:solidFill>
                <a:latin typeface="Times New Roman"/>
                <a:ea typeface="Times New Roman"/>
                <a:cs typeface="Times New Roman"/>
                <a:sym typeface="Times New Roman"/>
              </a:rPr>
              <a:t>	</a:t>
            </a:r>
            <a:r>
              <a:rPr i="0" lang="en-US" sz="2200" u="none" cap="none" strike="noStrike">
                <a:solidFill>
                  <a:schemeClr val="dk1"/>
                </a:solidFill>
                <a:latin typeface="Times New Roman"/>
                <a:ea typeface="Times New Roman"/>
                <a:cs typeface="Times New Roman"/>
                <a:sym typeface="Times New Roman"/>
              </a:rPr>
              <a:t>Algorithm applies to set of standard inputs.</a:t>
            </a:r>
            <a:endParaRPr i="0" sz="22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t/>
            </a:r>
            <a:endParaRPr sz="2200">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b="1" i="0" lang="en-US" sz="2200" u="none" cap="none" strike="noStrike">
                <a:solidFill>
                  <a:srgbClr val="C00000"/>
                </a:solidFill>
                <a:latin typeface="Times New Roman"/>
                <a:ea typeface="Times New Roman"/>
                <a:cs typeface="Times New Roman"/>
                <a:sym typeface="Times New Roman"/>
              </a:rPr>
              <a:t>Less resource usage:</a:t>
            </a:r>
            <a:r>
              <a:rPr b="1" i="0" lang="en-US" sz="2200" u="none" cap="none" strike="noStrike">
                <a:solidFill>
                  <a:schemeClr val="dk1"/>
                </a:solidFill>
                <a:latin typeface="Times New Roman"/>
                <a:ea typeface="Times New Roman"/>
                <a:cs typeface="Times New Roman"/>
                <a:sym typeface="Times New Roman"/>
              </a:rPr>
              <a:t> 	</a:t>
            </a:r>
            <a:r>
              <a:rPr i="0" lang="en-US" sz="2200" u="none" cap="none" strike="noStrike">
                <a:solidFill>
                  <a:schemeClr val="dk1"/>
                </a:solidFill>
                <a:latin typeface="Times New Roman"/>
                <a:ea typeface="Times New Roman"/>
                <a:cs typeface="Times New Roman"/>
                <a:sym typeface="Times New Roman"/>
              </a:rPr>
              <a:t>Algorithms should use less resources (time </a:t>
            </a:r>
            <a:endParaRPr i="0" sz="2200" u="none" cap="none" strike="noStrike">
              <a:solidFill>
                <a:schemeClr val="dk1"/>
              </a:solidFill>
              <a:latin typeface="Times New Roman"/>
              <a:ea typeface="Times New Roman"/>
              <a:cs typeface="Times New Roman"/>
              <a:sym typeface="Times New Roman"/>
            </a:endParaRPr>
          </a:p>
          <a:p>
            <a:pPr indent="457200" lvl="0" marL="2743200" marR="0" rtl="0" algn="just">
              <a:lnSpc>
                <a:spcPct val="100000"/>
              </a:lnSpc>
              <a:spcBef>
                <a:spcPts val="720"/>
              </a:spcBef>
              <a:spcAft>
                <a:spcPts val="0"/>
              </a:spcAft>
              <a:buClr>
                <a:srgbClr val="000000"/>
              </a:buClr>
              <a:buSzPts val="2800"/>
              <a:buFont typeface="Arial"/>
              <a:buNone/>
            </a:pPr>
            <a:r>
              <a:rPr i="0" lang="en-US" sz="2200" u="none" cap="none" strike="noStrike">
                <a:solidFill>
                  <a:schemeClr val="dk1"/>
                </a:solidFill>
                <a:latin typeface="Times New Roman"/>
                <a:ea typeface="Times New Roman"/>
                <a:cs typeface="Times New Roman"/>
                <a:sym typeface="Times New Roman"/>
              </a:rPr>
              <a:t>and space).</a:t>
            </a:r>
            <a:endParaRPr i="0" sz="2200" u="none" cap="none" strike="noStrike">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800"/>
              <a:buFont typeface="Arial"/>
              <a:buNone/>
            </a:pPr>
            <a:r>
              <a:rPr i="0" lang="en-US" sz="2200" u="none" cap="none" strike="noStrike">
                <a:solidFill>
                  <a:schemeClr val="dk1"/>
                </a:solidFill>
                <a:latin typeface="Times New Roman"/>
                <a:ea typeface="Times New Roman"/>
                <a:cs typeface="Times New Roman"/>
                <a:sym typeface="Times New Roman"/>
              </a:rPr>
              <a:t> </a:t>
            </a:r>
            <a:endParaRPr i="0" sz="1800" u="none" cap="none" strike="noStrike">
              <a:solidFill>
                <a:srgbClr val="C00000"/>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255f9865c41_0_6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29" name="Google Shape;229;g255f9865c41_0_6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30" name="Google Shape;230;g255f9865c41_0_6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31" name="Google Shape;231;g255f9865c41_0_6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32" name="Google Shape;232;g255f9865c41_0_6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3" name="Google Shape;233;g255f9865c41_0_6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g255f9865c41_0_6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35" name="Google Shape;235;g255f9865c41_0_6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36" name="Google Shape;236;g255f9865c41_0_63"/>
          <p:cNvSpPr txBox="1"/>
          <p:nvPr/>
        </p:nvSpPr>
        <p:spPr>
          <a:xfrm>
            <a:off x="354850" y="1105275"/>
            <a:ext cx="8434200" cy="4914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What is Computer algorithm? </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rPr lang="en-US" sz="2188">
                <a:solidFill>
                  <a:schemeClr val="dk1"/>
                </a:solidFill>
                <a:latin typeface="Times New Roman"/>
                <a:ea typeface="Times New Roman"/>
                <a:cs typeface="Times New Roman"/>
                <a:sym typeface="Times New Roman"/>
              </a:rPr>
              <a:t>“</a:t>
            </a:r>
            <a:r>
              <a:rPr i="1" lang="en-US" sz="2188" u="none" cap="none" strike="noStrike">
                <a:solidFill>
                  <a:schemeClr val="dk1"/>
                </a:solidFill>
                <a:latin typeface="Times New Roman"/>
                <a:ea typeface="Times New Roman"/>
                <a:cs typeface="Times New Roman"/>
                <a:sym typeface="Times New Roman"/>
              </a:rPr>
              <a:t>A set of steps to accomplish or complete a task that is described precisely enough that a computer can run it</a:t>
            </a:r>
            <a:r>
              <a:rPr i="1" lang="en-US" sz="2188">
                <a:solidFill>
                  <a:schemeClr val="dk1"/>
                </a:solidFill>
                <a:latin typeface="Times New Roman"/>
                <a:ea typeface="Times New Roman"/>
                <a:cs typeface="Times New Roman"/>
                <a:sym typeface="Times New Roman"/>
              </a:rPr>
              <a:t>.</a:t>
            </a:r>
            <a:r>
              <a:rPr lang="en-US" sz="2188">
                <a:solidFill>
                  <a:schemeClr val="dk1"/>
                </a:solidFill>
                <a:latin typeface="Times New Roman"/>
                <a:ea typeface="Times New Roman"/>
                <a:cs typeface="Times New Roman"/>
                <a:sym typeface="Times New Roman"/>
              </a:rPr>
              <a:t>” </a:t>
            </a:r>
            <a:endParaRPr sz="2188">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sz="2188">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rPr b="1" lang="en-US" sz="2188">
                <a:solidFill>
                  <a:schemeClr val="dk1"/>
                </a:solidFill>
                <a:latin typeface="Times New Roman"/>
                <a:ea typeface="Times New Roman"/>
                <a:cs typeface="Times New Roman"/>
                <a:sym typeface="Times New Roman"/>
              </a:rPr>
              <a:t>These algorithms run on computers or computational devices.</a:t>
            </a:r>
            <a:endParaRPr b="1" sz="2188">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sz="2188">
              <a:solidFill>
                <a:schemeClr val="dk1"/>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rPr i="0" lang="en-US" sz="2000" u="none" cap="none" strike="noStrike">
                <a:solidFill>
                  <a:schemeClr val="dk1"/>
                </a:solidFill>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For </a:t>
            </a:r>
            <a:r>
              <a:rPr i="0" lang="en-US" sz="2000" u="none" cap="none" strike="noStrike">
                <a:solidFill>
                  <a:schemeClr val="dk1"/>
                </a:solidFill>
                <a:latin typeface="Times New Roman"/>
                <a:ea typeface="Times New Roman"/>
                <a:cs typeface="Times New Roman"/>
                <a:sym typeface="Times New Roman"/>
              </a:rPr>
              <a:t>Example: </a:t>
            </a:r>
            <a:endParaRPr i="0" sz="2000" u="none" cap="none" strike="noStrike">
              <a:solidFill>
                <a:schemeClr val="dk1"/>
              </a:solidFill>
              <a:latin typeface="Times New Roman"/>
              <a:ea typeface="Times New Roman"/>
              <a:cs typeface="Times New Roman"/>
              <a:sym typeface="Times New Roman"/>
            </a:endParaRPr>
          </a:p>
          <a:p>
            <a:pPr indent="-355600" lvl="0" marL="1371600" rtl="0" algn="just">
              <a:spcBef>
                <a:spcPts val="72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GPS in our smartphones </a:t>
            </a:r>
            <a:r>
              <a:rPr lang="en-US" sz="2000">
                <a:solidFill>
                  <a:schemeClr val="dk1"/>
                </a:solidFill>
                <a:latin typeface="Times New Roman"/>
                <a:ea typeface="Times New Roman"/>
                <a:cs typeface="Times New Roman"/>
                <a:sym typeface="Times New Roman"/>
              </a:rPr>
              <a:t>	- GPS uses shortest path algorithm. </a:t>
            </a:r>
            <a:endParaRPr sz="2000">
              <a:solidFill>
                <a:schemeClr val="dk1"/>
              </a:solidFill>
              <a:latin typeface="Times New Roman"/>
              <a:ea typeface="Times New Roman"/>
              <a:cs typeface="Times New Roman"/>
              <a:sym typeface="Times New Roman"/>
            </a:endParaRPr>
          </a:p>
          <a:p>
            <a:pPr indent="-355600" lvl="0" marL="1371600" rtl="0" algn="just">
              <a:spcBef>
                <a:spcPts val="0"/>
              </a:spcBef>
              <a:spcAft>
                <a:spcPts val="0"/>
              </a:spcAft>
              <a:buClr>
                <a:schemeClr val="dk1"/>
              </a:buClr>
              <a:buSzPts val="2000"/>
              <a:buFont typeface="Times New Roman"/>
              <a:buChar char="➢"/>
            </a:pPr>
            <a:r>
              <a:rPr b="1" lang="en-US" sz="2000">
                <a:solidFill>
                  <a:schemeClr val="dk1"/>
                </a:solidFill>
                <a:latin typeface="Times New Roman"/>
                <a:ea typeface="Times New Roman"/>
                <a:cs typeface="Times New Roman"/>
                <a:sym typeface="Times New Roman"/>
              </a:rPr>
              <a:t>Online shopping</a:t>
            </a:r>
            <a:r>
              <a:rPr lang="en-US" sz="2000">
                <a:solidFill>
                  <a:schemeClr val="dk1"/>
                </a:solidFill>
                <a:latin typeface="Times New Roman"/>
                <a:ea typeface="Times New Roman"/>
                <a:cs typeface="Times New Roman"/>
                <a:sym typeface="Times New Roman"/>
              </a:rPr>
              <a:t>     		- uses cryptography which uses RSA </a:t>
            </a:r>
            <a:endParaRPr sz="2000">
              <a:solidFill>
                <a:schemeClr val="dk1"/>
              </a:solidFill>
              <a:latin typeface="Times New Roman"/>
              <a:ea typeface="Times New Roman"/>
              <a:cs typeface="Times New Roman"/>
              <a:sym typeface="Times New Roman"/>
            </a:endParaRPr>
          </a:p>
          <a:p>
            <a:pPr indent="0" lvl="0" marL="4114800" rtl="0" algn="just">
              <a:spcBef>
                <a:spcPts val="720"/>
              </a:spcBef>
              <a:spcAft>
                <a:spcPts val="0"/>
              </a:spcAft>
              <a:buNone/>
            </a:pPr>
            <a:r>
              <a:rPr lang="en-US" sz="2000">
                <a:solidFill>
                  <a:schemeClr val="dk1"/>
                </a:solidFill>
                <a:latin typeface="Times New Roman"/>
                <a:ea typeface="Times New Roman"/>
                <a:cs typeface="Times New Roman"/>
                <a:sym typeface="Times New Roman"/>
              </a:rPr>
              <a:t>   algorithm</a:t>
            </a:r>
            <a:endParaRPr sz="2000">
              <a:solidFill>
                <a:schemeClr val="dk1"/>
              </a:solidFill>
              <a:latin typeface="Times New Roman"/>
              <a:ea typeface="Times New Roman"/>
              <a:cs typeface="Times New Roman"/>
              <a:sym typeface="Times New Roman"/>
            </a:endParaRPr>
          </a:p>
          <a:p>
            <a:pPr indent="-355600" lvl="0" marL="1371600" marR="0" rtl="0" algn="l">
              <a:lnSpc>
                <a:spcPct val="100000"/>
              </a:lnSpc>
              <a:spcBef>
                <a:spcPts val="720"/>
              </a:spcBef>
              <a:spcAft>
                <a:spcPts val="0"/>
              </a:spcAft>
              <a:buClr>
                <a:schemeClr val="dk1"/>
              </a:buClr>
              <a:buSzPts val="2000"/>
              <a:buFont typeface="Times New Roman"/>
              <a:buChar char="➢"/>
            </a:pPr>
            <a:r>
              <a:rPr b="1" i="0" lang="en-US" sz="2000" u="none" cap="none" strike="noStrike">
                <a:solidFill>
                  <a:schemeClr val="dk1"/>
                </a:solidFill>
                <a:latin typeface="Times New Roman"/>
                <a:ea typeface="Times New Roman"/>
                <a:cs typeface="Times New Roman"/>
                <a:sym typeface="Times New Roman"/>
              </a:rPr>
              <a:t>Tea making algorithm</a:t>
            </a:r>
            <a:r>
              <a:rPr lang="en-US" sz="2000">
                <a:solidFill>
                  <a:schemeClr val="dk1"/>
                </a:solidFill>
                <a:latin typeface="Times New Roman"/>
                <a:ea typeface="Times New Roman"/>
                <a:cs typeface="Times New Roman"/>
                <a:sym typeface="Times New Roman"/>
              </a:rPr>
              <a:t> 	- </a:t>
            </a:r>
            <a:r>
              <a:rPr i="0" lang="en-US" sz="2000" u="none" cap="none" strike="noStrike">
                <a:solidFill>
                  <a:schemeClr val="dk1"/>
                </a:solidFill>
                <a:latin typeface="Times New Roman"/>
                <a:ea typeface="Times New Roman"/>
                <a:cs typeface="Times New Roman"/>
                <a:sym typeface="Times New Roman"/>
              </a:rPr>
              <a:t>very difficult for a machine to know </a:t>
            </a:r>
            <a:endParaRPr i="0" sz="2000" u="none" cap="none" strike="noStrike">
              <a:solidFill>
                <a:schemeClr val="dk1"/>
              </a:solidFill>
              <a:latin typeface="Times New Roman"/>
              <a:ea typeface="Times New Roman"/>
              <a:cs typeface="Times New Roman"/>
              <a:sym typeface="Times New Roman"/>
            </a:endParaRPr>
          </a:p>
          <a:p>
            <a:pPr indent="0" lvl="0" marL="4114800" marR="0" rtl="0" algn="l">
              <a:lnSpc>
                <a:spcPct val="100000"/>
              </a:lnSpc>
              <a:spcBef>
                <a:spcPts val="720"/>
              </a:spcBef>
              <a:spcAft>
                <a:spcPts val="0"/>
              </a:spcAft>
              <a:buNone/>
            </a:pPr>
            <a:r>
              <a:rPr lang="en-US" sz="2000">
                <a:solidFill>
                  <a:schemeClr val="dk1"/>
                </a:solidFill>
                <a:latin typeface="Times New Roman"/>
                <a:ea typeface="Times New Roman"/>
                <a:cs typeface="Times New Roman"/>
                <a:sym typeface="Times New Roman"/>
              </a:rPr>
              <a:t>   </a:t>
            </a:r>
            <a:r>
              <a:rPr i="0" lang="en-US" sz="2000" u="none" cap="none" strike="noStrike">
                <a:solidFill>
                  <a:schemeClr val="dk1"/>
                </a:solidFill>
                <a:latin typeface="Times New Roman"/>
                <a:ea typeface="Times New Roman"/>
                <a:cs typeface="Times New Roman"/>
                <a:sym typeface="Times New Roman"/>
              </a:rPr>
              <a:t>how much water, milk to be added </a:t>
            </a:r>
            <a:endParaRPr i="0" sz="2000" u="none" cap="none" strike="noStrike">
              <a:solidFill>
                <a:schemeClr val="dk1"/>
              </a:solidFill>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255f9865c41_0_9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42" name="Google Shape;242;g255f9865c41_0_9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43" name="Google Shape;243;g255f9865c41_0_9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44" name="Google Shape;244;g255f9865c41_0_9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45" name="Google Shape;245;g255f9865c41_0_9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6" name="Google Shape;246;g255f9865c41_0_9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7" name="Google Shape;247;g255f9865c41_0_9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48" name="Google Shape;248;g255f9865c41_0_9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49" name="Google Shape;249;g255f9865c41_0_94"/>
          <p:cNvSpPr txBox="1"/>
          <p:nvPr/>
        </p:nvSpPr>
        <p:spPr>
          <a:xfrm>
            <a:off x="354842" y="1105287"/>
            <a:ext cx="8338800" cy="11046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The Analysis Framework</a:t>
            </a:r>
            <a:r>
              <a:rPr b="1" lang="en-US" sz="2988">
                <a:solidFill>
                  <a:srgbClr val="FF0000"/>
                </a:solidFill>
                <a:latin typeface="Times New Roman"/>
                <a:ea typeface="Times New Roman"/>
                <a:cs typeface="Times New Roman"/>
                <a:sym typeface="Times New Roman"/>
              </a:rPr>
              <a:t> - </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250" name="Google Shape;250;g255f9865c41_0_94"/>
          <p:cNvPicPr preferRelativeResize="0"/>
          <p:nvPr/>
        </p:nvPicPr>
        <p:blipFill rotWithShape="1">
          <a:blip r:embed="rId5">
            <a:alphaModFix/>
          </a:blip>
          <a:srcRect b="0" l="0" r="0" t="0"/>
          <a:stretch/>
        </p:blipFill>
        <p:spPr>
          <a:xfrm>
            <a:off x="4763" y="1690825"/>
            <a:ext cx="9134475" cy="5224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55f9865c41_1_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56" name="Google Shape;256;g255f9865c41_1_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57" name="Google Shape;257;g255f9865c41_1_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58" name="Google Shape;258;g255f9865c41_1_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59" name="Google Shape;259;g255f9865c41_1_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g255f9865c41_1_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g255f9865c41_1_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62" name="Google Shape;262;g255f9865c41_1_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63" name="Google Shape;263;g255f9865c41_1_1"/>
          <p:cNvSpPr txBox="1"/>
          <p:nvPr/>
        </p:nvSpPr>
        <p:spPr>
          <a:xfrm>
            <a:off x="354842" y="1105287"/>
            <a:ext cx="8338800" cy="11046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The Analysis Framework:</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264" name="Google Shape;264;g255f9865c41_1_1"/>
          <p:cNvPicPr preferRelativeResize="0"/>
          <p:nvPr/>
        </p:nvPicPr>
        <p:blipFill rotWithShape="1">
          <a:blip r:embed="rId5">
            <a:alphaModFix/>
          </a:blip>
          <a:srcRect b="0" l="0" r="0" t="0"/>
          <a:stretch/>
        </p:blipFill>
        <p:spPr>
          <a:xfrm>
            <a:off x="4750" y="1690825"/>
            <a:ext cx="9134475" cy="5030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g255f9865c41_1_1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70" name="Google Shape;270;g255f9865c41_1_1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271" name="Google Shape;271;g255f9865c41_1_1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72" name="Google Shape;272;g255f9865c41_1_1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73" name="Google Shape;273;g255f9865c41_1_1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g255f9865c41_1_1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5" name="Google Shape;275;g255f9865c41_1_1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76" name="Google Shape;276;g255f9865c41_1_1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77" name="Google Shape;277;g255f9865c41_1_15"/>
          <p:cNvSpPr txBox="1"/>
          <p:nvPr/>
        </p:nvSpPr>
        <p:spPr>
          <a:xfrm>
            <a:off x="354842" y="1105287"/>
            <a:ext cx="8338800" cy="11046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The Analysis Framework:</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278" name="Google Shape;278;g255f9865c41_1_15"/>
          <p:cNvPicPr preferRelativeResize="0"/>
          <p:nvPr/>
        </p:nvPicPr>
        <p:blipFill rotWithShape="1">
          <a:blip r:embed="rId5">
            <a:alphaModFix/>
          </a:blip>
          <a:srcRect b="0" l="0" r="0" t="0"/>
          <a:stretch/>
        </p:blipFill>
        <p:spPr>
          <a:xfrm>
            <a:off x="138988" y="2014475"/>
            <a:ext cx="8961575" cy="47069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g3f5da4610e5_0_1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84" name="Google Shape;284;g3f5da4610e5_0_15"/>
          <p:cNvPicPr preferRelativeResize="0"/>
          <p:nvPr>
            <p:ph idx="1" type="body"/>
          </p:nvPr>
        </p:nvPicPr>
        <p:blipFill rotWithShape="1">
          <a:blip r:embed="rId3">
            <a:alphaModFix/>
          </a:blip>
          <a:srcRect b="0" l="0" r="0" t="0"/>
          <a:stretch/>
        </p:blipFill>
        <p:spPr>
          <a:xfrm>
            <a:off x="0" y="11616"/>
            <a:ext cx="9144000" cy="6858000"/>
          </a:xfrm>
          <a:prstGeom prst="rect">
            <a:avLst/>
          </a:prstGeom>
          <a:noFill/>
          <a:ln>
            <a:noFill/>
          </a:ln>
        </p:spPr>
      </p:pic>
      <p:pic>
        <p:nvPicPr>
          <p:cNvPr id="285" name="Google Shape;285;g3f5da4610e5_0_1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286" name="Google Shape;286;g3f5da4610e5_0_1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287" name="Google Shape;287;g3f5da4610e5_0_1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8" name="Google Shape;288;g3f5da4610e5_0_1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g3f5da4610e5_0_1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290" name="Google Shape;290;g3f5da4610e5_0_1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291" name="Google Shape;291;g3f5da4610e5_0_15"/>
          <p:cNvSpPr txBox="1"/>
          <p:nvPr/>
        </p:nvSpPr>
        <p:spPr>
          <a:xfrm>
            <a:off x="354850" y="1105278"/>
            <a:ext cx="8338800" cy="825000"/>
          </a:xfrm>
          <a:prstGeom prst="rect">
            <a:avLst/>
          </a:prstGeom>
          <a:noFill/>
          <a:ln>
            <a:noFill/>
          </a:ln>
        </p:spPr>
        <p:txBody>
          <a:bodyPr anchorCtr="0" anchor="t" bIns="45700" lIns="91425" spcFirstLastPara="1" rIns="91425" wrap="square" tIns="45700">
            <a:spAutoFit/>
          </a:bodyPr>
          <a:lstStyle/>
          <a:p>
            <a:pPr indent="0" lvl="0" marL="0" rtl="0" algn="l">
              <a:lnSpc>
                <a:spcPct val="104000"/>
              </a:lnSpc>
              <a:spcBef>
                <a:spcPts val="0"/>
              </a:spcBef>
              <a:spcAft>
                <a:spcPts val="0"/>
              </a:spcAft>
              <a:buClr>
                <a:schemeClr val="dk1"/>
              </a:buClr>
              <a:buSzPts val="1100"/>
              <a:buFont typeface="Arial"/>
              <a:buNone/>
            </a:pPr>
            <a:r>
              <a:rPr lang="en-US" sz="2750">
                <a:solidFill>
                  <a:srgbClr val="FF0000"/>
                </a:solidFill>
              </a:rPr>
              <a:t>Measuring Input Size (n): </a:t>
            </a:r>
            <a:r>
              <a:rPr lang="en-US" sz="1900">
                <a:solidFill>
                  <a:srgbClr val="2C3249"/>
                </a:solidFill>
              </a:rPr>
              <a:t>Input size </a:t>
            </a:r>
            <a:r>
              <a:rPr b="1" lang="en-US" sz="1900">
                <a:solidFill>
                  <a:srgbClr val="2C3249"/>
                </a:solidFill>
              </a:rPr>
              <a:t>n</a:t>
            </a:r>
            <a:r>
              <a:rPr lang="en-US" sz="1900">
                <a:solidFill>
                  <a:srgbClr val="2C3249"/>
                </a:solidFill>
              </a:rPr>
              <a:t> quantifies the amount of data an algorithm must process. The definition of </a:t>
            </a:r>
            <a:r>
              <a:rPr i="1" lang="en-US" sz="1900">
                <a:solidFill>
                  <a:srgbClr val="2C3249"/>
                </a:solidFill>
              </a:rPr>
              <a:t>n</a:t>
            </a:r>
            <a:r>
              <a:rPr lang="en-US" sz="1900">
                <a:solidFill>
                  <a:srgbClr val="2C3249"/>
                </a:solidFill>
              </a:rPr>
              <a:t> depends on the problem</a:t>
            </a:r>
            <a:endParaRPr sz="2750">
              <a:solidFill>
                <a:srgbClr val="FF0000"/>
              </a:solidFill>
            </a:endParaRPr>
          </a:p>
        </p:txBody>
      </p:sp>
      <p:pic>
        <p:nvPicPr>
          <p:cNvPr id="292" name="Google Shape;292;g3f5da4610e5_0_15"/>
          <p:cNvPicPr preferRelativeResize="0"/>
          <p:nvPr/>
        </p:nvPicPr>
        <p:blipFill>
          <a:blip r:embed="rId5">
            <a:alphaModFix/>
          </a:blip>
          <a:stretch>
            <a:fillRect/>
          </a:stretch>
        </p:blipFill>
        <p:spPr>
          <a:xfrm>
            <a:off x="197800" y="2209300"/>
            <a:ext cx="2257425" cy="2400300"/>
          </a:xfrm>
          <a:prstGeom prst="rect">
            <a:avLst/>
          </a:prstGeom>
          <a:noFill/>
          <a:ln>
            <a:noFill/>
          </a:ln>
        </p:spPr>
      </p:pic>
      <p:pic>
        <p:nvPicPr>
          <p:cNvPr id="293" name="Google Shape;293;g3f5da4610e5_0_15"/>
          <p:cNvPicPr preferRelativeResize="0"/>
          <p:nvPr/>
        </p:nvPicPr>
        <p:blipFill>
          <a:blip r:embed="rId6">
            <a:alphaModFix/>
          </a:blip>
          <a:stretch>
            <a:fillRect/>
          </a:stretch>
        </p:blipFill>
        <p:spPr>
          <a:xfrm>
            <a:off x="2651150" y="2209298"/>
            <a:ext cx="1775400" cy="2282657"/>
          </a:xfrm>
          <a:prstGeom prst="rect">
            <a:avLst/>
          </a:prstGeom>
          <a:noFill/>
          <a:ln>
            <a:noFill/>
          </a:ln>
        </p:spPr>
      </p:pic>
      <p:pic>
        <p:nvPicPr>
          <p:cNvPr id="294" name="Google Shape;294;g3f5da4610e5_0_15"/>
          <p:cNvPicPr preferRelativeResize="0"/>
          <p:nvPr/>
        </p:nvPicPr>
        <p:blipFill>
          <a:blip r:embed="rId7">
            <a:alphaModFix/>
          </a:blip>
          <a:stretch>
            <a:fillRect/>
          </a:stretch>
        </p:blipFill>
        <p:spPr>
          <a:xfrm>
            <a:off x="4705700" y="2365225"/>
            <a:ext cx="1852685" cy="2282650"/>
          </a:xfrm>
          <a:prstGeom prst="rect">
            <a:avLst/>
          </a:prstGeom>
          <a:noFill/>
          <a:ln>
            <a:noFill/>
          </a:ln>
        </p:spPr>
      </p:pic>
      <p:pic>
        <p:nvPicPr>
          <p:cNvPr id="295" name="Google Shape;295;g3f5da4610e5_0_15"/>
          <p:cNvPicPr preferRelativeResize="0"/>
          <p:nvPr/>
        </p:nvPicPr>
        <p:blipFill>
          <a:blip r:embed="rId8">
            <a:alphaModFix/>
          </a:blip>
          <a:stretch>
            <a:fillRect/>
          </a:stretch>
        </p:blipFill>
        <p:spPr>
          <a:xfrm>
            <a:off x="7007800" y="2268125"/>
            <a:ext cx="1610363" cy="22826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g255f9865c41_1_2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01" name="Google Shape;301;g255f9865c41_1_2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02" name="Google Shape;302;g255f9865c41_1_2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03" name="Google Shape;303;g255f9865c41_1_2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04" name="Google Shape;304;g255f9865c41_1_2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5" name="Google Shape;305;g255f9865c41_1_2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6" name="Google Shape;306;g255f9865c41_1_2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07" name="Google Shape;307;g255f9865c41_1_2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08" name="Google Shape;308;g255f9865c41_1_29"/>
          <p:cNvSpPr txBox="1"/>
          <p:nvPr/>
        </p:nvSpPr>
        <p:spPr>
          <a:xfrm>
            <a:off x="354842" y="1105287"/>
            <a:ext cx="8338800" cy="11046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i="0" lang="en-US" sz="2988" u="none" cap="none" strike="noStrike">
                <a:solidFill>
                  <a:srgbClr val="FF0000"/>
                </a:solidFill>
                <a:latin typeface="Times New Roman"/>
                <a:ea typeface="Times New Roman"/>
                <a:cs typeface="Times New Roman"/>
                <a:sym typeface="Times New Roman"/>
              </a:rPr>
              <a:t>The Analysis Framework:</a:t>
            </a:r>
            <a:endParaRPr b="1" i="0" sz="2988" u="none" cap="none" strike="noStrike">
              <a:solidFill>
                <a:srgbClr val="FF0000"/>
              </a:solidFill>
              <a:latin typeface="Times New Roman"/>
              <a:ea typeface="Times New Roman"/>
              <a:cs typeface="Times New Roman"/>
              <a:sym typeface="Times New Roman"/>
            </a:endParaRPr>
          </a:p>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09" name="Google Shape;309;g255f9865c41_1_29"/>
          <p:cNvPicPr preferRelativeResize="0"/>
          <p:nvPr/>
        </p:nvPicPr>
        <p:blipFill rotWithShape="1">
          <a:blip r:embed="rId5">
            <a:alphaModFix/>
          </a:blip>
          <a:srcRect b="0" l="0" r="0" t="0"/>
          <a:stretch/>
        </p:blipFill>
        <p:spPr>
          <a:xfrm>
            <a:off x="0" y="2037225"/>
            <a:ext cx="9144000" cy="36423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g255f9865c41_1_4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15" name="Google Shape;315;g255f9865c41_1_4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16" name="Google Shape;316;g255f9865c41_1_4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17" name="Google Shape;317;g255f9865c41_1_4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18" name="Google Shape;318;g255f9865c41_1_4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9" name="Google Shape;319;g255f9865c41_1_4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0" name="Google Shape;320;g255f9865c41_1_4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21" name="Google Shape;321;g255f9865c41_1_4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22" name="Google Shape;322;g255f9865c41_1_4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23" name="Google Shape;323;g255f9865c41_1_43"/>
          <p:cNvPicPr preferRelativeResize="0"/>
          <p:nvPr/>
        </p:nvPicPr>
        <p:blipFill rotWithShape="1">
          <a:blip r:embed="rId5">
            <a:alphaModFix/>
          </a:blip>
          <a:srcRect b="0" l="0" r="0" t="0"/>
          <a:stretch/>
        </p:blipFill>
        <p:spPr>
          <a:xfrm>
            <a:off x="197800" y="1191875"/>
            <a:ext cx="8822525" cy="55295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255f9865c41_1_5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29" name="Google Shape;329;g255f9865c41_1_5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30" name="Google Shape;330;g255f9865c41_1_5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31" name="Google Shape;331;g255f9865c41_1_5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32" name="Google Shape;332;g255f9865c41_1_5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3" name="Google Shape;333;g255f9865c41_1_5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4" name="Google Shape;334;g255f9865c41_1_5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35" name="Google Shape;335;g255f9865c41_1_5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36" name="Google Shape;336;g255f9865c41_1_5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37" name="Google Shape;337;g255f9865c41_1_57"/>
          <p:cNvPicPr preferRelativeResize="0"/>
          <p:nvPr/>
        </p:nvPicPr>
        <p:blipFill rotWithShape="1">
          <a:blip r:embed="rId5">
            <a:alphaModFix/>
          </a:blip>
          <a:srcRect b="0" l="0" r="0" t="0"/>
          <a:stretch/>
        </p:blipFill>
        <p:spPr>
          <a:xfrm>
            <a:off x="105775" y="1196450"/>
            <a:ext cx="8932450" cy="56615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255f9865c41_1_7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43" name="Google Shape;343;g255f9865c41_1_71"/>
          <p:cNvPicPr preferRelativeResize="0"/>
          <p:nvPr>
            <p:ph idx="1" type="body"/>
          </p:nvPr>
        </p:nvPicPr>
        <p:blipFill rotWithShape="1">
          <a:blip r:embed="rId3">
            <a:alphaModFix/>
          </a:blip>
          <a:srcRect b="0" l="0" r="0" t="0"/>
          <a:stretch/>
        </p:blipFill>
        <p:spPr>
          <a:xfrm>
            <a:off x="-47750" y="0"/>
            <a:ext cx="9144000" cy="6858000"/>
          </a:xfrm>
          <a:prstGeom prst="rect">
            <a:avLst/>
          </a:prstGeom>
          <a:noFill/>
          <a:ln cap="flat" cmpd="sng" w="9525">
            <a:solidFill>
              <a:srgbClr val="FF0000"/>
            </a:solidFill>
            <a:prstDash val="solid"/>
            <a:round/>
            <a:headEnd len="sm" w="sm" type="none"/>
            <a:tailEnd len="sm" w="sm" type="none"/>
          </a:ln>
        </p:spPr>
      </p:pic>
      <p:pic>
        <p:nvPicPr>
          <p:cNvPr id="344" name="Google Shape;344;g255f9865c41_1_7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45" name="Google Shape;345;g255f9865c41_1_7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46" name="Google Shape;346;g255f9865c41_1_7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7" name="Google Shape;347;g255f9865c41_1_7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8" name="Google Shape;348;g255f9865c41_1_7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49" name="Google Shape;349;g255f9865c41_1_7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50" name="Google Shape;350;g255f9865c41_1_71"/>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51" name="Google Shape;351;g255f9865c41_1_71"/>
          <p:cNvPicPr preferRelativeResize="0"/>
          <p:nvPr/>
        </p:nvPicPr>
        <p:blipFill rotWithShape="1">
          <a:blip r:embed="rId5">
            <a:alphaModFix/>
          </a:blip>
          <a:srcRect b="0" l="0" r="0" t="0"/>
          <a:stretch/>
        </p:blipFill>
        <p:spPr>
          <a:xfrm>
            <a:off x="0" y="1276325"/>
            <a:ext cx="9144000" cy="41810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255f9865c41_1_8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57" name="Google Shape;357;g255f9865c41_1_8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58" name="Google Shape;358;g255f9865c41_1_8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59" name="Google Shape;359;g255f9865c41_1_8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60" name="Google Shape;360;g255f9865c41_1_8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1" name="Google Shape;361;g255f9865c41_1_8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62" name="Google Shape;362;g255f9865c41_1_8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63" name="Google Shape;363;g255f9865c41_1_8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64" name="Google Shape;364;g255f9865c41_1_8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65" name="Google Shape;365;g255f9865c41_1_85"/>
          <p:cNvPicPr preferRelativeResize="0"/>
          <p:nvPr/>
        </p:nvPicPr>
        <p:blipFill rotWithShape="1">
          <a:blip r:embed="rId5">
            <a:alphaModFix/>
          </a:blip>
          <a:srcRect b="0" l="0" r="0" t="2638"/>
          <a:stretch/>
        </p:blipFill>
        <p:spPr>
          <a:xfrm>
            <a:off x="147650" y="1140123"/>
            <a:ext cx="8848725" cy="55289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g255f9865c41_1_9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71" name="Google Shape;371;g255f9865c41_1_99"/>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72" name="Google Shape;372;g255f9865c41_1_9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73" name="Google Shape;373;g255f9865c41_1_9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74" name="Google Shape;374;g255f9865c41_1_9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5" name="Google Shape;375;g255f9865c41_1_9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g255f9865c41_1_9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77" name="Google Shape;377;g255f9865c41_1_9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78" name="Google Shape;378;g255f9865c41_1_99"/>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379" name="Google Shape;379;g255f9865c41_1_99"/>
          <p:cNvPicPr preferRelativeResize="0"/>
          <p:nvPr/>
        </p:nvPicPr>
        <p:blipFill rotWithShape="1">
          <a:blip r:embed="rId5">
            <a:alphaModFix/>
          </a:blip>
          <a:srcRect b="0" l="0" r="0" t="0"/>
          <a:stretch/>
        </p:blipFill>
        <p:spPr>
          <a:xfrm>
            <a:off x="100025" y="1134278"/>
            <a:ext cx="8943975" cy="56221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255f9865c41_1_11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85" name="Google Shape;385;g255f9865c41_1_113"/>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386" name="Google Shape;386;g255f9865c41_1_11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387" name="Google Shape;387;g255f9865c41_1_11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388" name="Google Shape;388;g255f9865c41_1_11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9" name="Google Shape;389;g255f9865c41_1_11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90" name="Google Shape;390;g255f9865c41_1_11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391" name="Google Shape;391;g255f9865c41_1_11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392" name="Google Shape;392;g255f9865c41_1_113"/>
          <p:cNvSpPr txBox="1"/>
          <p:nvPr/>
        </p:nvSpPr>
        <p:spPr>
          <a:xfrm>
            <a:off x="296842" y="826262"/>
            <a:ext cx="8338800" cy="11181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720"/>
              </a:spcBef>
              <a:spcAft>
                <a:spcPts val="0"/>
              </a:spcAft>
              <a:buClr>
                <a:srgbClr val="000000"/>
              </a:buClr>
              <a:buSzPts val="2288"/>
              <a:buFont typeface="Arial"/>
              <a:buNone/>
            </a:pPr>
            <a:r>
              <a:rPr b="1" i="0" lang="en-US" sz="2288" u="none" cap="none" strike="noStrike">
                <a:solidFill>
                  <a:srgbClr val="C00000"/>
                </a:solidFill>
                <a:latin typeface="Times New Roman"/>
                <a:ea typeface="Times New Roman"/>
                <a:cs typeface="Times New Roman"/>
                <a:sym typeface="Times New Roman"/>
              </a:rPr>
              <a:t>Order of Growth</a:t>
            </a:r>
            <a:r>
              <a:rPr b="1" lang="en-US" sz="2288">
                <a:solidFill>
                  <a:srgbClr val="C00000"/>
                </a:solidFill>
                <a:latin typeface="Times New Roman"/>
                <a:ea typeface="Times New Roman"/>
                <a:cs typeface="Times New Roman"/>
                <a:sym typeface="Times New Roman"/>
              </a:rPr>
              <a:t> - </a:t>
            </a:r>
            <a:endParaRPr b="1" i="0" sz="2288" u="none" cap="none" strike="noStrike">
              <a:solidFill>
                <a:srgbClr val="C00000"/>
              </a:solidFill>
              <a:latin typeface="Times New Roman"/>
              <a:ea typeface="Times New Roman"/>
              <a:cs typeface="Times New Roman"/>
              <a:sym typeface="Times New Roman"/>
            </a:endParaRPr>
          </a:p>
          <a:p>
            <a:pPr indent="0" lvl="0" marL="0" marR="0" rtl="0" algn="just">
              <a:lnSpc>
                <a:spcPct val="100000"/>
              </a:lnSpc>
              <a:spcBef>
                <a:spcPts val="720"/>
              </a:spcBef>
              <a:spcAft>
                <a:spcPts val="0"/>
              </a:spcAft>
              <a:buClr>
                <a:srgbClr val="000000"/>
              </a:buClr>
              <a:buSzPts val="1588"/>
              <a:buFont typeface="Arial"/>
              <a:buNone/>
            </a:pPr>
            <a:r>
              <a:rPr b="1" i="0" lang="en-US" sz="1888" u="none" cap="none" strike="noStrike">
                <a:solidFill>
                  <a:schemeClr val="dk1"/>
                </a:solidFill>
                <a:latin typeface="Times New Roman"/>
                <a:ea typeface="Times New Roman"/>
                <a:cs typeface="Times New Roman"/>
                <a:sym typeface="Times New Roman"/>
              </a:rPr>
              <a:t>It is described by the highest degree term of the formula for running time. (Drop lower-order terms. Ignore the constant coefficient in the leading term.)</a:t>
            </a:r>
            <a:endParaRPr b="1" i="0" sz="1888" u="none" cap="none" strike="noStrike">
              <a:solidFill>
                <a:schemeClr val="dk1"/>
              </a:solidFill>
              <a:latin typeface="Times New Roman"/>
              <a:ea typeface="Times New Roman"/>
              <a:cs typeface="Times New Roman"/>
              <a:sym typeface="Times New Roman"/>
            </a:endParaRPr>
          </a:p>
        </p:txBody>
      </p:sp>
      <p:pic>
        <p:nvPicPr>
          <p:cNvPr id="393" name="Google Shape;393;g255f9865c41_1_113"/>
          <p:cNvPicPr preferRelativeResize="0"/>
          <p:nvPr/>
        </p:nvPicPr>
        <p:blipFill rotWithShape="1">
          <a:blip r:embed="rId5">
            <a:alphaModFix/>
          </a:blip>
          <a:srcRect b="0" l="0" r="0" t="2638"/>
          <a:stretch/>
        </p:blipFill>
        <p:spPr>
          <a:xfrm>
            <a:off x="147525" y="2130975"/>
            <a:ext cx="8996474" cy="45038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g255f9865c41_1_12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99" name="Google Shape;399;g255f9865c41_1_127"/>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00" name="Google Shape;400;g255f9865c41_1_12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01" name="Google Shape;401;g255f9865c41_1_12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02" name="Google Shape;402;g255f9865c41_1_12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3" name="Google Shape;403;g255f9865c41_1_12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04" name="Google Shape;404;g255f9865c41_1_12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05" name="Google Shape;405;g255f9865c41_1_12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06" name="Google Shape;406;g255f9865c41_1_12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07" name="Google Shape;407;g255f9865c41_1_127"/>
          <p:cNvPicPr preferRelativeResize="0"/>
          <p:nvPr/>
        </p:nvPicPr>
        <p:blipFill rotWithShape="1">
          <a:blip r:embed="rId5">
            <a:alphaModFix/>
          </a:blip>
          <a:srcRect b="0" l="0" r="0" t="0"/>
          <a:stretch/>
        </p:blipFill>
        <p:spPr>
          <a:xfrm>
            <a:off x="450374" y="1195400"/>
            <a:ext cx="8349499" cy="522256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255f9865c41_1_14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13" name="Google Shape;413;g255f9865c41_1_141"/>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14" name="Google Shape;414;g255f9865c41_1_14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15" name="Google Shape;415;g255f9865c41_1_14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16" name="Google Shape;416;g255f9865c41_1_14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7" name="Google Shape;417;g255f9865c41_1_14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8" name="Google Shape;418;g255f9865c41_1_14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19" name="Google Shape;419;g255f9865c41_1_14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20" name="Google Shape;420;g255f9865c41_1_141"/>
          <p:cNvSpPr txBox="1"/>
          <p:nvPr/>
        </p:nvSpPr>
        <p:spPr>
          <a:xfrm>
            <a:off x="354842" y="1105287"/>
            <a:ext cx="8338800" cy="7389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rPr b="1" lang="en-US" sz="2100">
                <a:solidFill>
                  <a:schemeClr val="dk1"/>
                </a:solidFill>
              </a:rPr>
              <a:t>Order of growth</a:t>
            </a:r>
            <a:r>
              <a:rPr lang="en-US" sz="2100">
                <a:solidFill>
                  <a:schemeClr val="dk1"/>
                </a:solidFill>
              </a:rPr>
              <a:t> → describes the </a:t>
            </a:r>
            <a:r>
              <a:rPr b="1" lang="en-US" sz="2100">
                <a:solidFill>
                  <a:schemeClr val="dk1"/>
                </a:solidFill>
              </a:rPr>
              <a:t>rate at which an algorithm's resource requirement grows</a:t>
            </a:r>
            <a:r>
              <a:rPr lang="en-US" sz="2100">
                <a:solidFill>
                  <a:schemeClr val="dk1"/>
                </a:solidFill>
              </a:rPr>
              <a:t>. </a:t>
            </a:r>
            <a:endParaRPr b="1" i="0" sz="3988" u="none" cap="none" strike="noStrike">
              <a:solidFill>
                <a:schemeClr val="dk1"/>
              </a:solidFill>
              <a:latin typeface="Times New Roman"/>
              <a:ea typeface="Times New Roman"/>
              <a:cs typeface="Times New Roman"/>
              <a:sym typeface="Times New Roman"/>
            </a:endParaRPr>
          </a:p>
        </p:txBody>
      </p:sp>
      <p:pic>
        <p:nvPicPr>
          <p:cNvPr id="421" name="Google Shape;421;g255f9865c41_1_141"/>
          <p:cNvPicPr preferRelativeResize="0"/>
          <p:nvPr/>
        </p:nvPicPr>
        <p:blipFill rotWithShape="1">
          <a:blip r:embed="rId5">
            <a:alphaModFix/>
          </a:blip>
          <a:srcRect b="0" l="0" r="0" t="0"/>
          <a:stretch/>
        </p:blipFill>
        <p:spPr>
          <a:xfrm>
            <a:off x="0" y="2182700"/>
            <a:ext cx="8794450" cy="46032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g255f9865c41_1_21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27" name="Google Shape;427;g255f9865c41_1_21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28" name="Google Shape;428;g255f9865c41_1_21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29" name="Google Shape;429;g255f9865c41_1_21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30" name="Google Shape;430;g255f9865c41_1_21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g255f9865c41_1_21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2" name="Google Shape;432;g255f9865c41_1_21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33" name="Google Shape;433;g255f9865c41_1_21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34" name="Google Shape;434;g255f9865c41_1_214"/>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35" name="Google Shape;435;g255f9865c41_1_214"/>
          <p:cNvPicPr preferRelativeResize="0"/>
          <p:nvPr/>
        </p:nvPicPr>
        <p:blipFill rotWithShape="1">
          <a:blip r:embed="rId5">
            <a:alphaModFix/>
          </a:blip>
          <a:srcRect b="0" l="0" r="0" t="0"/>
          <a:stretch/>
        </p:blipFill>
        <p:spPr>
          <a:xfrm>
            <a:off x="450375" y="1371500"/>
            <a:ext cx="8338799" cy="49053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255f9865c41_1_22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41" name="Google Shape;441;g255f9865c41_1_22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42" name="Google Shape;442;g255f9865c41_1_22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43" name="Google Shape;443;g255f9865c41_1_22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44" name="Google Shape;444;g255f9865c41_1_22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5" name="Google Shape;445;g255f9865c41_1_22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6" name="Google Shape;446;g255f9865c41_1_22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47" name="Google Shape;447;g255f9865c41_1_22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48" name="Google Shape;448;g255f9865c41_1_22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49" name="Google Shape;449;g255f9865c41_1_228"/>
          <p:cNvPicPr preferRelativeResize="0"/>
          <p:nvPr/>
        </p:nvPicPr>
        <p:blipFill rotWithShape="1">
          <a:blip r:embed="rId5">
            <a:alphaModFix/>
          </a:blip>
          <a:srcRect b="0" l="0" r="0" t="0"/>
          <a:stretch/>
        </p:blipFill>
        <p:spPr>
          <a:xfrm>
            <a:off x="393725" y="1431925"/>
            <a:ext cx="8338800" cy="49244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255f9865c41_1_24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55" name="Google Shape;455;g255f9865c41_1_242"/>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56" name="Google Shape;456;g255f9865c41_1_24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57" name="Google Shape;457;g255f9865c41_1_24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58" name="Google Shape;458;g255f9865c41_1_24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9" name="Google Shape;459;g255f9865c41_1_242"/>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60" name="Google Shape;460;g255f9865c41_1_242"/>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61" name="Google Shape;461;g255f9865c41_1_24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62" name="Google Shape;462;g255f9865c41_1_242"/>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63" name="Google Shape;463;g255f9865c41_1_242"/>
          <p:cNvPicPr preferRelativeResize="0"/>
          <p:nvPr/>
        </p:nvPicPr>
        <p:blipFill rotWithShape="1">
          <a:blip r:embed="rId5">
            <a:alphaModFix/>
          </a:blip>
          <a:srcRect b="0" l="0" r="0" t="0"/>
          <a:stretch/>
        </p:blipFill>
        <p:spPr>
          <a:xfrm>
            <a:off x="354850" y="1383323"/>
            <a:ext cx="8563125" cy="5000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255f9865c41_1_25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69" name="Google Shape;469;g255f9865c41_1_256"/>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70" name="Google Shape;470;g255f9865c41_1_25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71" name="Google Shape;471;g255f9865c41_1_25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72" name="Google Shape;472;g255f9865c41_1_25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3" name="Google Shape;473;g255f9865c41_1_25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4" name="Google Shape;474;g255f9865c41_1_25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75" name="Google Shape;475;g255f9865c41_1_25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76" name="Google Shape;476;g255f9865c41_1_256"/>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77" name="Google Shape;477;g255f9865c41_1_256"/>
          <p:cNvPicPr preferRelativeResize="0"/>
          <p:nvPr/>
        </p:nvPicPr>
        <p:blipFill rotWithShape="1">
          <a:blip r:embed="rId5">
            <a:alphaModFix/>
          </a:blip>
          <a:srcRect b="0" l="0" r="0" t="0"/>
          <a:stretch/>
        </p:blipFill>
        <p:spPr>
          <a:xfrm>
            <a:off x="450378" y="1322775"/>
            <a:ext cx="8443225" cy="49530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255f9865c41_1_270"/>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83" name="Google Shape;483;g255f9865c41_1_270"/>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84" name="Google Shape;484;g255f9865c41_1_270"/>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85" name="Google Shape;485;g255f9865c41_1_270"/>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486" name="Google Shape;486;g255f9865c41_1_270"/>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7" name="Google Shape;487;g255f9865c41_1_270"/>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8" name="Google Shape;488;g255f9865c41_1_270"/>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489" name="Google Shape;489;g255f9865c41_1_27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490" name="Google Shape;490;g255f9865c41_1_270"/>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491" name="Google Shape;491;g255f9865c41_1_270"/>
          <p:cNvPicPr preferRelativeResize="0"/>
          <p:nvPr/>
        </p:nvPicPr>
        <p:blipFill rotWithShape="1">
          <a:blip r:embed="rId5">
            <a:alphaModFix/>
          </a:blip>
          <a:srcRect b="0" l="0" r="0" t="0"/>
          <a:stretch/>
        </p:blipFill>
        <p:spPr>
          <a:xfrm>
            <a:off x="360400" y="1322775"/>
            <a:ext cx="8484475" cy="5038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95" name="Shape 495"/>
        <p:cNvGrpSpPr/>
        <p:nvPr/>
      </p:nvGrpSpPr>
      <p:grpSpPr>
        <a:xfrm>
          <a:off x="0" y="0"/>
          <a:ext cx="0" cy="0"/>
          <a:chOff x="0" y="0"/>
          <a:chExt cx="0" cy="0"/>
        </a:xfrm>
      </p:grpSpPr>
      <p:sp>
        <p:nvSpPr>
          <p:cNvPr id="496" name="Google Shape;496;g255f9865c41_1_28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497" name="Google Shape;497;g255f9865c41_1_284"/>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498" name="Google Shape;498;g255f9865c41_1_28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499" name="Google Shape;499;g255f9865c41_1_28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00" name="Google Shape;500;g255f9865c41_1_284"/>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1" name="Google Shape;501;g255f9865c41_1_28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2" name="Google Shape;502;g255f9865c41_1_28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03" name="Google Shape;503;g255f9865c41_1_28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04" name="Google Shape;504;g255f9865c41_1_284"/>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pic>
        <p:nvPicPr>
          <p:cNvPr id="505" name="Google Shape;505;g255f9865c41_1_284"/>
          <p:cNvPicPr preferRelativeResize="0"/>
          <p:nvPr/>
        </p:nvPicPr>
        <p:blipFill rotWithShape="1">
          <a:blip r:embed="rId5">
            <a:alphaModFix/>
          </a:blip>
          <a:srcRect b="0" l="0" r="0" t="0"/>
          <a:stretch/>
        </p:blipFill>
        <p:spPr>
          <a:xfrm>
            <a:off x="354850" y="1090600"/>
            <a:ext cx="8434325" cy="53559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g255f9865c41_1_15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11" name="Google Shape;511;g255f9865c41_1_155"/>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12" name="Google Shape;512;g255f9865c41_1_15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13" name="Google Shape;513;g255f9865c41_1_15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14" name="Google Shape;514;g255f9865c41_1_15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g255f9865c41_1_15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6" name="Google Shape;516;g255f9865c41_1_15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17" name="Google Shape;517;g255f9865c41_1_15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18" name="Google Shape;518;g255f9865c41_1_15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19" name="Google Shape;519;g255f9865c41_1_155"/>
          <p:cNvSpPr txBox="1"/>
          <p:nvPr/>
        </p:nvSpPr>
        <p:spPr>
          <a:xfrm>
            <a:off x="0" y="1105275"/>
            <a:ext cx="8841900" cy="554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en-US" sz="2600" u="none" cap="none" strike="noStrike">
                <a:solidFill>
                  <a:srgbClr val="C00000"/>
                </a:solidFill>
                <a:latin typeface="Arial"/>
                <a:ea typeface="Arial"/>
                <a:cs typeface="Arial"/>
                <a:sym typeface="Arial"/>
              </a:rPr>
              <a:t>Asymptotic notation -</a:t>
            </a:r>
            <a:r>
              <a:rPr b="1" i="0" lang="en-US" sz="2800" u="none" cap="none" strike="noStrike">
                <a:solidFill>
                  <a:srgbClr val="C00000"/>
                </a:solidFill>
                <a:latin typeface="Arial"/>
                <a:ea typeface="Arial"/>
                <a:cs typeface="Arial"/>
                <a:sym typeface="Arial"/>
              </a:rPr>
              <a:t> </a:t>
            </a:r>
            <a:r>
              <a:rPr lang="en-US" sz="1100"/>
              <a:t>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a:p>
            <a:pPr indent="-327025" lvl="0" marL="685800" rtl="0" algn="l">
              <a:lnSpc>
                <a:spcPct val="158000"/>
              </a:lnSpc>
              <a:spcBef>
                <a:spcPts val="0"/>
              </a:spcBef>
              <a:spcAft>
                <a:spcPts val="0"/>
              </a:spcAft>
              <a:buClr>
                <a:srgbClr val="273239"/>
              </a:buClr>
              <a:buSzPts val="1550"/>
              <a:buFont typeface="Times New Roman"/>
              <a:buChar char="●"/>
            </a:pPr>
            <a:r>
              <a:rPr lang="en-US" sz="1550">
                <a:solidFill>
                  <a:srgbClr val="273239"/>
                </a:solidFill>
                <a:highlight>
                  <a:srgbClr val="FFFFFF"/>
                </a:highlight>
                <a:latin typeface="Times New Roman"/>
                <a:ea typeface="Times New Roman"/>
                <a:cs typeface="Times New Roman"/>
                <a:sym typeface="Times New Roman"/>
              </a:rPr>
              <a:t>Asymptotic Notations are mathematical tools used to analyze the performance of algorithms by understanding how their efficiency changes as the input size grows.</a:t>
            </a:r>
            <a:endParaRPr sz="1550">
              <a:solidFill>
                <a:srgbClr val="273239"/>
              </a:solidFill>
              <a:highlight>
                <a:srgbClr val="FFFFFF"/>
              </a:highlight>
              <a:latin typeface="Times New Roman"/>
              <a:ea typeface="Times New Roman"/>
              <a:cs typeface="Times New Roman"/>
              <a:sym typeface="Times New Roman"/>
            </a:endParaRPr>
          </a:p>
          <a:p>
            <a:pPr indent="-327025" lvl="0" marL="685800" rtl="0" algn="l">
              <a:lnSpc>
                <a:spcPct val="158000"/>
              </a:lnSpc>
              <a:spcBef>
                <a:spcPts val="0"/>
              </a:spcBef>
              <a:spcAft>
                <a:spcPts val="0"/>
              </a:spcAft>
              <a:buClr>
                <a:srgbClr val="273239"/>
              </a:buClr>
              <a:buSzPts val="1550"/>
              <a:buFont typeface="Times New Roman"/>
              <a:buChar char="●"/>
            </a:pPr>
            <a:r>
              <a:rPr lang="en-US" sz="1550">
                <a:solidFill>
                  <a:srgbClr val="273239"/>
                </a:solidFill>
                <a:highlight>
                  <a:srgbClr val="FFFFFF"/>
                </a:highlight>
                <a:latin typeface="Times New Roman"/>
                <a:ea typeface="Times New Roman"/>
                <a:cs typeface="Times New Roman"/>
                <a:sym typeface="Times New Roman"/>
              </a:rPr>
              <a:t>These notations provide a concise way to express the behavior of an algorithm's time or space complexity as the input size approaches infinity.</a:t>
            </a:r>
            <a:endParaRPr sz="1550">
              <a:solidFill>
                <a:srgbClr val="273239"/>
              </a:solidFill>
              <a:highlight>
                <a:srgbClr val="FFFFFF"/>
              </a:highlight>
              <a:latin typeface="Times New Roman"/>
              <a:ea typeface="Times New Roman"/>
              <a:cs typeface="Times New Roman"/>
              <a:sym typeface="Times New Roman"/>
            </a:endParaRPr>
          </a:p>
          <a:p>
            <a:pPr indent="-327025" lvl="0" marL="685800" rtl="0" algn="l">
              <a:lnSpc>
                <a:spcPct val="158000"/>
              </a:lnSpc>
              <a:spcBef>
                <a:spcPts val="0"/>
              </a:spcBef>
              <a:spcAft>
                <a:spcPts val="0"/>
              </a:spcAft>
              <a:buClr>
                <a:srgbClr val="273239"/>
              </a:buClr>
              <a:buSzPts val="1550"/>
              <a:buFont typeface="Times New Roman"/>
              <a:buChar char="●"/>
            </a:pPr>
            <a:r>
              <a:rPr lang="en-US" sz="1550">
                <a:solidFill>
                  <a:srgbClr val="273239"/>
                </a:solidFill>
                <a:highlight>
                  <a:srgbClr val="FFFFFF"/>
                </a:highlight>
                <a:latin typeface="Times New Roman"/>
                <a:ea typeface="Times New Roman"/>
                <a:cs typeface="Times New Roman"/>
                <a:sym typeface="Times New Roman"/>
              </a:rPr>
              <a:t>Rather than comparing algorithms directly, asymptotic analysis focuses on understanding the relative growth rates of algorithms' complexities.</a:t>
            </a:r>
            <a:endParaRPr sz="1550">
              <a:solidFill>
                <a:srgbClr val="273239"/>
              </a:solidFill>
              <a:highlight>
                <a:srgbClr val="FFFFFF"/>
              </a:highlight>
              <a:latin typeface="Times New Roman"/>
              <a:ea typeface="Times New Roman"/>
              <a:cs typeface="Times New Roman"/>
              <a:sym typeface="Times New Roman"/>
            </a:endParaRPr>
          </a:p>
          <a:p>
            <a:pPr indent="-327025" lvl="0" marL="685800" rtl="0" algn="l">
              <a:lnSpc>
                <a:spcPct val="158000"/>
              </a:lnSpc>
              <a:spcBef>
                <a:spcPts val="0"/>
              </a:spcBef>
              <a:spcAft>
                <a:spcPts val="0"/>
              </a:spcAft>
              <a:buClr>
                <a:srgbClr val="273239"/>
              </a:buClr>
              <a:buSzPts val="1550"/>
              <a:buFont typeface="Times New Roman"/>
              <a:buChar char="●"/>
            </a:pPr>
            <a:r>
              <a:rPr lang="en-US" sz="1550">
                <a:solidFill>
                  <a:srgbClr val="273239"/>
                </a:solidFill>
                <a:highlight>
                  <a:srgbClr val="FFFFFF"/>
                </a:highlight>
                <a:latin typeface="Times New Roman"/>
                <a:ea typeface="Times New Roman"/>
                <a:cs typeface="Times New Roman"/>
                <a:sym typeface="Times New Roman"/>
              </a:rPr>
              <a:t>It enables comparisons of algorithms' efficiency by abstracting away machine-specific constants and implementation details, focusing instead on fundamental trends.</a:t>
            </a:r>
            <a:endParaRPr sz="1550">
              <a:solidFill>
                <a:srgbClr val="273239"/>
              </a:solidFill>
              <a:highlight>
                <a:srgbClr val="FFFFFF"/>
              </a:highlight>
              <a:latin typeface="Times New Roman"/>
              <a:ea typeface="Times New Roman"/>
              <a:cs typeface="Times New Roman"/>
              <a:sym typeface="Times New Roman"/>
            </a:endParaRPr>
          </a:p>
          <a:p>
            <a:pPr indent="-327025" lvl="0" marL="685800" rtl="0" algn="l">
              <a:lnSpc>
                <a:spcPct val="158000"/>
              </a:lnSpc>
              <a:spcBef>
                <a:spcPts val="0"/>
              </a:spcBef>
              <a:spcAft>
                <a:spcPts val="0"/>
              </a:spcAft>
              <a:buClr>
                <a:srgbClr val="273239"/>
              </a:buClr>
              <a:buSzPts val="1550"/>
              <a:buFont typeface="Times New Roman"/>
              <a:buChar char="●"/>
            </a:pPr>
            <a:r>
              <a:rPr lang="en-US" sz="1550">
                <a:solidFill>
                  <a:srgbClr val="273239"/>
                </a:solidFill>
                <a:highlight>
                  <a:srgbClr val="FFFFFF"/>
                </a:highlight>
                <a:latin typeface="Times New Roman"/>
                <a:ea typeface="Times New Roman"/>
                <a:cs typeface="Times New Roman"/>
                <a:sym typeface="Times New Roman"/>
              </a:rPr>
              <a:t>Asymptotic analysis allows for the comparison of algorithms' space and time complexities by examining their performance characteristics as the input size varies.</a:t>
            </a:r>
            <a:endParaRPr sz="1550">
              <a:solidFill>
                <a:srgbClr val="273239"/>
              </a:solidFill>
              <a:highlight>
                <a:srgbClr val="FFFFFF"/>
              </a:highlight>
              <a:latin typeface="Times New Roman"/>
              <a:ea typeface="Times New Roman"/>
              <a:cs typeface="Times New Roman"/>
              <a:sym typeface="Times New Roman"/>
            </a:endParaRPr>
          </a:p>
          <a:p>
            <a:pPr indent="-327025" lvl="0" marL="685800" rtl="0" algn="l">
              <a:lnSpc>
                <a:spcPct val="158000"/>
              </a:lnSpc>
              <a:spcBef>
                <a:spcPts val="0"/>
              </a:spcBef>
              <a:spcAft>
                <a:spcPts val="0"/>
              </a:spcAft>
              <a:buClr>
                <a:srgbClr val="273239"/>
              </a:buClr>
              <a:buSzPts val="1550"/>
              <a:buFont typeface="Times New Roman"/>
              <a:buChar char="●"/>
            </a:pPr>
            <a:r>
              <a:rPr lang="en-US" sz="1550">
                <a:solidFill>
                  <a:srgbClr val="273239"/>
                </a:solidFill>
                <a:highlight>
                  <a:srgbClr val="FFFFFF"/>
                </a:highlight>
                <a:latin typeface="Times New Roman"/>
                <a:ea typeface="Times New Roman"/>
                <a:cs typeface="Times New Roman"/>
                <a:sym typeface="Times New Roman"/>
              </a:rPr>
              <a:t>By using asymptotic notations, such as Big O, Big Omega, and Big Theta, we can categorize algorithms based on their worst-case, best-case, or average-case time or space complexities, providing valuable insights into their efficiency.</a:t>
            </a:r>
            <a:endParaRPr sz="2300">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g3f34ad19fa4_0_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25" name="Google Shape;525;g3f34ad19fa4_0_8"/>
          <p:cNvPicPr preferRelativeResize="0"/>
          <p:nvPr>
            <p:ph idx="1" type="body"/>
          </p:nvPr>
        </p:nvPicPr>
        <p:blipFill rotWithShape="1">
          <a:blip r:embed="rId3">
            <a:alphaModFix/>
          </a:blip>
          <a:srcRect b="0" l="0" r="0" t="0"/>
          <a:stretch/>
        </p:blipFill>
        <p:spPr>
          <a:xfrm>
            <a:off x="0" y="0"/>
            <a:ext cx="9144000" cy="6858000"/>
          </a:xfrm>
          <a:prstGeom prst="rect">
            <a:avLst/>
          </a:prstGeom>
          <a:noFill/>
          <a:ln>
            <a:noFill/>
          </a:ln>
        </p:spPr>
      </p:pic>
      <p:pic>
        <p:nvPicPr>
          <p:cNvPr id="526" name="Google Shape;526;g3f34ad19fa4_0_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27" name="Google Shape;527;g3f34ad19fa4_0_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28" name="Google Shape;528;g3f34ad19fa4_0_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29" name="Google Shape;529;g3f34ad19fa4_0_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30" name="Google Shape;530;g3f34ad19fa4_0_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31" name="Google Shape;531;g3f34ad19fa4_0_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32" name="Google Shape;532;g3f34ad19fa4_0_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33" name="Google Shape;533;g3f34ad19fa4_0_8"/>
          <p:cNvSpPr txBox="1"/>
          <p:nvPr/>
        </p:nvSpPr>
        <p:spPr>
          <a:xfrm>
            <a:off x="197800" y="1105275"/>
            <a:ext cx="8841900" cy="387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en-US" sz="2600" u="none" cap="none" strike="noStrike">
                <a:solidFill>
                  <a:srgbClr val="C00000"/>
                </a:solidFill>
                <a:latin typeface="Arial"/>
                <a:ea typeface="Arial"/>
                <a:cs typeface="Arial"/>
                <a:sym typeface="Arial"/>
              </a:rPr>
              <a:t>Asymptotic </a:t>
            </a:r>
            <a:r>
              <a:rPr b="1" lang="en-US" sz="2600">
                <a:solidFill>
                  <a:srgbClr val="C00000"/>
                </a:solidFill>
              </a:rPr>
              <a:t>Notation Types - </a:t>
            </a:r>
            <a:endParaRPr b="1" sz="2600">
              <a:solidFill>
                <a:srgbClr val="C00000"/>
              </a:solidFill>
            </a:endParaRPr>
          </a:p>
          <a:p>
            <a:pPr indent="0" lvl="0" marL="0" marR="0" rtl="0" algn="l">
              <a:lnSpc>
                <a:spcPct val="100000"/>
              </a:lnSpc>
              <a:spcBef>
                <a:spcPts val="0"/>
              </a:spcBef>
              <a:spcAft>
                <a:spcPts val="0"/>
              </a:spcAft>
              <a:buClr>
                <a:srgbClr val="000000"/>
              </a:buClr>
              <a:buSzPts val="3100"/>
              <a:buFont typeface="Arial"/>
              <a:buNone/>
            </a:pPr>
            <a:r>
              <a:t/>
            </a:r>
            <a:endParaRPr b="1" sz="2600">
              <a:solidFill>
                <a:srgbClr val="C00000"/>
              </a:solidFill>
            </a:endParaRPr>
          </a:p>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rgbClr val="000000"/>
              </a:solidFill>
              <a:latin typeface="Arial"/>
              <a:ea typeface="Arial"/>
              <a:cs typeface="Arial"/>
              <a:sym typeface="Arial"/>
            </a:endParaRPr>
          </a:p>
          <a:p>
            <a:pPr indent="0" lvl="0" marL="0" rtl="0" algn="l">
              <a:lnSpc>
                <a:spcPct val="120000"/>
              </a:lnSpc>
              <a:spcBef>
                <a:spcPts val="0"/>
              </a:spcBef>
              <a:spcAft>
                <a:spcPts val="0"/>
              </a:spcAft>
              <a:buNone/>
            </a:pPr>
            <a:r>
              <a:rPr b="1" i="1" lang="en-US" sz="2350">
                <a:solidFill>
                  <a:srgbClr val="273239"/>
                </a:solidFill>
                <a:latin typeface="Nunito"/>
                <a:ea typeface="Nunito"/>
                <a:cs typeface="Nunito"/>
                <a:sym typeface="Nunito"/>
              </a:rPr>
              <a:t>There are mainly three asymptotic notations:</a:t>
            </a:r>
            <a:endParaRPr b="1" i="1" sz="2350">
              <a:solidFill>
                <a:srgbClr val="273239"/>
              </a:solidFill>
              <a:latin typeface="Nunito"/>
              <a:ea typeface="Nunito"/>
              <a:cs typeface="Nunito"/>
              <a:sym typeface="Nunito"/>
            </a:endParaRPr>
          </a:p>
          <a:p>
            <a:pPr indent="-377825" lvl="0" marL="1600200" rtl="0" algn="l">
              <a:lnSpc>
                <a:spcPct val="158000"/>
              </a:lnSpc>
              <a:spcBef>
                <a:spcPts val="800"/>
              </a:spcBef>
              <a:spcAft>
                <a:spcPts val="0"/>
              </a:spcAft>
              <a:buClr>
                <a:srgbClr val="273239"/>
              </a:buClr>
              <a:buSzPts val="2350"/>
              <a:buFont typeface="Nunito"/>
              <a:buAutoNum type="arabicPeriod"/>
            </a:pPr>
            <a:r>
              <a:rPr b="1" i="1" lang="en-US" sz="2350">
                <a:solidFill>
                  <a:srgbClr val="273239"/>
                </a:solidFill>
                <a:latin typeface="Nunito"/>
                <a:ea typeface="Nunito"/>
                <a:cs typeface="Nunito"/>
                <a:sym typeface="Nunito"/>
              </a:rPr>
              <a:t>Big-O Notation (O-notation)</a:t>
            </a:r>
            <a:endParaRPr b="1" i="1" sz="2350">
              <a:solidFill>
                <a:srgbClr val="273239"/>
              </a:solidFill>
              <a:latin typeface="Nunito"/>
              <a:ea typeface="Nunito"/>
              <a:cs typeface="Nunito"/>
              <a:sym typeface="Nunito"/>
            </a:endParaRPr>
          </a:p>
          <a:p>
            <a:pPr indent="-377825" lvl="0" marL="1600200" rtl="0" algn="l">
              <a:lnSpc>
                <a:spcPct val="158000"/>
              </a:lnSpc>
              <a:spcBef>
                <a:spcPts val="0"/>
              </a:spcBef>
              <a:spcAft>
                <a:spcPts val="0"/>
              </a:spcAft>
              <a:buClr>
                <a:srgbClr val="273239"/>
              </a:buClr>
              <a:buSzPts val="2350"/>
              <a:buFont typeface="Nunito"/>
              <a:buAutoNum type="arabicPeriod"/>
            </a:pPr>
            <a:r>
              <a:rPr b="1" i="1" lang="en-US" sz="2350">
                <a:solidFill>
                  <a:srgbClr val="273239"/>
                </a:solidFill>
                <a:latin typeface="Nunito"/>
                <a:ea typeface="Nunito"/>
                <a:cs typeface="Nunito"/>
                <a:sym typeface="Nunito"/>
              </a:rPr>
              <a:t>Omega Notation (Ω-notation)</a:t>
            </a:r>
            <a:endParaRPr b="1" i="1" sz="2350">
              <a:solidFill>
                <a:srgbClr val="273239"/>
              </a:solidFill>
              <a:latin typeface="Nunito"/>
              <a:ea typeface="Nunito"/>
              <a:cs typeface="Nunito"/>
              <a:sym typeface="Nunito"/>
            </a:endParaRPr>
          </a:p>
          <a:p>
            <a:pPr indent="-377825" lvl="0" marL="1600200" rtl="0" algn="l">
              <a:lnSpc>
                <a:spcPct val="158000"/>
              </a:lnSpc>
              <a:spcBef>
                <a:spcPts val="0"/>
              </a:spcBef>
              <a:spcAft>
                <a:spcPts val="0"/>
              </a:spcAft>
              <a:buClr>
                <a:srgbClr val="273239"/>
              </a:buClr>
              <a:buSzPts val="2350"/>
              <a:buFont typeface="Nunito"/>
              <a:buAutoNum type="arabicPeriod"/>
            </a:pPr>
            <a:r>
              <a:rPr b="1" i="1" lang="en-US" sz="2350">
                <a:solidFill>
                  <a:srgbClr val="273239"/>
                </a:solidFill>
                <a:latin typeface="Nunito"/>
                <a:ea typeface="Nunito"/>
                <a:cs typeface="Nunito"/>
                <a:sym typeface="Nunito"/>
              </a:rPr>
              <a:t>Theta Notation (Θ-notation)</a:t>
            </a:r>
            <a:endParaRPr b="1" i="1" sz="2350">
              <a:solidFill>
                <a:srgbClr val="273239"/>
              </a:solidFill>
              <a:latin typeface="Nunito"/>
              <a:ea typeface="Nunito"/>
              <a:cs typeface="Nunito"/>
              <a:sym typeface="Nunito"/>
            </a:endParaRPr>
          </a:p>
          <a:p>
            <a:pPr indent="0" lvl="0" marL="457200" rtl="0" algn="l">
              <a:lnSpc>
                <a:spcPct val="158000"/>
              </a:lnSpc>
              <a:spcBef>
                <a:spcPts val="1800"/>
              </a:spcBef>
              <a:spcAft>
                <a:spcPts val="1800"/>
              </a:spcAft>
              <a:buNone/>
            </a:pPr>
            <a:r>
              <a:t/>
            </a:r>
            <a:endParaRPr sz="155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37" name="Shape 537"/>
        <p:cNvGrpSpPr/>
        <p:nvPr/>
      </p:nvGrpSpPr>
      <p:grpSpPr>
        <a:xfrm>
          <a:off x="0" y="0"/>
          <a:ext cx="0" cy="0"/>
          <a:chOff x="0" y="0"/>
          <a:chExt cx="0" cy="0"/>
        </a:xfrm>
      </p:grpSpPr>
      <p:sp>
        <p:nvSpPr>
          <p:cNvPr id="538" name="Google Shape;538;g255f9865c41_1_18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39" name="Google Shape;539;g255f9865c41_1_185"/>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40" name="Google Shape;540;g255f9865c41_1_18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41" name="Google Shape;541;g255f9865c41_1_18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42" name="Google Shape;542;g255f9865c41_1_18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3" name="Google Shape;543;g255f9865c41_1_18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44" name="Google Shape;544;g255f9865c41_1_18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45" name="Google Shape;545;g255f9865c41_1_18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46" name="Google Shape;546;g255f9865c41_1_18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47" name="Google Shape;547;g255f9865c41_1_185"/>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548" name="Google Shape;548;g255f9865c41_1_185"/>
          <p:cNvPicPr preferRelativeResize="0"/>
          <p:nvPr/>
        </p:nvPicPr>
        <p:blipFill rotWithShape="1">
          <a:blip r:embed="rId5">
            <a:alphaModFix/>
          </a:blip>
          <a:srcRect b="0" l="0" r="0" t="0"/>
          <a:stretch/>
        </p:blipFill>
        <p:spPr>
          <a:xfrm>
            <a:off x="628650" y="1323975"/>
            <a:ext cx="8160525" cy="54636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2" name="Shape 552"/>
        <p:cNvGrpSpPr/>
        <p:nvPr/>
      </p:nvGrpSpPr>
      <p:grpSpPr>
        <a:xfrm>
          <a:off x="0" y="0"/>
          <a:ext cx="0" cy="0"/>
          <a:chOff x="0" y="0"/>
          <a:chExt cx="0" cy="0"/>
        </a:xfrm>
      </p:grpSpPr>
      <p:sp>
        <p:nvSpPr>
          <p:cNvPr id="553" name="Google Shape;553;g255f9865c41_1_19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54" name="Google Shape;554;g255f9865c41_1_199"/>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55" name="Google Shape;555;g255f9865c41_1_19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56" name="Google Shape;556;g255f9865c41_1_19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57" name="Google Shape;557;g255f9865c41_1_19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8" name="Google Shape;558;g255f9865c41_1_19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9" name="Google Shape;559;g255f9865c41_1_19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60" name="Google Shape;560;g255f9865c41_1_19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61" name="Google Shape;561;g255f9865c41_1_199"/>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62" name="Google Shape;562;g255f9865c41_1_199"/>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563" name="Google Shape;563;g255f9865c41_1_199"/>
          <p:cNvPicPr preferRelativeResize="0"/>
          <p:nvPr/>
        </p:nvPicPr>
        <p:blipFill rotWithShape="1">
          <a:blip r:embed="rId5">
            <a:alphaModFix/>
          </a:blip>
          <a:srcRect b="0" l="0" r="0" t="0"/>
          <a:stretch/>
        </p:blipFill>
        <p:spPr>
          <a:xfrm>
            <a:off x="628650" y="1322775"/>
            <a:ext cx="8289325" cy="536007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7" name="Shape 567"/>
        <p:cNvGrpSpPr/>
        <p:nvPr/>
      </p:nvGrpSpPr>
      <p:grpSpPr>
        <a:xfrm>
          <a:off x="0" y="0"/>
          <a:ext cx="0" cy="0"/>
          <a:chOff x="0" y="0"/>
          <a:chExt cx="0" cy="0"/>
        </a:xfrm>
      </p:grpSpPr>
      <p:sp>
        <p:nvSpPr>
          <p:cNvPr id="568" name="Google Shape;568;g255f9865c41_1_29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69" name="Google Shape;569;g255f9865c41_1_29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70" name="Google Shape;570;g255f9865c41_1_29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71" name="Google Shape;571;g255f9865c41_1_29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72" name="Google Shape;572;g255f9865c41_1_29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3" name="Google Shape;573;g255f9865c41_1_29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4" name="Google Shape;574;g255f9865c41_1_29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75" name="Google Shape;575;g255f9865c41_1_29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76" name="Google Shape;576;g255f9865c41_1_29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77" name="Google Shape;577;g255f9865c41_1_29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578" name="Google Shape;578;g255f9865c41_1_298"/>
          <p:cNvPicPr preferRelativeResize="0"/>
          <p:nvPr/>
        </p:nvPicPr>
        <p:blipFill rotWithShape="1">
          <a:blip r:embed="rId5">
            <a:alphaModFix/>
          </a:blip>
          <a:srcRect b="0" l="0" r="0" t="0"/>
          <a:stretch/>
        </p:blipFill>
        <p:spPr>
          <a:xfrm>
            <a:off x="450375" y="1105275"/>
            <a:ext cx="8467600" cy="561617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2" name="Shape 582"/>
        <p:cNvGrpSpPr/>
        <p:nvPr/>
      </p:nvGrpSpPr>
      <p:grpSpPr>
        <a:xfrm>
          <a:off x="0" y="0"/>
          <a:ext cx="0" cy="0"/>
          <a:chOff x="0" y="0"/>
          <a:chExt cx="0" cy="0"/>
        </a:xfrm>
      </p:grpSpPr>
      <p:sp>
        <p:nvSpPr>
          <p:cNvPr id="583" name="Google Shape;583;g255f9865c41_1_31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84" name="Google Shape;584;g255f9865c41_1_31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585" name="Google Shape;585;g255f9865c41_1_31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586" name="Google Shape;586;g255f9865c41_1_31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587" name="Google Shape;587;g255f9865c41_1_31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8" name="Google Shape;588;g255f9865c41_1_31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9" name="Google Shape;589;g255f9865c41_1_31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590" name="Google Shape;590;g255f9865c41_1_31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591" name="Google Shape;591;g255f9865c41_1_31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592" name="Google Shape;592;g255f9865c41_1_31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593" name="Google Shape;593;g255f9865c41_1_313"/>
          <p:cNvPicPr preferRelativeResize="0"/>
          <p:nvPr/>
        </p:nvPicPr>
        <p:blipFill rotWithShape="1">
          <a:blip r:embed="rId5">
            <a:alphaModFix/>
          </a:blip>
          <a:srcRect b="0" l="0" r="0" t="0"/>
          <a:stretch/>
        </p:blipFill>
        <p:spPr>
          <a:xfrm>
            <a:off x="450375" y="1304900"/>
            <a:ext cx="8455425" cy="54165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255f9865c41_1_32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599" name="Google Shape;599;g255f9865c41_1_32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00" name="Google Shape;600;g255f9865c41_1_32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01" name="Google Shape;601;g255f9865c41_1_32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02" name="Google Shape;602;g255f9865c41_1_32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3" name="Google Shape;603;g255f9865c41_1_32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4" name="Google Shape;604;g255f9865c41_1_32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05" name="Google Shape;605;g255f9865c41_1_32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06" name="Google Shape;606;g255f9865c41_1_32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07" name="Google Shape;607;g255f9865c41_1_32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08" name="Google Shape;608;g255f9865c41_1_328"/>
          <p:cNvPicPr preferRelativeResize="0"/>
          <p:nvPr/>
        </p:nvPicPr>
        <p:blipFill rotWithShape="1">
          <a:blip r:embed="rId5">
            <a:alphaModFix/>
          </a:blip>
          <a:srcRect b="0" l="0" r="0" t="0"/>
          <a:stretch/>
        </p:blipFill>
        <p:spPr>
          <a:xfrm>
            <a:off x="450375" y="1174750"/>
            <a:ext cx="8565050" cy="5181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g255f9865c41_1_34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14" name="Google Shape;614;g255f9865c41_1_34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15" name="Google Shape;615;g255f9865c41_1_34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16" name="Google Shape;616;g255f9865c41_1_34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17" name="Google Shape;617;g255f9865c41_1_34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8" name="Google Shape;618;g255f9865c41_1_34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9" name="Google Shape;619;g255f9865c41_1_34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20" name="Google Shape;620;g255f9865c41_1_34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21" name="Google Shape;621;g255f9865c41_1_34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22" name="Google Shape;622;g255f9865c41_1_34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23" name="Google Shape;623;g255f9865c41_1_343"/>
          <p:cNvPicPr preferRelativeResize="0"/>
          <p:nvPr/>
        </p:nvPicPr>
        <p:blipFill rotWithShape="1">
          <a:blip r:embed="rId5">
            <a:alphaModFix/>
          </a:blip>
          <a:srcRect b="0" l="0" r="0" t="0"/>
          <a:stretch/>
        </p:blipFill>
        <p:spPr>
          <a:xfrm>
            <a:off x="197800" y="1322775"/>
            <a:ext cx="8859275" cy="53065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255f9865c41_1_35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29" name="Google Shape;629;g255f9865c41_1_35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30" name="Google Shape;630;g255f9865c41_1_35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31" name="Google Shape;631;g255f9865c41_1_35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32" name="Google Shape;632;g255f9865c41_1_35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3" name="Google Shape;633;g255f9865c41_1_35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4" name="Google Shape;634;g255f9865c41_1_35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35" name="Google Shape;635;g255f9865c41_1_35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36" name="Google Shape;636;g255f9865c41_1_35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37" name="Google Shape;637;g255f9865c41_1_35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38" name="Google Shape;638;g255f9865c41_1_358"/>
          <p:cNvPicPr preferRelativeResize="0"/>
          <p:nvPr/>
        </p:nvPicPr>
        <p:blipFill rotWithShape="1">
          <a:blip r:embed="rId5">
            <a:alphaModFix/>
          </a:blip>
          <a:srcRect b="0" l="0" r="0" t="0"/>
          <a:stretch/>
        </p:blipFill>
        <p:spPr>
          <a:xfrm>
            <a:off x="455650" y="1322775"/>
            <a:ext cx="8389225" cy="533085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g255f9865c41_1_37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44" name="Google Shape;644;g255f9865c41_1_37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45" name="Google Shape;645;g255f9865c41_1_37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46" name="Google Shape;646;g255f9865c41_1_37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47" name="Google Shape;647;g255f9865c41_1_37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8" name="Google Shape;648;g255f9865c41_1_37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9" name="Google Shape;649;g255f9865c41_1_37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50" name="Google Shape;650;g255f9865c41_1_37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51" name="Google Shape;651;g255f9865c41_1_37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52" name="Google Shape;652;g255f9865c41_1_37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53" name="Google Shape;653;g255f9865c41_1_373"/>
          <p:cNvPicPr preferRelativeResize="0"/>
          <p:nvPr/>
        </p:nvPicPr>
        <p:blipFill rotWithShape="1">
          <a:blip r:embed="rId5">
            <a:alphaModFix/>
          </a:blip>
          <a:srcRect b="15161" l="0" r="0" t="0"/>
          <a:stretch/>
        </p:blipFill>
        <p:spPr>
          <a:xfrm>
            <a:off x="514350" y="1322775"/>
            <a:ext cx="8501074" cy="3089525"/>
          </a:xfrm>
          <a:prstGeom prst="rect">
            <a:avLst/>
          </a:prstGeom>
          <a:noFill/>
          <a:ln>
            <a:noFill/>
          </a:ln>
        </p:spPr>
      </p:pic>
      <p:pic>
        <p:nvPicPr>
          <p:cNvPr id="654" name="Google Shape;654;g255f9865c41_1_373"/>
          <p:cNvPicPr preferRelativeResize="0"/>
          <p:nvPr/>
        </p:nvPicPr>
        <p:blipFill rotWithShape="1">
          <a:blip r:embed="rId6">
            <a:alphaModFix/>
          </a:blip>
          <a:srcRect b="0" l="0" r="0" t="0"/>
          <a:stretch/>
        </p:blipFill>
        <p:spPr>
          <a:xfrm>
            <a:off x="294094" y="4339200"/>
            <a:ext cx="8700000" cy="25796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255f9865c41_1_38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60" name="Google Shape;660;g255f9865c41_1_38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61" name="Google Shape;661;g255f9865c41_1_38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62" name="Google Shape;662;g255f9865c41_1_38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63" name="Google Shape;663;g255f9865c41_1_38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4" name="Google Shape;664;g255f9865c41_1_38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5" name="Google Shape;665;g255f9865c41_1_38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66" name="Google Shape;666;g255f9865c41_1_38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67" name="Google Shape;667;g255f9865c41_1_38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68" name="Google Shape;668;g255f9865c41_1_38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69" name="Google Shape;669;g255f9865c41_1_388"/>
          <p:cNvPicPr preferRelativeResize="0"/>
          <p:nvPr/>
        </p:nvPicPr>
        <p:blipFill rotWithShape="1">
          <a:blip r:embed="rId5">
            <a:alphaModFix/>
          </a:blip>
          <a:srcRect b="0" l="0" r="0" t="0"/>
          <a:stretch/>
        </p:blipFill>
        <p:spPr>
          <a:xfrm>
            <a:off x="628650" y="1284125"/>
            <a:ext cx="8459850" cy="50722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g255f9865c41_1_40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75" name="Google Shape;675;g255f9865c41_1_40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76" name="Google Shape;676;g255f9865c41_1_40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77" name="Google Shape;677;g255f9865c41_1_40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78" name="Google Shape;678;g255f9865c41_1_40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9" name="Google Shape;679;g255f9865c41_1_40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0" name="Google Shape;680;g255f9865c41_1_40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81" name="Google Shape;681;g255f9865c41_1_40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82" name="Google Shape;682;g255f9865c41_1_40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83" name="Google Shape;683;g255f9865c41_1_40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84" name="Google Shape;684;g255f9865c41_1_403"/>
          <p:cNvPicPr preferRelativeResize="0"/>
          <p:nvPr/>
        </p:nvPicPr>
        <p:blipFill rotWithShape="1">
          <a:blip r:embed="rId5">
            <a:alphaModFix/>
          </a:blip>
          <a:srcRect b="0" l="0" r="0" t="0"/>
          <a:stretch/>
        </p:blipFill>
        <p:spPr>
          <a:xfrm>
            <a:off x="450375" y="1308100"/>
            <a:ext cx="8516326" cy="53549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g255f9865c41_1_41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690" name="Google Shape;690;g255f9865c41_1_41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691" name="Google Shape;691;g255f9865c41_1_41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692" name="Google Shape;692;g255f9865c41_1_41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693" name="Google Shape;693;g255f9865c41_1_41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4" name="Google Shape;694;g255f9865c41_1_41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5" name="Google Shape;695;g255f9865c41_1_41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696" name="Google Shape;696;g255f9865c41_1_41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697" name="Google Shape;697;g255f9865c41_1_41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698" name="Google Shape;698;g255f9865c41_1_41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pic>
        <p:nvPicPr>
          <p:cNvPr id="699" name="Google Shape;699;g255f9865c41_1_418"/>
          <p:cNvPicPr preferRelativeResize="0"/>
          <p:nvPr/>
        </p:nvPicPr>
        <p:blipFill rotWithShape="1">
          <a:blip r:embed="rId5">
            <a:alphaModFix/>
          </a:blip>
          <a:srcRect b="0" l="0" r="0" t="0"/>
          <a:stretch/>
        </p:blipFill>
        <p:spPr>
          <a:xfrm>
            <a:off x="450375" y="1290625"/>
            <a:ext cx="8516325" cy="51501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g255f9865c41_1_43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05" name="Google Shape;705;g255f9865c41_1_43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06" name="Google Shape;706;g255f9865c41_1_43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07" name="Google Shape;707;g255f9865c41_1_43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08" name="Google Shape;708;g255f9865c41_1_43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9" name="Google Shape;709;g255f9865c41_1_43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0" name="Google Shape;710;g255f9865c41_1_43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11" name="Google Shape;711;g255f9865c41_1_43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12" name="Google Shape;712;g255f9865c41_1_43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13" name="Google Shape;713;g255f9865c41_1_43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14" name="Google Shape;714;g255f9865c41_1_433"/>
          <p:cNvSpPr txBox="1"/>
          <p:nvPr/>
        </p:nvSpPr>
        <p:spPr>
          <a:xfrm>
            <a:off x="197800" y="1181325"/>
            <a:ext cx="8249100" cy="5649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Algorithm analysis:</a:t>
            </a:r>
            <a:endParaRPr b="1"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The measure of an input’s size here is the number of elements in the array, i.e., n.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There are two operations in the for loop’s body: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o The comparison A[i]&gt; maxval and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o The assignment max val←A[i].</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 The comparison operation is considered as the algorithm basic operation, because the comparison is executed on each repetition of the loop and not the assignment.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The number of comparisons will be the same for all arrays of size n;</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therefore, there is no need to distinguish among the worst, average, and best cases here.</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 Let C(n) denotes the number of times this comparison is executed. The algorithm makes one comparison on each execution of the loop, which is repeated for each value of the loop’s variable i within the bounds 1 and n − 1, inclusive.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Therefore, the sum for C(n) is calculated as follows:</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g255f9865c41_1_454"/>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20" name="Google Shape;720;g255f9865c41_1_454"/>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21" name="Google Shape;721;g255f9865c41_1_454"/>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22" name="Google Shape;722;g255f9865c41_1_454"/>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23" name="Google Shape;723;g255f9865c41_1_454"/>
          <p:cNvSpPr/>
          <p:nvPr/>
        </p:nvSpPr>
        <p:spPr>
          <a:xfrm>
            <a:off x="197825" y="1322775"/>
            <a:ext cx="6436200" cy="10305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400" u="none" cap="none" strike="noStrike">
                <a:solidFill>
                  <a:srgbClr val="333333"/>
                </a:solidFill>
                <a:highlight>
                  <a:srgbClr val="FFFFFF"/>
                </a:highlight>
                <a:latin typeface="Times New Roman"/>
                <a:ea typeface="Times New Roman"/>
                <a:cs typeface="Times New Roman"/>
                <a:sym typeface="Times New Roman"/>
              </a:rPr>
              <a:t>Therefore, we get the following sum for </a:t>
            </a:r>
            <a:r>
              <a:rPr b="1" i="1" lang="en-US" sz="1400" u="none" cap="none" strike="noStrike">
                <a:solidFill>
                  <a:srgbClr val="333333"/>
                </a:solidFill>
                <a:highlight>
                  <a:srgbClr val="FFFFFF"/>
                </a:highlight>
                <a:latin typeface="Arial"/>
                <a:ea typeface="Arial"/>
                <a:cs typeface="Arial"/>
                <a:sym typeface="Arial"/>
              </a:rPr>
              <a:t>C(n)</a:t>
            </a:r>
            <a:r>
              <a:rPr b="0" i="0" lang="en-US" sz="1400" u="none" cap="none" strike="noStrike">
                <a:solidFill>
                  <a:srgbClr val="333333"/>
                </a:solidFill>
                <a:highlight>
                  <a:srgbClr val="FFFFFF"/>
                </a:highlight>
                <a:latin typeface="Times New Roman"/>
                <a:ea typeface="Times New Roman"/>
                <a:cs typeface="Times New Roman"/>
                <a:sym typeface="Times New Roman"/>
              </a:rPr>
              <a:t>:</a:t>
            </a:r>
            <a:endParaRPr b="0" i="0" sz="1800" u="none" cap="none" strike="noStrike">
              <a:solidFill>
                <a:schemeClr val="dk1"/>
              </a:solidFill>
              <a:latin typeface="Calibri"/>
              <a:ea typeface="Calibri"/>
              <a:cs typeface="Calibri"/>
              <a:sym typeface="Calibri"/>
            </a:endParaRPr>
          </a:p>
        </p:txBody>
      </p:sp>
      <p:sp>
        <p:nvSpPr>
          <p:cNvPr id="724" name="Google Shape;724;g255f9865c41_1_454"/>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5" name="Google Shape;725;g255f9865c41_1_454"/>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26" name="Google Shape;726;g255f9865c41_1_454"/>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27" name="Google Shape;727;g255f9865c41_1_454"/>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28" name="Google Shape;728;g255f9865c41_1_454"/>
          <p:cNvSpPr txBox="1"/>
          <p:nvPr/>
        </p:nvSpPr>
        <p:spPr>
          <a:xfrm>
            <a:off x="718275" y="1347888"/>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29" name="Google Shape;729;g255f9865c41_1_454"/>
          <p:cNvSpPr txBox="1"/>
          <p:nvPr/>
        </p:nvSpPr>
        <p:spPr>
          <a:xfrm>
            <a:off x="197825" y="2250850"/>
            <a:ext cx="824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30" name="Google Shape;730;g255f9865c41_1_454"/>
          <p:cNvPicPr preferRelativeResize="0"/>
          <p:nvPr/>
        </p:nvPicPr>
        <p:blipFill rotWithShape="1">
          <a:blip r:embed="rId5">
            <a:alphaModFix/>
          </a:blip>
          <a:srcRect b="0" l="0" r="0" t="0"/>
          <a:stretch/>
        </p:blipFill>
        <p:spPr>
          <a:xfrm>
            <a:off x="450375" y="2309825"/>
            <a:ext cx="8491949" cy="32596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g255f9865c41_1_48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36" name="Google Shape;736;g255f9865c41_1_48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37" name="Google Shape;737;g255f9865c41_1_48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38" name="Google Shape;738;g255f9865c41_1_48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39" name="Google Shape;739;g255f9865c41_1_48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0" name="Google Shape;740;g255f9865c41_1_48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41" name="Google Shape;741;g255f9865c41_1_48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42" name="Google Shape;742;g255f9865c41_1_48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43" name="Google Shape;743;g255f9865c41_1_48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44" name="Google Shape;744;g255f9865c41_1_488"/>
          <p:cNvSpPr txBox="1"/>
          <p:nvPr/>
        </p:nvSpPr>
        <p:spPr>
          <a:xfrm>
            <a:off x="197825" y="2250850"/>
            <a:ext cx="824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45" name="Google Shape;745;g255f9865c41_1_488"/>
          <p:cNvPicPr preferRelativeResize="0"/>
          <p:nvPr/>
        </p:nvPicPr>
        <p:blipFill rotWithShape="1">
          <a:blip r:embed="rId5">
            <a:alphaModFix/>
          </a:blip>
          <a:srcRect b="0" l="0" r="0" t="0"/>
          <a:stretch/>
        </p:blipFill>
        <p:spPr>
          <a:xfrm>
            <a:off x="197825" y="1224325"/>
            <a:ext cx="8679926" cy="5417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255f9865c41_1_518"/>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51" name="Google Shape;751;g255f9865c41_1_518"/>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52" name="Google Shape;752;g255f9865c41_1_518"/>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53" name="Google Shape;753;g255f9865c41_1_518"/>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54" name="Google Shape;754;g255f9865c41_1_518"/>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5" name="Google Shape;755;g255f9865c41_1_518"/>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6" name="Google Shape;756;g255f9865c41_1_518"/>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57" name="Google Shape;757;g255f9865c41_1_518"/>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58" name="Google Shape;758;g255f9865c41_1_518"/>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59" name="Google Shape;759;g255f9865c41_1_518"/>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60" name="Google Shape;760;g255f9865c41_1_518"/>
          <p:cNvSpPr txBox="1"/>
          <p:nvPr/>
        </p:nvSpPr>
        <p:spPr>
          <a:xfrm>
            <a:off x="197800" y="1181325"/>
            <a:ext cx="8249100" cy="511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Algorithm analysis:</a:t>
            </a:r>
            <a:endParaRPr b="1"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The measure of an input’s size here is the number of elements in the array, i.e., n.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000000"/>
                </a:solidFill>
                <a:latin typeface="Arial"/>
                <a:ea typeface="Arial"/>
                <a:cs typeface="Arial"/>
                <a:sym typeface="Arial"/>
              </a:rPr>
              <a:t>• There are two Comparisons</a:t>
            </a:r>
            <a:r>
              <a:rPr b="0" i="0" lang="en-US" sz="2200" u="none" cap="none" strike="noStrike">
                <a:solidFill>
                  <a:srgbClr val="333333"/>
                </a:solidFill>
                <a:highlight>
                  <a:srgbClr val="FFFFFF"/>
                </a:highlight>
                <a:latin typeface="Arial"/>
                <a:ea typeface="Arial"/>
                <a:cs typeface="Arial"/>
                <a:sym typeface="Arial"/>
              </a:rPr>
              <a:t>:</a:t>
            </a:r>
            <a:endParaRPr b="0" i="0" sz="22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333333"/>
                </a:solidFill>
                <a:highlight>
                  <a:srgbClr val="FFFFFF"/>
                </a:highlight>
                <a:latin typeface="Arial"/>
                <a:ea typeface="Arial"/>
                <a:cs typeface="Arial"/>
                <a:sym typeface="Arial"/>
              </a:rPr>
              <a:t>one comparison is made for each repetition of the innermost loop, i.e., for each value of the loop variable </a:t>
            </a:r>
            <a:r>
              <a:rPr b="1" i="1" lang="en-US" sz="2200" u="none" cap="none" strike="noStrike">
                <a:solidFill>
                  <a:srgbClr val="333333"/>
                </a:solidFill>
                <a:highlight>
                  <a:srgbClr val="FFFFFF"/>
                </a:highlight>
                <a:latin typeface="Arial"/>
                <a:ea typeface="Arial"/>
                <a:cs typeface="Arial"/>
                <a:sym typeface="Arial"/>
              </a:rPr>
              <a:t>j</a:t>
            </a:r>
            <a:r>
              <a:rPr b="0" i="0" lang="en-US" sz="2200" u="none" cap="none" strike="noStrike">
                <a:solidFill>
                  <a:srgbClr val="333333"/>
                </a:solidFill>
                <a:highlight>
                  <a:srgbClr val="FFFFFF"/>
                </a:highlight>
                <a:latin typeface="Arial"/>
                <a:ea typeface="Arial"/>
                <a:cs typeface="Arial"/>
                <a:sym typeface="Arial"/>
              </a:rPr>
              <a:t> between its limits </a:t>
            </a:r>
            <a:r>
              <a:rPr b="1" i="1" lang="en-US" sz="2200" u="none" cap="none" strike="noStrike">
                <a:solidFill>
                  <a:srgbClr val="333333"/>
                </a:solidFill>
                <a:highlight>
                  <a:srgbClr val="FFFFFF"/>
                </a:highlight>
                <a:latin typeface="Arial"/>
                <a:ea typeface="Arial"/>
                <a:cs typeface="Arial"/>
                <a:sym typeface="Arial"/>
              </a:rPr>
              <a:t>i</a:t>
            </a:r>
            <a:r>
              <a:rPr b="0" i="0" lang="en-US" sz="2200" u="none" cap="none" strike="noStrike">
                <a:solidFill>
                  <a:srgbClr val="333333"/>
                </a:solidFill>
                <a:highlight>
                  <a:srgbClr val="FFFFFF"/>
                </a:highlight>
                <a:latin typeface="Arial"/>
                <a:ea typeface="Arial"/>
                <a:cs typeface="Arial"/>
                <a:sym typeface="Arial"/>
              </a:rPr>
              <a:t> + 1 and </a:t>
            </a:r>
            <a:r>
              <a:rPr b="1" i="1" lang="en-US" sz="2200" u="none" cap="none" strike="noStrike">
                <a:solidFill>
                  <a:srgbClr val="333333"/>
                </a:solidFill>
                <a:highlight>
                  <a:srgbClr val="FFFFFF"/>
                </a:highlight>
                <a:latin typeface="Arial"/>
                <a:ea typeface="Arial"/>
                <a:cs typeface="Arial"/>
                <a:sym typeface="Arial"/>
              </a:rPr>
              <a:t>n</a:t>
            </a:r>
            <a:r>
              <a:rPr b="0" i="0" lang="en-US" sz="2200" u="none" cap="none" strike="noStrike">
                <a:solidFill>
                  <a:srgbClr val="333333"/>
                </a:solidFill>
                <a:highlight>
                  <a:srgbClr val="FFFFFF"/>
                </a:highlight>
                <a:latin typeface="Arial"/>
                <a:ea typeface="Arial"/>
                <a:cs typeface="Arial"/>
                <a:sym typeface="Arial"/>
              </a:rPr>
              <a:t> − 1; </a:t>
            </a:r>
            <a:endParaRPr b="0" i="0" sz="22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333333"/>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rgbClr val="333333"/>
                </a:solidFill>
                <a:highlight>
                  <a:srgbClr val="FFFFFF"/>
                </a:highlight>
                <a:latin typeface="Arial"/>
                <a:ea typeface="Arial"/>
                <a:cs typeface="Arial"/>
                <a:sym typeface="Arial"/>
              </a:rPr>
              <a:t>The same  is repeated for each value of the outer loop, i.e., for each value of the loop variable </a:t>
            </a:r>
            <a:r>
              <a:rPr b="1" i="1" lang="en-US" sz="2200" u="none" cap="none" strike="noStrike">
                <a:solidFill>
                  <a:srgbClr val="333333"/>
                </a:solidFill>
                <a:highlight>
                  <a:srgbClr val="FFFFFF"/>
                </a:highlight>
                <a:latin typeface="Arial"/>
                <a:ea typeface="Arial"/>
                <a:cs typeface="Arial"/>
                <a:sym typeface="Arial"/>
              </a:rPr>
              <a:t>i</a:t>
            </a:r>
            <a:r>
              <a:rPr b="0" i="0" lang="en-US" sz="2200" u="none" cap="none" strike="noStrike">
                <a:solidFill>
                  <a:srgbClr val="333333"/>
                </a:solidFill>
                <a:highlight>
                  <a:srgbClr val="FFFFFF"/>
                </a:highlight>
                <a:latin typeface="Arial"/>
                <a:ea typeface="Arial"/>
                <a:cs typeface="Arial"/>
                <a:sym typeface="Arial"/>
              </a:rPr>
              <a:t> between its limits 0 and </a:t>
            </a:r>
            <a:r>
              <a:rPr b="1" i="1" lang="en-US" sz="2200" u="none" cap="none" strike="noStrike">
                <a:solidFill>
                  <a:srgbClr val="333333"/>
                </a:solidFill>
                <a:highlight>
                  <a:srgbClr val="FFFFFF"/>
                </a:highlight>
                <a:latin typeface="Arial"/>
                <a:ea typeface="Arial"/>
                <a:cs typeface="Arial"/>
                <a:sym typeface="Arial"/>
              </a:rPr>
              <a:t>n</a:t>
            </a:r>
            <a:r>
              <a:rPr b="0" i="0" lang="en-US" sz="2200" u="none" cap="none" strike="noStrike">
                <a:solidFill>
                  <a:srgbClr val="333333"/>
                </a:solidFill>
                <a:highlight>
                  <a:srgbClr val="FFFFFF"/>
                </a:highlight>
                <a:latin typeface="Arial"/>
                <a:ea typeface="Arial"/>
                <a:cs typeface="Arial"/>
                <a:sym typeface="Arial"/>
              </a:rPr>
              <a:t> − 2</a:t>
            </a:r>
            <a:r>
              <a:rPr b="1" i="1" lang="en-US" sz="2200" u="none" cap="none" strike="noStrike">
                <a:solidFill>
                  <a:srgbClr val="333333"/>
                </a:solidFill>
                <a:highlight>
                  <a:srgbClr val="FFFFFF"/>
                </a:highlight>
                <a:latin typeface="Arial"/>
                <a:ea typeface="Arial"/>
                <a:cs typeface="Arial"/>
                <a:sym typeface="Arial"/>
              </a:rPr>
              <a:t>.</a:t>
            </a:r>
            <a:r>
              <a:rPr b="0" i="0" lang="en-US" sz="2200" u="none" cap="none" strike="noStrike">
                <a:solidFill>
                  <a:srgbClr val="333333"/>
                </a:solidFill>
                <a:highlight>
                  <a:srgbClr val="FFFFFF"/>
                </a:highlight>
                <a:latin typeface="Arial"/>
                <a:ea typeface="Arial"/>
                <a:cs typeface="Arial"/>
                <a:sym typeface="Arial"/>
              </a:rPr>
              <a:t> Accordingly, we get</a:t>
            </a:r>
            <a:r>
              <a:rPr b="0" i="0" lang="en-US" sz="2200" u="none" cap="none" strike="noStrike">
                <a:solidFill>
                  <a:srgbClr val="000000"/>
                </a:solidFill>
                <a:latin typeface="Arial"/>
                <a:ea typeface="Arial"/>
                <a:cs typeface="Arial"/>
                <a:sym typeface="Arial"/>
              </a:rPr>
              <a:t> the for loop’s body:</a:t>
            </a:r>
            <a:r>
              <a:rPr b="0" i="0" lang="en-US" sz="1700" u="none" cap="none" strike="noStrike">
                <a:solidFill>
                  <a:srgbClr val="000000"/>
                </a:solidFill>
                <a:latin typeface="Arial"/>
                <a:ea typeface="Arial"/>
                <a:cs typeface="Arial"/>
                <a:sym typeface="Arial"/>
              </a:rPr>
              <a:t> </a:t>
            </a:r>
            <a:endParaRPr b="0"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g255f9865c41_1_53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66" name="Google Shape;766;g255f9865c41_1_53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67" name="Google Shape;767;g255f9865c41_1_53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68" name="Google Shape;768;g255f9865c41_1_53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69" name="Google Shape;769;g255f9865c41_1_53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0" name="Google Shape;770;g255f9865c41_1_53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1" name="Google Shape;771;g255f9865c41_1_53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72" name="Google Shape;772;g255f9865c41_1_53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73" name="Google Shape;773;g255f9865c41_1_53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74" name="Google Shape;774;g255f9865c41_1_53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75" name="Google Shape;775;g255f9865c41_1_533"/>
          <p:cNvSpPr txBox="1"/>
          <p:nvPr/>
        </p:nvSpPr>
        <p:spPr>
          <a:xfrm>
            <a:off x="197800" y="1181325"/>
            <a:ext cx="82491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700"/>
              <a:buFont typeface="Arial"/>
              <a:buNone/>
            </a:pPr>
            <a:r>
              <a:rPr b="1" i="0" lang="en-US" sz="1700" u="none" cap="none" strike="noStrike">
                <a:solidFill>
                  <a:srgbClr val="000000"/>
                </a:solidFill>
                <a:latin typeface="Arial"/>
                <a:ea typeface="Arial"/>
                <a:cs typeface="Arial"/>
                <a:sym typeface="Arial"/>
              </a:rPr>
              <a:t>Algorithm analysis:</a:t>
            </a:r>
            <a:endParaRPr b="1" i="0" sz="17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a:t>
            </a:r>
            <a:endParaRPr b="1" i="0" sz="1600" u="none" cap="none" strike="noStrike">
              <a:solidFill>
                <a:srgbClr val="000000"/>
              </a:solidFill>
              <a:latin typeface="Arial"/>
              <a:ea typeface="Arial"/>
              <a:cs typeface="Arial"/>
              <a:sym typeface="Arial"/>
            </a:endParaRPr>
          </a:p>
        </p:txBody>
      </p:sp>
      <p:pic>
        <p:nvPicPr>
          <p:cNvPr id="776" name="Google Shape;776;g255f9865c41_1_533"/>
          <p:cNvPicPr preferRelativeResize="0"/>
          <p:nvPr/>
        </p:nvPicPr>
        <p:blipFill rotWithShape="1">
          <a:blip r:embed="rId5">
            <a:alphaModFix/>
          </a:blip>
          <a:srcRect b="0" l="0" r="0" t="0"/>
          <a:stretch/>
        </p:blipFill>
        <p:spPr>
          <a:xfrm>
            <a:off x="450375" y="2190650"/>
            <a:ext cx="6474375" cy="3896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255f986635b_0_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82" name="Google Shape;782;g255f986635b_0_1"/>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83" name="Google Shape;783;g255f986635b_0_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84" name="Google Shape;784;g255f986635b_0_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785" name="Google Shape;785;g255f986635b_0_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6" name="Google Shape;786;g255f986635b_0_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7" name="Google Shape;787;g255f986635b_0_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788" name="Google Shape;788;g255f986635b_0_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789" name="Google Shape;789;g255f986635b_0_1"/>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790" name="Google Shape;790;g255f986635b_0_1"/>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791" name="Google Shape;791;g255f986635b_0_1"/>
          <p:cNvSpPr txBox="1"/>
          <p:nvPr/>
        </p:nvSpPr>
        <p:spPr>
          <a:xfrm>
            <a:off x="197800" y="1181325"/>
            <a:ext cx="8249100" cy="5387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1" i="0" lang="en-US" sz="2000" u="none" cap="none" strike="noStrike">
                <a:solidFill>
                  <a:schemeClr val="dk1"/>
                </a:solidFill>
                <a:highlight>
                  <a:srgbClr val="FFFFFF"/>
                </a:highlight>
                <a:latin typeface="Times New Roman"/>
                <a:ea typeface="Times New Roman"/>
                <a:cs typeface="Times New Roman"/>
                <a:sym typeface="Times New Roman"/>
              </a:rPr>
              <a:t>MATHEMATICAL ANALYSIS FOR RECURSIVE ALGORITHMS</a:t>
            </a:r>
            <a:endParaRPr b="1" i="0" sz="2000" u="none" cap="none" strike="noStrike">
              <a:solidFill>
                <a:schemeClr val="dk1"/>
              </a:solidFill>
              <a:highlight>
                <a:srgbClr val="FFFFFF"/>
              </a:highlight>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i="0" sz="11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rPr i="0" lang="en-US" sz="2100" u="none" cap="none" strike="noStrike">
                <a:solidFill>
                  <a:schemeClr val="dk1"/>
                </a:solidFill>
                <a:highlight>
                  <a:srgbClr val="FFFFFF"/>
                </a:highlight>
                <a:latin typeface="Times New Roman"/>
                <a:ea typeface="Times New Roman"/>
                <a:cs typeface="Times New Roman"/>
                <a:sym typeface="Times New Roman"/>
              </a:rPr>
              <a:t>General Plan for Analyzing the </a:t>
            </a:r>
            <a:r>
              <a:rPr b="1" i="0" lang="en-US" sz="2100" u="none" cap="none" strike="noStrike">
                <a:solidFill>
                  <a:schemeClr val="dk1"/>
                </a:solidFill>
                <a:highlight>
                  <a:srgbClr val="FFFFFF"/>
                </a:highlight>
                <a:latin typeface="Times New Roman"/>
                <a:ea typeface="Times New Roman"/>
                <a:cs typeface="Times New Roman"/>
                <a:sym typeface="Times New Roman"/>
              </a:rPr>
              <a:t>Time Efficiency of Recursive Algorithms</a:t>
            </a:r>
            <a:endParaRPr b="1" i="0" sz="2100" u="none" cap="none" strike="noStrike">
              <a:solidFill>
                <a:schemeClr val="dk1"/>
              </a:solidFill>
              <a:highlight>
                <a:srgbClr val="FFFFFF"/>
              </a:highlight>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100"/>
              <a:buFont typeface="Arial"/>
              <a:buNone/>
            </a:pPr>
            <a:r>
              <a:t/>
            </a:r>
            <a:endParaRPr i="0" sz="2100" u="none" cap="none" strike="noStrike">
              <a:solidFill>
                <a:schemeClr val="dk1"/>
              </a:solidFill>
              <a:latin typeface="Times New Roman"/>
              <a:ea typeface="Times New Roman"/>
              <a:cs typeface="Times New Roman"/>
              <a:sym typeface="Times New Roman"/>
            </a:endParaRPr>
          </a:p>
          <a:p>
            <a:pPr indent="-349250" lvl="0" marL="457200" marR="0" rtl="0" algn="just">
              <a:lnSpc>
                <a:spcPct val="100000"/>
              </a:lnSpc>
              <a:spcBef>
                <a:spcPts val="0"/>
              </a:spcBef>
              <a:spcAft>
                <a:spcPts val="0"/>
              </a:spcAft>
              <a:buClr>
                <a:schemeClr val="dk1"/>
              </a:buClr>
              <a:buSzPts val="1900"/>
              <a:buFont typeface="Times New Roman"/>
              <a:buChar char="➢"/>
            </a:pPr>
            <a:r>
              <a:rPr i="0" lang="en-US" sz="1900" u="none" cap="none" strike="noStrike">
                <a:solidFill>
                  <a:schemeClr val="dk1"/>
                </a:solidFill>
                <a:highlight>
                  <a:srgbClr val="FFFFFF"/>
                </a:highlight>
                <a:latin typeface="Times New Roman"/>
                <a:ea typeface="Times New Roman"/>
                <a:cs typeface="Times New Roman"/>
                <a:sym typeface="Times New Roman"/>
              </a:rPr>
              <a:t>Decide on a parameter (or parameters) indicating an input's size.</a:t>
            </a:r>
            <a:endParaRPr i="0" sz="1900" u="none" cap="none" strike="noStrike">
              <a:solidFill>
                <a:schemeClr val="dk1"/>
              </a:solidFill>
              <a:highlight>
                <a:srgbClr val="FFFFFF"/>
              </a:highlight>
              <a:latin typeface="Times New Roman"/>
              <a:ea typeface="Times New Roman"/>
              <a:cs typeface="Times New Roman"/>
              <a:sym typeface="Times New Roman"/>
            </a:endParaRPr>
          </a:p>
          <a:p>
            <a:pPr indent="0" lvl="0" marL="457200" marR="0" rtl="0" algn="just">
              <a:lnSpc>
                <a:spcPct val="100000"/>
              </a:lnSpc>
              <a:spcBef>
                <a:spcPts val="0"/>
              </a:spcBef>
              <a:spcAft>
                <a:spcPts val="0"/>
              </a:spcAft>
              <a:buNone/>
            </a:pPr>
            <a:r>
              <a:t/>
            </a:r>
            <a:endParaRPr sz="1900">
              <a:solidFill>
                <a:schemeClr val="dk1"/>
              </a:solidFill>
              <a:highlight>
                <a:srgbClr val="FFFFFF"/>
              </a:highlight>
              <a:latin typeface="Times New Roman"/>
              <a:ea typeface="Times New Roman"/>
              <a:cs typeface="Times New Roman"/>
              <a:sym typeface="Times New Roman"/>
            </a:endParaRPr>
          </a:p>
          <a:p>
            <a:pPr indent="-349250" lvl="0" marL="457200" marR="0" rtl="0" algn="just">
              <a:lnSpc>
                <a:spcPct val="100000"/>
              </a:lnSpc>
              <a:spcBef>
                <a:spcPts val="0"/>
              </a:spcBef>
              <a:spcAft>
                <a:spcPts val="0"/>
              </a:spcAft>
              <a:buClr>
                <a:schemeClr val="dk1"/>
              </a:buClr>
              <a:buSzPts val="1900"/>
              <a:buFont typeface="Times New Roman"/>
              <a:buChar char="➢"/>
            </a:pPr>
            <a:r>
              <a:rPr i="0" lang="en-US" sz="1900" u="none" cap="none" strike="noStrike">
                <a:solidFill>
                  <a:schemeClr val="dk1"/>
                </a:solidFill>
                <a:highlight>
                  <a:srgbClr val="FFFFFF"/>
                </a:highlight>
                <a:latin typeface="Times New Roman"/>
                <a:ea typeface="Times New Roman"/>
                <a:cs typeface="Times New Roman"/>
                <a:sym typeface="Times New Roman"/>
              </a:rPr>
              <a:t>Identify the algorithm's basic operation.</a:t>
            </a:r>
            <a:endParaRPr i="0" sz="1900" u="none" cap="none" strike="noStrike">
              <a:solidFill>
                <a:schemeClr val="dk1"/>
              </a:solidFill>
              <a:highlight>
                <a:srgbClr val="FFFFFF"/>
              </a:highlight>
              <a:latin typeface="Times New Roman"/>
              <a:ea typeface="Times New Roman"/>
              <a:cs typeface="Times New Roman"/>
              <a:sym typeface="Times New Roman"/>
            </a:endParaRPr>
          </a:p>
          <a:p>
            <a:pPr indent="0" lvl="0" marL="457200" marR="0" rtl="0" algn="just">
              <a:lnSpc>
                <a:spcPct val="100000"/>
              </a:lnSpc>
              <a:spcBef>
                <a:spcPts val="0"/>
              </a:spcBef>
              <a:spcAft>
                <a:spcPts val="0"/>
              </a:spcAft>
              <a:buNone/>
            </a:pPr>
            <a:r>
              <a:t/>
            </a:r>
            <a:endParaRPr sz="1900">
              <a:solidFill>
                <a:schemeClr val="dk1"/>
              </a:solidFill>
              <a:highlight>
                <a:srgbClr val="FFFFFF"/>
              </a:highlight>
              <a:latin typeface="Times New Roman"/>
              <a:ea typeface="Times New Roman"/>
              <a:cs typeface="Times New Roman"/>
              <a:sym typeface="Times New Roman"/>
            </a:endParaRPr>
          </a:p>
          <a:p>
            <a:pPr indent="-349250" lvl="0" marL="457200" marR="0" rtl="0" algn="just">
              <a:lnSpc>
                <a:spcPct val="100000"/>
              </a:lnSpc>
              <a:spcBef>
                <a:spcPts val="0"/>
              </a:spcBef>
              <a:spcAft>
                <a:spcPts val="0"/>
              </a:spcAft>
              <a:buClr>
                <a:schemeClr val="dk1"/>
              </a:buClr>
              <a:buSzPts val="1900"/>
              <a:buFont typeface="Times New Roman"/>
              <a:buChar char="➢"/>
            </a:pPr>
            <a:r>
              <a:rPr i="0" lang="en-US" sz="1900" u="none" cap="none" strike="noStrike">
                <a:solidFill>
                  <a:schemeClr val="dk1"/>
                </a:solidFill>
                <a:highlight>
                  <a:srgbClr val="FFFFFF"/>
                </a:highlight>
                <a:latin typeface="Times New Roman"/>
                <a:ea typeface="Times New Roman"/>
                <a:cs typeface="Times New Roman"/>
                <a:sym typeface="Times New Roman"/>
              </a:rPr>
              <a:t>Check whether the number of times the basic operation is executed can vary on different</a:t>
            </a:r>
            <a:r>
              <a:rPr lang="en-US" sz="1900">
                <a:solidFill>
                  <a:schemeClr val="dk1"/>
                </a:solidFill>
                <a:highlight>
                  <a:srgbClr val="FFFFFF"/>
                </a:highlight>
                <a:latin typeface="Times New Roman"/>
                <a:ea typeface="Times New Roman"/>
                <a:cs typeface="Times New Roman"/>
                <a:sym typeface="Times New Roman"/>
              </a:rPr>
              <a:t> </a:t>
            </a:r>
            <a:r>
              <a:rPr i="0" lang="en-US" sz="1900" u="none" cap="none" strike="noStrike">
                <a:solidFill>
                  <a:schemeClr val="dk1"/>
                </a:solidFill>
                <a:highlight>
                  <a:srgbClr val="FFFFFF"/>
                </a:highlight>
                <a:latin typeface="Times New Roman"/>
                <a:ea typeface="Times New Roman"/>
                <a:cs typeface="Times New Roman"/>
                <a:sym typeface="Times New Roman"/>
              </a:rPr>
              <a:t>inputs of the same size; if it can, the worst-case, average-case, and best-case efficiencies</a:t>
            </a:r>
            <a:r>
              <a:rPr lang="en-US" sz="1900">
                <a:solidFill>
                  <a:schemeClr val="dk1"/>
                </a:solidFill>
                <a:highlight>
                  <a:srgbClr val="FFFFFF"/>
                </a:highlight>
                <a:latin typeface="Times New Roman"/>
                <a:ea typeface="Times New Roman"/>
                <a:cs typeface="Times New Roman"/>
                <a:sym typeface="Times New Roman"/>
              </a:rPr>
              <a:t> </a:t>
            </a:r>
            <a:r>
              <a:rPr i="0" lang="en-US" sz="1900" u="none" cap="none" strike="noStrike">
                <a:solidFill>
                  <a:schemeClr val="dk1"/>
                </a:solidFill>
                <a:highlight>
                  <a:srgbClr val="FFFFFF"/>
                </a:highlight>
                <a:latin typeface="Times New Roman"/>
                <a:ea typeface="Times New Roman"/>
                <a:cs typeface="Times New Roman"/>
                <a:sym typeface="Times New Roman"/>
              </a:rPr>
              <a:t>must be investigated separately.</a:t>
            </a:r>
            <a:endParaRPr i="0" sz="1900" u="none" cap="none" strike="noStrike">
              <a:solidFill>
                <a:schemeClr val="dk1"/>
              </a:solidFill>
              <a:highlight>
                <a:srgbClr val="FFFFFF"/>
              </a:highlight>
              <a:latin typeface="Times New Roman"/>
              <a:ea typeface="Times New Roman"/>
              <a:cs typeface="Times New Roman"/>
              <a:sym typeface="Times New Roman"/>
            </a:endParaRPr>
          </a:p>
          <a:p>
            <a:pPr indent="0" lvl="0" marL="457200" marR="0" rtl="0" algn="just">
              <a:lnSpc>
                <a:spcPct val="100000"/>
              </a:lnSpc>
              <a:spcBef>
                <a:spcPts val="0"/>
              </a:spcBef>
              <a:spcAft>
                <a:spcPts val="0"/>
              </a:spcAft>
              <a:buNone/>
            </a:pPr>
            <a:r>
              <a:t/>
            </a:r>
            <a:endParaRPr sz="1900">
              <a:solidFill>
                <a:schemeClr val="dk1"/>
              </a:solidFill>
              <a:highlight>
                <a:srgbClr val="FFFFFF"/>
              </a:highlight>
              <a:latin typeface="Times New Roman"/>
              <a:ea typeface="Times New Roman"/>
              <a:cs typeface="Times New Roman"/>
              <a:sym typeface="Times New Roman"/>
            </a:endParaRPr>
          </a:p>
          <a:p>
            <a:pPr indent="-349250" lvl="0" marL="457200" marR="0" rtl="0" algn="just">
              <a:lnSpc>
                <a:spcPct val="100000"/>
              </a:lnSpc>
              <a:spcBef>
                <a:spcPts val="0"/>
              </a:spcBef>
              <a:spcAft>
                <a:spcPts val="0"/>
              </a:spcAft>
              <a:buClr>
                <a:schemeClr val="dk1"/>
              </a:buClr>
              <a:buSzPts val="1900"/>
              <a:buFont typeface="Times New Roman"/>
              <a:buChar char="➢"/>
            </a:pPr>
            <a:r>
              <a:rPr i="0" lang="en-US" sz="1900" u="none" cap="none" strike="noStrike">
                <a:solidFill>
                  <a:schemeClr val="dk1"/>
                </a:solidFill>
                <a:highlight>
                  <a:srgbClr val="FFFFFF"/>
                </a:highlight>
                <a:latin typeface="Times New Roman"/>
                <a:ea typeface="Times New Roman"/>
                <a:cs typeface="Times New Roman"/>
                <a:sym typeface="Times New Roman"/>
              </a:rPr>
              <a:t>Set up a recurrence relation, with an appropriate initial condition, for the number of times</a:t>
            </a:r>
            <a:r>
              <a:rPr lang="en-US" sz="1900">
                <a:solidFill>
                  <a:schemeClr val="dk1"/>
                </a:solidFill>
                <a:highlight>
                  <a:srgbClr val="FFFFFF"/>
                </a:highlight>
                <a:latin typeface="Times New Roman"/>
                <a:ea typeface="Times New Roman"/>
                <a:cs typeface="Times New Roman"/>
                <a:sym typeface="Times New Roman"/>
              </a:rPr>
              <a:t> </a:t>
            </a:r>
            <a:r>
              <a:rPr i="0" lang="en-US" sz="1900" u="none" cap="none" strike="noStrike">
                <a:solidFill>
                  <a:schemeClr val="dk1"/>
                </a:solidFill>
                <a:highlight>
                  <a:srgbClr val="FFFFFF"/>
                </a:highlight>
                <a:latin typeface="Times New Roman"/>
                <a:ea typeface="Times New Roman"/>
                <a:cs typeface="Times New Roman"/>
                <a:sym typeface="Times New Roman"/>
              </a:rPr>
              <a:t>the basic operation is executed.</a:t>
            </a:r>
            <a:endParaRPr i="0" sz="1900" u="none" cap="none" strike="noStrike">
              <a:solidFill>
                <a:schemeClr val="dk1"/>
              </a:solidFill>
              <a:highlight>
                <a:srgbClr val="FFFFFF"/>
              </a:highlight>
              <a:latin typeface="Times New Roman"/>
              <a:ea typeface="Times New Roman"/>
              <a:cs typeface="Times New Roman"/>
              <a:sym typeface="Times New Roman"/>
            </a:endParaRPr>
          </a:p>
          <a:p>
            <a:pPr indent="-349250" lvl="0" marL="457200" marR="0" rtl="0" algn="just">
              <a:lnSpc>
                <a:spcPct val="100000"/>
              </a:lnSpc>
              <a:spcBef>
                <a:spcPts val="0"/>
              </a:spcBef>
              <a:spcAft>
                <a:spcPts val="0"/>
              </a:spcAft>
              <a:buClr>
                <a:schemeClr val="dk1"/>
              </a:buClr>
              <a:buSzPts val="1900"/>
              <a:buFont typeface="Times New Roman"/>
              <a:buChar char="➢"/>
            </a:pPr>
            <a:r>
              <a:t/>
            </a:r>
            <a:endParaRPr sz="1900">
              <a:solidFill>
                <a:schemeClr val="dk1"/>
              </a:solidFill>
              <a:highlight>
                <a:srgbClr val="FFFFFF"/>
              </a:highlight>
              <a:latin typeface="Times New Roman"/>
              <a:ea typeface="Times New Roman"/>
              <a:cs typeface="Times New Roman"/>
              <a:sym typeface="Times New Roman"/>
            </a:endParaRPr>
          </a:p>
          <a:p>
            <a:pPr indent="-349250" lvl="0" marL="457200" marR="0" rtl="0" algn="just">
              <a:lnSpc>
                <a:spcPct val="100000"/>
              </a:lnSpc>
              <a:spcBef>
                <a:spcPts val="0"/>
              </a:spcBef>
              <a:spcAft>
                <a:spcPts val="0"/>
              </a:spcAft>
              <a:buSzPts val="1900"/>
              <a:buFont typeface="Times New Roman"/>
              <a:buChar char="➢"/>
            </a:pPr>
            <a:r>
              <a:rPr i="0" lang="en-US" sz="1900" u="none" cap="none" strike="noStrike">
                <a:solidFill>
                  <a:schemeClr val="dk1"/>
                </a:solidFill>
                <a:highlight>
                  <a:srgbClr val="FFFFFF"/>
                </a:highlight>
                <a:latin typeface="Times New Roman"/>
                <a:ea typeface="Times New Roman"/>
                <a:cs typeface="Times New Roman"/>
                <a:sym typeface="Times New Roman"/>
              </a:rPr>
              <a:t>Solve the recurrence or, at least, ascertain the order of growth of its solution</a:t>
            </a:r>
            <a:r>
              <a:rPr i="0" lang="en-US" sz="1900" u="none" cap="none" strike="noStrike">
                <a:solidFill>
                  <a:srgbClr val="0000FF"/>
                </a:solidFill>
                <a:highlight>
                  <a:srgbClr val="FFFFFF"/>
                </a:highlight>
                <a:latin typeface="Times New Roman"/>
                <a:ea typeface="Times New Roman"/>
                <a:cs typeface="Times New Roman"/>
                <a:sym typeface="Times New Roman"/>
              </a:rPr>
              <a:t>.</a:t>
            </a:r>
            <a:endParaRPr b="1" i="0" sz="19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200"/>
              <a:buFont typeface="Arial"/>
              <a:buNone/>
            </a:pPr>
            <a:r>
              <a:t/>
            </a:r>
            <a:endParaRPr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000000"/>
                </a:solidFill>
                <a:latin typeface="Arial"/>
                <a:ea typeface="Arial"/>
                <a:cs typeface="Arial"/>
                <a:sym typeface="Arial"/>
              </a:rPr>
              <a:t>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g255f986635b_0_1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797" name="Google Shape;797;g255f986635b_0_17"/>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798" name="Google Shape;798;g255f986635b_0_1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799" name="Google Shape;799;g255f986635b_0_1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00" name="Google Shape;800;g255f986635b_0_1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1" name="Google Shape;801;g255f986635b_0_1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2" name="Google Shape;802;g255f986635b_0_1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03" name="Google Shape;803;g255f986635b_0_1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04" name="Google Shape;804;g255f986635b_0_1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05" name="Google Shape;805;g255f986635b_0_17"/>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06" name="Google Shape;806;g255f986635b_0_17"/>
          <p:cNvSpPr txBox="1"/>
          <p:nvPr/>
        </p:nvSpPr>
        <p:spPr>
          <a:xfrm>
            <a:off x="197800" y="1181325"/>
            <a:ext cx="8249100" cy="5958300"/>
          </a:xfrm>
          <a:prstGeom prst="rect">
            <a:avLst/>
          </a:prstGeom>
          <a:noFill/>
          <a:ln>
            <a:noFill/>
          </a:ln>
        </p:spPr>
        <p:txBody>
          <a:bodyPr anchorCtr="0" anchor="t" bIns="91425" lIns="91425" spcFirstLastPara="1" rIns="91425" wrap="square" tIns="91425">
            <a:spAutoFit/>
          </a:bodyPr>
          <a:lstStyle/>
          <a:p>
            <a:pPr indent="0" lvl="0" marL="0" marR="0" rtl="0" algn="ctr">
              <a:lnSpc>
                <a:spcPct val="170000"/>
              </a:lnSpc>
              <a:spcBef>
                <a:spcPts val="0"/>
              </a:spcBef>
              <a:spcAft>
                <a:spcPts val="0"/>
              </a:spcAft>
              <a:buClr>
                <a:srgbClr val="000000"/>
              </a:buClr>
              <a:buSzPts val="2100"/>
              <a:buFont typeface="Arial"/>
              <a:buNone/>
            </a:pPr>
            <a:r>
              <a:rPr b="1" i="0" lang="en-US" sz="2100" u="none" cap="none" strike="noStrike">
                <a:solidFill>
                  <a:srgbClr val="C00000"/>
                </a:solidFill>
                <a:highlight>
                  <a:srgbClr val="FFFFFF"/>
                </a:highlight>
                <a:latin typeface="Roboto"/>
                <a:ea typeface="Roboto"/>
                <a:cs typeface="Roboto"/>
                <a:sym typeface="Roboto"/>
              </a:rPr>
              <a:t>Recursive Evaluation of n! (factorial)</a:t>
            </a:r>
            <a:endParaRPr b="1" i="0" sz="2100" u="none" cap="none" strike="noStrike">
              <a:solidFill>
                <a:srgbClr val="C00000"/>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2300"/>
              <a:buFont typeface="Arial"/>
              <a:buNone/>
            </a:pPr>
            <a:r>
              <a:rPr b="1" i="0" lang="en-US" sz="2000" u="none" cap="none" strike="noStrike">
                <a:solidFill>
                  <a:schemeClr val="dk1"/>
                </a:solidFill>
                <a:highlight>
                  <a:srgbClr val="FFFFFF"/>
                </a:highlight>
                <a:latin typeface="Roboto"/>
                <a:ea typeface="Roboto"/>
                <a:cs typeface="Roboto"/>
                <a:sym typeface="Roboto"/>
              </a:rPr>
              <a:t>Definition: </a:t>
            </a:r>
            <a:endParaRPr b="1" i="0" sz="2000" u="none" cap="none" strike="noStrike">
              <a:solidFill>
                <a:schemeClr val="dk1"/>
              </a:solidFill>
              <a:highlight>
                <a:srgbClr val="FFFFFF"/>
              </a:highlight>
              <a:latin typeface="Roboto"/>
              <a:ea typeface="Roboto"/>
              <a:cs typeface="Roboto"/>
              <a:sym typeface="Roboto"/>
            </a:endParaRPr>
          </a:p>
          <a:p>
            <a:pPr indent="0" lvl="0" marL="0" marR="0" rtl="0" algn="ctr">
              <a:lnSpc>
                <a:spcPct val="100000"/>
              </a:lnSpc>
              <a:spcBef>
                <a:spcPts val="0"/>
              </a:spcBef>
              <a:spcAft>
                <a:spcPts val="0"/>
              </a:spcAft>
              <a:buClr>
                <a:srgbClr val="000000"/>
              </a:buClr>
              <a:buSzPts val="2300"/>
              <a:buFont typeface="Arial"/>
              <a:buNone/>
            </a:pPr>
            <a:r>
              <a:rPr b="1" i="0" lang="en-US" sz="2000" u="none" cap="none" strike="noStrike">
                <a:solidFill>
                  <a:schemeClr val="dk1"/>
                </a:solidFill>
                <a:highlight>
                  <a:srgbClr val="FFFFFF"/>
                </a:highlight>
                <a:latin typeface="Roboto"/>
                <a:ea typeface="Roboto"/>
                <a:cs typeface="Roboto"/>
                <a:sym typeface="Roboto"/>
              </a:rPr>
              <a:t>n! = 1 * 2 * ... *(n-1) * n </a:t>
            </a:r>
            <a:endParaRPr b="1" i="0" sz="20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300"/>
              <a:buFont typeface="Arial"/>
              <a:buNone/>
            </a:pPr>
            <a:r>
              <a:rPr lang="en-US" sz="2000">
                <a:solidFill>
                  <a:schemeClr val="dk1"/>
                </a:solidFill>
                <a:highlight>
                  <a:srgbClr val="FFFFFF"/>
                </a:highlight>
                <a:latin typeface="Roboto"/>
                <a:ea typeface="Roboto"/>
                <a:cs typeface="Roboto"/>
                <a:sym typeface="Roboto"/>
              </a:rPr>
              <a:t>                                             </a:t>
            </a:r>
            <a:endParaRPr sz="2000">
              <a:solidFill>
                <a:schemeClr val="dk1"/>
              </a:solidFill>
              <a:highlight>
                <a:srgbClr val="FFFFFF"/>
              </a:highlight>
              <a:latin typeface="Roboto"/>
              <a:ea typeface="Roboto"/>
              <a:cs typeface="Roboto"/>
              <a:sym typeface="Roboto"/>
            </a:endParaRPr>
          </a:p>
          <a:p>
            <a:pPr indent="457200" lvl="0" marL="2286000" marR="0" rtl="0" algn="l">
              <a:lnSpc>
                <a:spcPct val="100000"/>
              </a:lnSpc>
              <a:spcBef>
                <a:spcPts val="0"/>
              </a:spcBef>
              <a:spcAft>
                <a:spcPts val="0"/>
              </a:spcAft>
              <a:buClr>
                <a:srgbClr val="000000"/>
              </a:buClr>
              <a:buSzPts val="2300"/>
              <a:buFont typeface="Arial"/>
              <a:buNone/>
            </a:pPr>
            <a:r>
              <a:rPr b="0" i="0" lang="en-US" sz="2000" u="none" cap="none" strike="noStrike">
                <a:solidFill>
                  <a:schemeClr val="dk1"/>
                </a:solidFill>
                <a:highlight>
                  <a:srgbClr val="FFFFFF"/>
                </a:highlight>
                <a:latin typeface="Roboto"/>
                <a:ea typeface="Roboto"/>
                <a:cs typeface="Roboto"/>
                <a:sym typeface="Roboto"/>
              </a:rPr>
              <a:t>for</a:t>
            </a:r>
            <a:r>
              <a:rPr lang="en-US" sz="2000">
                <a:solidFill>
                  <a:schemeClr val="dk1"/>
                </a:solidFill>
                <a:highlight>
                  <a:srgbClr val="FFFFFF"/>
                </a:highlight>
                <a:latin typeface="Roboto"/>
                <a:ea typeface="Roboto"/>
                <a:cs typeface="Roboto"/>
                <a:sym typeface="Roboto"/>
              </a:rPr>
              <a:t>,</a:t>
            </a:r>
            <a:endParaRPr b="0" i="0" sz="20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300"/>
              <a:buFont typeface="Arial"/>
              <a:buNone/>
            </a:pPr>
            <a:r>
              <a:rPr lang="en-US" sz="2000">
                <a:solidFill>
                  <a:schemeClr val="dk1"/>
                </a:solidFill>
                <a:highlight>
                  <a:srgbClr val="FFFFFF"/>
                </a:highlight>
                <a:latin typeface="Roboto"/>
                <a:ea typeface="Roboto"/>
                <a:cs typeface="Roboto"/>
                <a:sym typeface="Roboto"/>
              </a:rPr>
              <a:t>                                                    </a:t>
            </a:r>
            <a:r>
              <a:rPr b="0" i="0" lang="en-US" sz="2000" u="none" cap="none" strike="noStrike">
                <a:solidFill>
                  <a:schemeClr val="dk1"/>
                </a:solidFill>
                <a:highlight>
                  <a:srgbClr val="FFFFFF"/>
                </a:highlight>
                <a:latin typeface="Roboto"/>
                <a:ea typeface="Roboto"/>
                <a:cs typeface="Roboto"/>
                <a:sym typeface="Roboto"/>
              </a:rPr>
              <a:t>n1 and 0! = 1</a:t>
            </a:r>
            <a:endParaRPr b="0" i="0" sz="20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300"/>
              <a:buFont typeface="Arial"/>
              <a:buNone/>
            </a:pPr>
            <a:r>
              <a:t/>
            </a:r>
            <a:endParaRPr sz="2000">
              <a:solidFill>
                <a:schemeClr val="dk1"/>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2200"/>
              <a:buFont typeface="Arial"/>
              <a:buNone/>
            </a:pPr>
            <a:r>
              <a:rPr b="1" i="0" lang="en-US" sz="1900" u="none" cap="none" strike="noStrike">
                <a:solidFill>
                  <a:schemeClr val="dk1"/>
                </a:solidFill>
                <a:highlight>
                  <a:srgbClr val="FFFFFF"/>
                </a:highlight>
                <a:latin typeface="Roboto"/>
                <a:ea typeface="Roboto"/>
                <a:cs typeface="Roboto"/>
                <a:sym typeface="Roboto"/>
              </a:rPr>
              <a:t>Recursive definition of n! :  </a:t>
            </a:r>
            <a:endParaRPr b="1" i="0" sz="1900" u="none" cap="none" strike="noStrike">
              <a:solidFill>
                <a:schemeClr val="dk1"/>
              </a:solidFill>
              <a:highlight>
                <a:srgbClr val="FFFFFF"/>
              </a:highlight>
              <a:latin typeface="Roboto"/>
              <a:ea typeface="Roboto"/>
              <a:cs typeface="Roboto"/>
              <a:sym typeface="Roboto"/>
            </a:endParaRPr>
          </a:p>
          <a:p>
            <a:pPr indent="0" lvl="0" marL="0" marR="0" rtl="0" algn="ctr">
              <a:lnSpc>
                <a:spcPct val="100000"/>
              </a:lnSpc>
              <a:spcBef>
                <a:spcPts val="0"/>
              </a:spcBef>
              <a:spcAft>
                <a:spcPts val="0"/>
              </a:spcAft>
              <a:buClr>
                <a:srgbClr val="000000"/>
              </a:buClr>
              <a:buSzPts val="2200"/>
              <a:buFont typeface="Arial"/>
              <a:buNone/>
            </a:pPr>
            <a:r>
              <a:rPr b="1" i="0" lang="en-US" sz="1900" u="none" cap="none" strike="noStrike">
                <a:solidFill>
                  <a:schemeClr val="dk1"/>
                </a:solidFill>
                <a:highlight>
                  <a:srgbClr val="FFFFFF"/>
                </a:highlight>
                <a:latin typeface="Roboto"/>
                <a:ea typeface="Roboto"/>
                <a:cs typeface="Roboto"/>
                <a:sym typeface="Roboto"/>
              </a:rPr>
              <a:t>F(n) = F(n-1)*n  </a:t>
            </a:r>
            <a:endParaRPr b="1" i="0" sz="19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2200"/>
              <a:buFont typeface="Arial"/>
              <a:buNone/>
            </a:pPr>
            <a:r>
              <a:rPr lang="en-US" sz="1900">
                <a:solidFill>
                  <a:schemeClr val="dk1"/>
                </a:solidFill>
                <a:highlight>
                  <a:srgbClr val="FFFFFF"/>
                </a:highlight>
                <a:latin typeface="Roboto"/>
                <a:ea typeface="Roboto"/>
                <a:cs typeface="Roboto"/>
                <a:sym typeface="Roboto"/>
              </a:rPr>
              <a:t>                                               </a:t>
            </a:r>
            <a:r>
              <a:rPr b="0" i="0" lang="en-US" sz="1900" u="none" cap="none" strike="noStrike">
                <a:solidFill>
                  <a:schemeClr val="dk1"/>
                </a:solidFill>
                <a:highlight>
                  <a:srgbClr val="FFFFFF"/>
                </a:highlight>
                <a:latin typeface="Roboto"/>
                <a:ea typeface="Roboto"/>
                <a:cs typeface="Roboto"/>
                <a:sym typeface="Roboto"/>
              </a:rPr>
              <a:t>for</a:t>
            </a:r>
            <a:r>
              <a:rPr lang="en-US" sz="1900">
                <a:solidFill>
                  <a:schemeClr val="dk1"/>
                </a:solidFill>
                <a:highlight>
                  <a:srgbClr val="FFFFFF"/>
                </a:highlight>
                <a:latin typeface="Roboto"/>
                <a:ea typeface="Roboto"/>
                <a:cs typeface="Roboto"/>
                <a:sym typeface="Roboto"/>
              </a:rPr>
              <a:t>,</a:t>
            </a:r>
            <a:endParaRPr sz="1900">
              <a:solidFill>
                <a:schemeClr val="dk1"/>
              </a:solidFill>
              <a:highlight>
                <a:srgbClr val="FFFFFF"/>
              </a:highlight>
              <a:latin typeface="Roboto"/>
              <a:ea typeface="Roboto"/>
              <a:cs typeface="Roboto"/>
              <a:sym typeface="Roboto"/>
            </a:endParaRPr>
          </a:p>
          <a:p>
            <a:pPr indent="0" lvl="0" marL="0" marR="0" rtl="0" algn="ctr">
              <a:lnSpc>
                <a:spcPct val="100000"/>
              </a:lnSpc>
              <a:spcBef>
                <a:spcPts val="0"/>
              </a:spcBef>
              <a:spcAft>
                <a:spcPts val="0"/>
              </a:spcAft>
              <a:buClr>
                <a:srgbClr val="000000"/>
              </a:buClr>
              <a:buSzPts val="2200"/>
              <a:buFont typeface="Arial"/>
              <a:buNone/>
            </a:pPr>
            <a:r>
              <a:rPr b="0" i="0" lang="en-US" sz="1900" u="none" cap="none" strike="noStrike">
                <a:solidFill>
                  <a:schemeClr val="dk1"/>
                </a:solidFill>
                <a:highlight>
                  <a:srgbClr val="FFFFFF"/>
                </a:highlight>
                <a:latin typeface="Roboto"/>
                <a:ea typeface="Roboto"/>
                <a:cs typeface="Roboto"/>
                <a:sym typeface="Roboto"/>
              </a:rPr>
              <a:t>n &gt;= 1 and F(0) = 1</a:t>
            </a:r>
            <a:endParaRPr b="0" i="0" sz="1900" u="none" cap="none" strike="noStrike">
              <a:solidFill>
                <a:schemeClr val="dk1"/>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2300"/>
              <a:buFont typeface="Arial"/>
              <a:buNone/>
            </a:pPr>
            <a:r>
              <a:t/>
            </a:r>
            <a:endParaRPr b="0" i="0" sz="2300" u="none" cap="none" strike="noStrike">
              <a:solidFill>
                <a:srgbClr val="0000FF"/>
              </a:solidFill>
              <a:highlight>
                <a:srgbClr val="FFFFFF"/>
              </a:highlight>
              <a:latin typeface="Roboto"/>
              <a:ea typeface="Roboto"/>
              <a:cs typeface="Roboto"/>
              <a:sym typeface="Roboto"/>
            </a:endParaRPr>
          </a:p>
          <a:p>
            <a:pPr indent="0" lvl="0" marL="0" marR="0" rtl="0" algn="l">
              <a:lnSpc>
                <a:spcPct val="100000"/>
              </a:lnSpc>
              <a:spcBef>
                <a:spcPts val="900"/>
              </a:spcBef>
              <a:spcAft>
                <a:spcPts val="0"/>
              </a:spcAft>
              <a:buClr>
                <a:srgbClr val="000000"/>
              </a:buClr>
              <a:buSzPts val="2000"/>
              <a:buFont typeface="Arial"/>
              <a:buNone/>
            </a:pPr>
            <a:r>
              <a:t/>
            </a:r>
            <a:endParaRPr b="1" i="0" sz="20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g255f986635b_0_32"/>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12" name="Google Shape;812;g255f986635b_0_32"/>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13" name="Google Shape;813;g255f986635b_0_32"/>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14" name="Google Shape;814;g255f986635b_0_32"/>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15" name="Google Shape;815;g255f986635b_0_32"/>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6" name="Google Shape;816;g255f986635b_0_32"/>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7" name="Google Shape;817;g255f986635b_0_32"/>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18" name="Google Shape;818;g255f986635b_0_32"/>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19" name="Google Shape;819;g255f986635b_0_32"/>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20" name="Google Shape;820;g255f986635b_0_32"/>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21" name="Google Shape;821;g255f986635b_0_32"/>
          <p:cNvSpPr txBox="1"/>
          <p:nvPr/>
        </p:nvSpPr>
        <p:spPr>
          <a:xfrm>
            <a:off x="197800" y="1105275"/>
            <a:ext cx="8249100" cy="60708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highlight>
                  <a:srgbClr val="FFFFFF"/>
                </a:highlight>
                <a:latin typeface="Roboto"/>
                <a:ea typeface="Roboto"/>
                <a:cs typeface="Roboto"/>
                <a:sym typeface="Roboto"/>
              </a:rPr>
              <a:t>Algorithm Analysis -</a:t>
            </a:r>
            <a:r>
              <a:rPr i="1" lang="en-US" sz="2100" u="none" cap="none" strike="noStrike">
                <a:solidFill>
                  <a:srgbClr val="C00000"/>
                </a:solidFill>
                <a:highlight>
                  <a:srgbClr val="FFFFFF"/>
                </a:highlight>
                <a:latin typeface="Roboto"/>
                <a:ea typeface="Roboto"/>
                <a:cs typeface="Roboto"/>
                <a:sym typeface="Roboto"/>
              </a:rPr>
              <a:t> </a:t>
            </a:r>
            <a:r>
              <a:rPr i="1" lang="en-US" sz="1900">
                <a:solidFill>
                  <a:schemeClr val="dk1"/>
                </a:solidFill>
              </a:rPr>
              <a:t>ALGORITHM F(n)</a:t>
            </a:r>
            <a:endParaRPr i="1" sz="2100" u="none" cap="none" strike="noStrike">
              <a:solidFill>
                <a:srgbClr val="C00000"/>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1900"/>
              <a:buFont typeface="Arial"/>
              <a:buNone/>
            </a:pPr>
            <a:r>
              <a:rPr b="1" i="1" lang="en-US" sz="1900">
                <a:solidFill>
                  <a:schemeClr val="dk1"/>
                </a:solidFill>
              </a:rPr>
              <a:t>//</a:t>
            </a:r>
            <a:r>
              <a:rPr b="1" i="1" lang="en-US" sz="1900" u="none" cap="none" strike="noStrike">
                <a:solidFill>
                  <a:schemeClr val="dk1"/>
                </a:solidFill>
              </a:rPr>
              <a:t>Computes n! recursively</a:t>
            </a:r>
            <a:endParaRPr b="1" i="1" sz="1900" u="none" cap="none" strike="noStrike">
              <a:solidFill>
                <a:schemeClr val="dk1"/>
              </a:solidFill>
            </a:endParaRPr>
          </a:p>
          <a:p>
            <a:pPr indent="0" lvl="0" marL="0" marR="0" rtl="0" algn="l">
              <a:lnSpc>
                <a:spcPct val="170000"/>
              </a:lnSpc>
              <a:spcBef>
                <a:spcPts val="900"/>
              </a:spcBef>
              <a:spcAft>
                <a:spcPts val="0"/>
              </a:spcAft>
              <a:buClr>
                <a:srgbClr val="000000"/>
              </a:buClr>
              <a:buSzPts val="1900"/>
              <a:buFont typeface="Arial"/>
              <a:buNone/>
            </a:pPr>
            <a:r>
              <a:rPr b="1" i="1" lang="en-US" sz="1900" u="none" cap="none" strike="noStrike">
                <a:solidFill>
                  <a:schemeClr val="dk1"/>
                </a:solidFill>
              </a:rPr>
              <a:t>//Input</a:t>
            </a:r>
            <a:r>
              <a:rPr b="1" i="1" lang="en-US" sz="1900" u="none" cap="none" strike="noStrike">
                <a:solidFill>
                  <a:schemeClr val="dk1"/>
                </a:solidFill>
              </a:rPr>
              <a:t>:</a:t>
            </a:r>
            <a:r>
              <a:rPr i="1" lang="en-US" sz="1900" u="none" cap="none" strike="noStrike">
                <a:solidFill>
                  <a:schemeClr val="dk1"/>
                </a:solidFill>
              </a:rPr>
              <a:t> A nonnegative integer n</a:t>
            </a:r>
            <a:endParaRPr i="1" sz="1900" u="none" cap="none" strike="noStrike">
              <a:solidFill>
                <a:schemeClr val="dk1"/>
              </a:solidFill>
            </a:endParaRPr>
          </a:p>
          <a:p>
            <a:pPr indent="0" lvl="0" marL="0" marR="0" rtl="0" algn="l">
              <a:lnSpc>
                <a:spcPct val="170000"/>
              </a:lnSpc>
              <a:spcBef>
                <a:spcPts val="900"/>
              </a:spcBef>
              <a:spcAft>
                <a:spcPts val="0"/>
              </a:spcAft>
              <a:buClr>
                <a:srgbClr val="000000"/>
              </a:buClr>
              <a:buSzPts val="1900"/>
              <a:buFont typeface="Arial"/>
              <a:buNone/>
            </a:pPr>
            <a:r>
              <a:rPr b="1" i="1" lang="en-US" sz="1900" u="none" cap="none" strike="noStrike">
                <a:solidFill>
                  <a:schemeClr val="dk1"/>
                </a:solidFill>
              </a:rPr>
              <a:t>//Output: </a:t>
            </a:r>
            <a:r>
              <a:rPr i="1" lang="en-US" sz="1900" u="none" cap="none" strike="noStrike">
                <a:solidFill>
                  <a:schemeClr val="dk1"/>
                </a:solidFill>
              </a:rPr>
              <a:t>The value of n!</a:t>
            </a:r>
            <a:endParaRPr i="1" sz="1900" u="none" cap="none" strike="noStrike">
              <a:solidFill>
                <a:schemeClr val="dk1"/>
              </a:solidFill>
            </a:endParaRPr>
          </a:p>
          <a:p>
            <a:pPr indent="0" lvl="0" marL="0" marR="0" rtl="0" algn="l">
              <a:lnSpc>
                <a:spcPct val="170000"/>
              </a:lnSpc>
              <a:spcBef>
                <a:spcPts val="900"/>
              </a:spcBef>
              <a:spcAft>
                <a:spcPts val="0"/>
              </a:spcAft>
              <a:buClr>
                <a:srgbClr val="000000"/>
              </a:buClr>
              <a:buSzPts val="1900"/>
              <a:buFont typeface="Arial"/>
              <a:buNone/>
            </a:pPr>
            <a:r>
              <a:rPr i="1" lang="en-US" sz="1900">
                <a:solidFill>
                  <a:schemeClr val="dk1"/>
                </a:solidFill>
              </a:rPr>
              <a:t>                                            </a:t>
            </a:r>
            <a:r>
              <a:rPr i="1" lang="en-US" sz="1900" u="none" cap="none" strike="noStrike">
                <a:solidFill>
                  <a:schemeClr val="dk1"/>
                </a:solidFill>
              </a:rPr>
              <a:t>if n = 0</a:t>
            </a:r>
            <a:r>
              <a:rPr i="1" lang="en-US" sz="1900">
                <a:solidFill>
                  <a:schemeClr val="dk1"/>
                </a:solidFill>
              </a:rPr>
              <a:t>, </a:t>
            </a:r>
            <a:r>
              <a:rPr i="1" lang="en-US" sz="1900" u="none" cap="none" strike="noStrike">
                <a:solidFill>
                  <a:schemeClr val="dk1"/>
                </a:solidFill>
              </a:rPr>
              <a:t>return 1</a:t>
            </a:r>
            <a:endParaRPr i="1" sz="1900" u="none" cap="none" strike="noStrike">
              <a:solidFill>
                <a:schemeClr val="dk1"/>
              </a:solidFill>
            </a:endParaRPr>
          </a:p>
          <a:p>
            <a:pPr indent="0" lvl="0" marL="0" marR="0" rtl="0" algn="ctr">
              <a:lnSpc>
                <a:spcPct val="170000"/>
              </a:lnSpc>
              <a:spcBef>
                <a:spcPts val="900"/>
              </a:spcBef>
              <a:spcAft>
                <a:spcPts val="0"/>
              </a:spcAft>
              <a:buClr>
                <a:srgbClr val="000000"/>
              </a:buClr>
              <a:buSzPts val="1900"/>
              <a:buFont typeface="Arial"/>
              <a:buNone/>
            </a:pPr>
            <a:r>
              <a:rPr i="1" lang="en-US" sz="1900" u="none" cap="none" strike="noStrike">
                <a:solidFill>
                  <a:schemeClr val="dk1"/>
                </a:solidFill>
              </a:rPr>
              <a:t>else,  return F(n - 1)*n</a:t>
            </a:r>
            <a:endParaRPr i="1" sz="1900" u="none" cap="none" strike="noStrike">
              <a:solidFill>
                <a:schemeClr val="dk1"/>
              </a:solidFill>
            </a:endParaRPr>
          </a:p>
          <a:p>
            <a:pPr indent="0" lvl="0" marL="0" marR="0" rtl="0" algn="l">
              <a:lnSpc>
                <a:spcPct val="170000"/>
              </a:lnSpc>
              <a:spcBef>
                <a:spcPts val="900"/>
              </a:spcBef>
              <a:spcAft>
                <a:spcPts val="0"/>
              </a:spcAft>
              <a:buClr>
                <a:srgbClr val="000000"/>
              </a:buClr>
              <a:buSzPts val="2300"/>
              <a:buFont typeface="Arial"/>
              <a:buNone/>
            </a:pPr>
            <a:r>
              <a:t/>
            </a:r>
            <a:endParaRPr b="0" i="0" sz="2300" u="none" cap="none" strike="noStrike">
              <a:solidFill>
                <a:schemeClr val="dk1"/>
              </a:solidFill>
              <a:highlight>
                <a:srgbClr val="FFFFFF"/>
              </a:highlight>
              <a:latin typeface="Roboto"/>
              <a:ea typeface="Roboto"/>
              <a:cs typeface="Roboto"/>
              <a:sym typeface="Roboto"/>
            </a:endParaRPr>
          </a:p>
          <a:p>
            <a:pPr indent="0" lvl="0" marL="0" marR="0" rtl="0" algn="l">
              <a:lnSpc>
                <a:spcPct val="170000"/>
              </a:lnSpc>
              <a:spcBef>
                <a:spcPts val="900"/>
              </a:spcBef>
              <a:spcAft>
                <a:spcPts val="0"/>
              </a:spcAft>
              <a:buClr>
                <a:srgbClr val="000000"/>
              </a:buClr>
              <a:buSzPts val="2300"/>
              <a:buFont typeface="Arial"/>
              <a:buNone/>
            </a:pPr>
            <a:r>
              <a:t/>
            </a:r>
            <a:endParaRPr b="0" i="0" sz="2300" u="none" cap="none" strike="noStrike">
              <a:solidFill>
                <a:srgbClr val="0000FF"/>
              </a:solidFill>
              <a:highlight>
                <a:srgbClr val="FFFFFF"/>
              </a:highlight>
              <a:latin typeface="Roboto"/>
              <a:ea typeface="Roboto"/>
              <a:cs typeface="Roboto"/>
              <a:sym typeface="Roboto"/>
            </a:endParaRPr>
          </a:p>
          <a:p>
            <a:pPr indent="0" lvl="0" marL="0" marR="0" rtl="0" algn="l">
              <a:lnSpc>
                <a:spcPct val="100000"/>
              </a:lnSpc>
              <a:spcBef>
                <a:spcPts val="900"/>
              </a:spcBef>
              <a:spcAft>
                <a:spcPts val="0"/>
              </a:spcAft>
              <a:buClr>
                <a:srgbClr val="000000"/>
              </a:buClr>
              <a:buSzPts val="2000"/>
              <a:buFont typeface="Arial"/>
              <a:buNone/>
            </a:pPr>
            <a:r>
              <a:t/>
            </a:r>
            <a:endParaRPr b="1" i="0" sz="2000" u="none" cap="none" strike="noStrike">
              <a:solidFill>
                <a:schemeClr val="dk1"/>
              </a:solidFill>
              <a:highlight>
                <a:srgbClr val="FFFFFF"/>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sp>
        <p:nvSpPr>
          <p:cNvPr id="826" name="Google Shape;826;g255f986635b_0_4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27" name="Google Shape;827;g255f986635b_0_47"/>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28" name="Google Shape;828;g255f986635b_0_4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29" name="Google Shape;829;g255f986635b_0_4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30" name="Google Shape;830;g255f986635b_0_4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1" name="Google Shape;831;g255f986635b_0_4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2" name="Google Shape;832;g255f986635b_0_4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33" name="Google Shape;833;g255f986635b_0_4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34" name="Google Shape;834;g255f986635b_0_4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35" name="Google Shape;835;g255f986635b_0_47"/>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36" name="Google Shape;836;g255f986635b_0_47"/>
          <p:cNvSpPr txBox="1"/>
          <p:nvPr/>
        </p:nvSpPr>
        <p:spPr>
          <a:xfrm>
            <a:off x="197800" y="1105275"/>
            <a:ext cx="8249100" cy="48900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Algorithm Analysis</a:t>
            </a:r>
            <a:endParaRPr b="1" i="0" sz="2100" u="none" cap="none" strike="noStrike">
              <a:solidFill>
                <a:srgbClr val="C00000"/>
              </a:solidFill>
              <a:latin typeface="Roboto"/>
              <a:ea typeface="Roboto"/>
              <a:cs typeface="Roboto"/>
              <a:sym typeface="Roboto"/>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M(n)=  M(n − 1)      	+   	1              	for n &gt; 0</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         	to compute    	to multiply</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             	F(n-1)         	F(n-1) by n</a:t>
            </a:r>
            <a:endParaRPr b="0" i="0" sz="20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M(n)= M(n − 1) +1   for n&gt;0</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M(0) = 0</a:t>
            </a:r>
            <a:endParaRPr b="0" i="0" sz="20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                                	M(0) = 0</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2000"/>
              <a:buFont typeface="Arial"/>
              <a:buNone/>
            </a:pPr>
            <a:r>
              <a:rPr b="0" i="0" lang="en-US" sz="2000" u="none" cap="none" strike="noStrike">
                <a:solidFill>
                  <a:schemeClr val="dk1"/>
                </a:solidFill>
                <a:highlight>
                  <a:srgbClr val="FFFFFF"/>
                </a:highlight>
                <a:latin typeface="Arial"/>
                <a:ea typeface="Arial"/>
                <a:cs typeface="Arial"/>
                <a:sym typeface="Arial"/>
              </a:rPr>
              <a:t>the calls stop when n=0   	no multiplications when n = 0</a:t>
            </a:r>
            <a:endParaRPr b="1" i="0" sz="20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0" name="Shape 840"/>
        <p:cNvGrpSpPr/>
        <p:nvPr/>
      </p:nvGrpSpPr>
      <p:grpSpPr>
        <a:xfrm>
          <a:off x="0" y="0"/>
          <a:ext cx="0" cy="0"/>
          <a:chOff x="0" y="0"/>
          <a:chExt cx="0" cy="0"/>
        </a:xfrm>
      </p:grpSpPr>
      <p:sp>
        <p:nvSpPr>
          <p:cNvPr id="841" name="Google Shape;841;g255f986635b_0_63"/>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42" name="Google Shape;842;g255f986635b_0_63"/>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43" name="Google Shape;843;g255f986635b_0_63"/>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44" name="Google Shape;844;g255f986635b_0_63"/>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45" name="Google Shape;845;g255f986635b_0_63"/>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6" name="Google Shape;846;g255f986635b_0_63"/>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7" name="Google Shape;847;g255f986635b_0_63"/>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48" name="Google Shape;848;g255f986635b_0_63"/>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49" name="Google Shape;849;g255f986635b_0_63"/>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50" name="Google Shape;850;g255f986635b_0_63"/>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51" name="Google Shape;851;g255f986635b_0_63"/>
          <p:cNvSpPr txBox="1"/>
          <p:nvPr/>
        </p:nvSpPr>
        <p:spPr>
          <a:xfrm>
            <a:off x="197800" y="1105275"/>
            <a:ext cx="8249100" cy="48900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Algorithm Analysis</a:t>
            </a:r>
            <a:endParaRPr b="1" i="0" sz="2100" u="none" cap="none" strike="noStrike">
              <a:solidFill>
                <a:srgbClr val="C00000"/>
              </a:solidFill>
              <a:latin typeface="Roboto"/>
              <a:ea typeface="Roboto"/>
              <a:cs typeface="Roboto"/>
              <a:sym typeface="Roboto"/>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M(n)=  M(n − 1)      	+   	1              	for n &gt; 0</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         	to compute    	to multiply</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             	F(n-1)         	F(n-1) by n</a:t>
            </a:r>
            <a:endParaRPr b="0" i="0" sz="20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M(n)= M(n − 1) +1   for n&gt;0</a:t>
            </a:r>
            <a:br>
              <a:rPr b="0" i="0" lang="en-US" sz="2000" u="none" cap="none" strike="noStrike">
                <a:solidFill>
                  <a:schemeClr val="dk1"/>
                </a:solidFill>
                <a:latin typeface="Arial"/>
                <a:ea typeface="Arial"/>
                <a:cs typeface="Arial"/>
                <a:sym typeface="Arial"/>
              </a:rPr>
            </a:br>
            <a:r>
              <a:rPr b="0" i="0" lang="en-US" sz="2000" u="none" cap="none" strike="noStrike">
                <a:solidFill>
                  <a:schemeClr val="dk1"/>
                </a:solidFill>
                <a:latin typeface="Arial"/>
                <a:ea typeface="Arial"/>
                <a:cs typeface="Arial"/>
                <a:sym typeface="Arial"/>
              </a:rPr>
              <a:t>M(0) = 0</a:t>
            </a:r>
            <a:endParaRPr b="0" i="0" sz="20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2000"/>
              <a:buFont typeface="Arial"/>
              <a:buNone/>
            </a:pPr>
            <a:r>
              <a:rPr b="0" i="0" lang="en-US" sz="2000" u="none" cap="none" strike="noStrike">
                <a:solidFill>
                  <a:schemeClr val="dk1"/>
                </a:solidFill>
                <a:latin typeface="Arial"/>
                <a:ea typeface="Arial"/>
                <a:cs typeface="Arial"/>
                <a:sym typeface="Arial"/>
              </a:rPr>
              <a:t>                                	M(0) = 0</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2000"/>
              <a:buFont typeface="Arial"/>
              <a:buNone/>
            </a:pPr>
            <a:r>
              <a:rPr b="0" i="0" lang="en-US" sz="2000" u="none" cap="none" strike="noStrike">
                <a:solidFill>
                  <a:schemeClr val="dk1"/>
                </a:solidFill>
                <a:highlight>
                  <a:srgbClr val="FFFFFF"/>
                </a:highlight>
                <a:latin typeface="Arial"/>
                <a:ea typeface="Arial"/>
                <a:cs typeface="Arial"/>
                <a:sym typeface="Arial"/>
              </a:rPr>
              <a:t>the calls stop when n=0   	no multiplications when n = 0</a:t>
            </a:r>
            <a:endParaRPr b="1" i="0" sz="2000" u="none" cap="none" strike="noStrike">
              <a:solidFill>
                <a:schemeClr val="dk1"/>
              </a:solidFill>
              <a:highlight>
                <a:srgbClr val="FFFFFF"/>
              </a:highlight>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g255f986635b_0_77"/>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57" name="Google Shape;857;g255f986635b_0_77"/>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58" name="Google Shape;858;g255f986635b_0_77"/>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59" name="Google Shape;859;g255f986635b_0_77"/>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60" name="Google Shape;860;g255f986635b_0_77"/>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1" name="Google Shape;861;g255f986635b_0_77"/>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2" name="Google Shape;862;g255f986635b_0_77"/>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63" name="Google Shape;863;g255f986635b_0_77"/>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64" name="Google Shape;864;g255f986635b_0_77"/>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65" name="Google Shape;865;g255f986635b_0_77"/>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66" name="Google Shape;866;g255f986635b_0_77"/>
          <p:cNvSpPr txBox="1"/>
          <p:nvPr/>
        </p:nvSpPr>
        <p:spPr>
          <a:xfrm>
            <a:off x="197800" y="1105275"/>
            <a:ext cx="8249100" cy="63402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Algorithm Analysis using back substitution method</a:t>
            </a:r>
            <a:endParaRPr b="1" i="0" sz="2100" u="none" cap="none" strike="noStrike">
              <a:solidFill>
                <a:srgbClr val="C00000"/>
              </a:solidFill>
              <a:latin typeface="Roboto"/>
              <a:ea typeface="Roboto"/>
              <a:cs typeface="Roboto"/>
              <a:sym typeface="Roboto"/>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M(n) = M(n − 1)+1</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M(n-1) = M(n-2) + 1;         //substitute M(n − 1) = M(n − 2) +1</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M(n-2) = M(n-3)+1           //substitute M(n − 2) = M(n − 3) +1</a:t>
            </a:r>
            <a:endParaRPr b="1" i="0" sz="1900" u="none" cap="none" strike="noStrike">
              <a:solidFill>
                <a:schemeClr val="dk1"/>
              </a:solidFill>
              <a:latin typeface="Arial"/>
              <a:ea typeface="Arial"/>
              <a:cs typeface="Arial"/>
              <a:sym typeface="Arial"/>
            </a:endParaRPr>
          </a:p>
          <a:p>
            <a:pPr indent="0" lvl="0" marL="0" marR="0" rtl="0" algn="l">
              <a:lnSpc>
                <a:spcPct val="170000"/>
              </a:lnSpc>
              <a:spcBef>
                <a:spcPts val="900"/>
              </a:spcBef>
              <a:spcAft>
                <a:spcPts val="0"/>
              </a:spcAft>
              <a:buClr>
                <a:srgbClr val="000000"/>
              </a:buClr>
              <a:buSzPts val="1900"/>
              <a:buFont typeface="Arial"/>
              <a:buNone/>
            </a:pPr>
            <a:r>
              <a:rPr b="1" i="0" lang="en-US" sz="1900" u="none" cap="none" strike="noStrike">
                <a:solidFill>
                  <a:schemeClr val="dk1"/>
                </a:solidFill>
                <a:latin typeface="Arial"/>
                <a:ea typeface="Arial"/>
                <a:cs typeface="Arial"/>
                <a:sym typeface="Arial"/>
              </a:rPr>
              <a:t>M(n) = [M(n-2)+1] + 1</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 M(n-2) + 2</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 [M(n-3)+1+2]</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 M(n-3) + 3</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=M(n-n) + n</a:t>
            </a:r>
            <a:br>
              <a:rPr b="1" i="0" lang="en-US" sz="1900" u="none" cap="none" strike="noStrike">
                <a:solidFill>
                  <a:schemeClr val="dk1"/>
                </a:solidFill>
                <a:latin typeface="Arial"/>
                <a:ea typeface="Arial"/>
                <a:cs typeface="Arial"/>
                <a:sym typeface="Arial"/>
              </a:rPr>
            </a:br>
            <a:r>
              <a:rPr b="1" i="0" lang="en-US" sz="1900" u="none" cap="none" strike="noStrike">
                <a:solidFill>
                  <a:schemeClr val="dk1"/>
                </a:solidFill>
                <a:latin typeface="Arial"/>
                <a:ea typeface="Arial"/>
                <a:cs typeface="Arial"/>
                <a:sym typeface="Arial"/>
              </a:rPr>
              <a:t>        	= n                           Overall time Complexity: O(n)</a:t>
            </a:r>
            <a:endParaRPr b="1" i="0" sz="1900" u="none" cap="none" strike="noStrike">
              <a:solidFill>
                <a:schemeClr val="dk1"/>
              </a:solidFill>
              <a:latin typeface="Arial"/>
              <a:ea typeface="Arial"/>
              <a:cs typeface="Arial"/>
              <a:sym typeface="Arial"/>
            </a:endParaRPr>
          </a:p>
          <a:p>
            <a:pPr indent="0" lvl="0" marL="0" marR="0" rtl="0" algn="l">
              <a:lnSpc>
                <a:spcPct val="100000"/>
              </a:lnSpc>
              <a:spcBef>
                <a:spcPts val="90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0" name="Shape 870"/>
        <p:cNvGrpSpPr/>
        <p:nvPr/>
      </p:nvGrpSpPr>
      <p:grpSpPr>
        <a:xfrm>
          <a:off x="0" y="0"/>
          <a:ext cx="0" cy="0"/>
          <a:chOff x="0" y="0"/>
          <a:chExt cx="0" cy="0"/>
        </a:xfrm>
      </p:grpSpPr>
      <p:sp>
        <p:nvSpPr>
          <p:cNvPr id="871" name="Google Shape;871;g255f986635b_0_9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72" name="Google Shape;872;g255f986635b_0_95"/>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73" name="Google Shape;873;g255f986635b_0_9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74" name="Google Shape;874;g255f986635b_0_9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75" name="Google Shape;875;g255f986635b_0_9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6" name="Google Shape;876;g255f986635b_0_9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g255f986635b_0_9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78" name="Google Shape;878;g255f986635b_0_9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79" name="Google Shape;879;g255f986635b_0_9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80" name="Google Shape;880;g255f986635b_0_95"/>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81" name="Google Shape;881;g255f986635b_0_95"/>
          <p:cNvSpPr txBox="1"/>
          <p:nvPr/>
        </p:nvSpPr>
        <p:spPr>
          <a:xfrm>
            <a:off x="197800" y="1105275"/>
            <a:ext cx="8864400" cy="59652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Master Theorem: Solving recurrence relations using master theorem</a:t>
            </a:r>
            <a:endParaRPr b="1" i="0" sz="2100" u="none" cap="none" strike="noStrike">
              <a:solidFill>
                <a:srgbClr val="C00000"/>
              </a:solidFill>
              <a:latin typeface="Roboto"/>
              <a:ea typeface="Roboto"/>
              <a:cs typeface="Roboto"/>
              <a:sym typeface="Roboto"/>
            </a:endParaRPr>
          </a:p>
          <a:p>
            <a:pPr indent="0" lvl="0" marL="0" marR="0" rtl="0" algn="just">
              <a:lnSpc>
                <a:spcPct val="105882"/>
              </a:lnSpc>
              <a:spcBef>
                <a:spcPts val="29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MASTER THEOREM</a:t>
            </a:r>
            <a:endParaRPr b="1" i="0" sz="1900" u="none" cap="none" strike="noStrike">
              <a:solidFill>
                <a:srgbClr val="292929"/>
              </a:solidFill>
              <a:latin typeface="Arial"/>
              <a:ea typeface="Arial"/>
              <a:cs typeface="Arial"/>
              <a:sym typeface="Arial"/>
            </a:endParaRPr>
          </a:p>
          <a:p>
            <a:pPr indent="0" lvl="0" marL="0" marR="0" rtl="0" algn="just">
              <a:lnSpc>
                <a:spcPct val="218181"/>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To solve a recurrence relation running time you can use many different techniques. One popular technique is to use the Master Theorem also known as the Master Method. “ In the analysis of algorithms, the master theorem provides a solution in asymptotic terms (using Big O notation) for recurrence relations of types that occur in the analysis of many divide and conquer algorithms.</a:t>
            </a:r>
            <a:endParaRPr b="1" i="0" sz="1900" u="none" cap="none" strike="noStrike">
              <a:solidFill>
                <a:srgbClr val="29292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g255f986635b_0_111"/>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887" name="Google Shape;887;g255f986635b_0_111"/>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888" name="Google Shape;888;g255f986635b_0_111"/>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889" name="Google Shape;889;g255f986635b_0_111"/>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890" name="Google Shape;890;g255f986635b_0_111"/>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1" name="Google Shape;891;g255f986635b_0_111"/>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2" name="Google Shape;892;g255f986635b_0_111"/>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893" name="Google Shape;893;g255f986635b_0_111"/>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894" name="Google Shape;894;g255f986635b_0_111"/>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895" name="Google Shape;895;g255f986635b_0_111"/>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896" name="Google Shape;896;g255f986635b_0_111"/>
          <p:cNvSpPr txBox="1"/>
          <p:nvPr/>
        </p:nvSpPr>
        <p:spPr>
          <a:xfrm>
            <a:off x="197800" y="1105275"/>
            <a:ext cx="8864400" cy="5965200"/>
          </a:xfrm>
          <a:prstGeom prst="rect">
            <a:avLst/>
          </a:prstGeom>
          <a:noFill/>
          <a:ln>
            <a:noFill/>
          </a:ln>
        </p:spPr>
        <p:txBody>
          <a:bodyPr anchorCtr="0" anchor="t" bIns="91425" lIns="91425" spcFirstLastPara="1" rIns="91425" wrap="square" tIns="91425">
            <a:spAutoFit/>
          </a:bodyPr>
          <a:lstStyle/>
          <a:p>
            <a:pPr indent="0" lvl="0" marL="0" marR="0" rtl="0" algn="l">
              <a:lnSpc>
                <a:spcPct val="17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Master Theorem: Solving recurrence relations using master theorem</a:t>
            </a:r>
            <a:endParaRPr b="1" i="0" sz="2100" u="none" cap="none" strike="noStrike">
              <a:solidFill>
                <a:srgbClr val="C00000"/>
              </a:solidFill>
              <a:latin typeface="Roboto"/>
              <a:ea typeface="Roboto"/>
              <a:cs typeface="Roboto"/>
              <a:sym typeface="Roboto"/>
            </a:endParaRPr>
          </a:p>
          <a:p>
            <a:pPr indent="0" lvl="0" marL="0" marR="0" rtl="0" algn="just">
              <a:lnSpc>
                <a:spcPct val="105882"/>
              </a:lnSpc>
              <a:spcBef>
                <a:spcPts val="29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MASTER THEOREM</a:t>
            </a:r>
            <a:endParaRPr b="1" i="0" sz="1900" u="none" cap="none" strike="noStrike">
              <a:solidFill>
                <a:srgbClr val="292929"/>
              </a:solidFill>
              <a:latin typeface="Arial"/>
              <a:ea typeface="Arial"/>
              <a:cs typeface="Arial"/>
              <a:sym typeface="Arial"/>
            </a:endParaRPr>
          </a:p>
          <a:p>
            <a:pPr indent="0" lvl="0" marL="0" marR="0" rtl="0" algn="just">
              <a:lnSpc>
                <a:spcPct val="218181"/>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To solve a recurrence relation running time you can use many different techniques. One popular technique is to use the Master Theorem also known as the Master Method. “ In the analysis of algorithms, the master theorem provides a solution in asymptotic terms (using Big O notation) for recurrence relations of types that occur in the analysis of many divide and conquer algorithms.</a:t>
            </a:r>
            <a:endParaRPr b="1" i="0" sz="1900" u="none" cap="none" strike="noStrike">
              <a:solidFill>
                <a:srgbClr val="29292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g255f986635b_0_125"/>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02" name="Google Shape;902;g255f986635b_0_125"/>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903" name="Google Shape;903;g255f986635b_0_125"/>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904" name="Google Shape;904;g255f986635b_0_125"/>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05" name="Google Shape;905;g255f986635b_0_125"/>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6" name="Google Shape;906;g255f986635b_0_125"/>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7" name="Google Shape;907;g255f986635b_0_125"/>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08" name="Google Shape;908;g255f986635b_0_125"/>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09" name="Google Shape;909;g255f986635b_0_125"/>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910" name="Google Shape;910;g255f986635b_0_125"/>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911" name="Google Shape;911;g255f986635b_0_125"/>
          <p:cNvSpPr txBox="1"/>
          <p:nvPr/>
        </p:nvSpPr>
        <p:spPr>
          <a:xfrm>
            <a:off x="197800" y="1870550"/>
            <a:ext cx="8864400" cy="251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Master Theorem: Solving recurrence relations using master theorem</a:t>
            </a:r>
            <a:endParaRPr b="1" i="0" sz="2100" u="none" cap="none" strike="noStrike">
              <a:solidFill>
                <a:srgbClr val="C00000"/>
              </a:solidFill>
              <a:latin typeface="Roboto"/>
              <a:ea typeface="Roboto"/>
              <a:cs typeface="Roboto"/>
              <a:sym typeface="Roboto"/>
            </a:endParaRPr>
          </a:p>
          <a:p>
            <a:pPr indent="0" lvl="0" marL="0" marR="0" rtl="0" algn="just">
              <a:lnSpc>
                <a:spcPct val="100000"/>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A Relation is Said to be Recurrence relation if it is in the following form</a:t>
            </a:r>
            <a:endParaRPr b="1" i="0" sz="1900" u="none" cap="none" strike="noStrike">
              <a:solidFill>
                <a:srgbClr val="292929"/>
              </a:solidFill>
              <a:latin typeface="Arial"/>
              <a:ea typeface="Arial"/>
              <a:cs typeface="Arial"/>
              <a:sym typeface="Arial"/>
            </a:endParaRPr>
          </a:p>
          <a:p>
            <a:pPr indent="0" lvl="0" marL="0" marR="0" rtl="0" algn="just">
              <a:lnSpc>
                <a:spcPct val="100000"/>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T(n) =a T(n / b) + f(n)</a:t>
            </a:r>
            <a:endParaRPr b="1" i="0" sz="1900" u="none" cap="none" strike="noStrike">
              <a:solidFill>
                <a:srgbClr val="292929"/>
              </a:solidFill>
              <a:latin typeface="Arial"/>
              <a:ea typeface="Arial"/>
              <a:cs typeface="Arial"/>
              <a:sym typeface="Arial"/>
            </a:endParaRPr>
          </a:p>
          <a:p>
            <a:pPr indent="0" lvl="0" marL="0" marR="0" rtl="0" algn="just">
              <a:lnSpc>
                <a:spcPct val="100000"/>
              </a:lnSpc>
              <a:spcBef>
                <a:spcPts val="1300"/>
              </a:spcBef>
              <a:spcAft>
                <a:spcPts val="0"/>
              </a:spcAft>
              <a:buClr>
                <a:srgbClr val="000000"/>
              </a:buClr>
              <a:buSzPts val="1900"/>
              <a:buFont typeface="Arial"/>
              <a:buNone/>
            </a:pPr>
            <a:r>
              <a:rPr b="1" i="0" lang="en-US" sz="1900" u="none" cap="none" strike="noStrike">
                <a:solidFill>
                  <a:srgbClr val="292929"/>
                </a:solidFill>
                <a:latin typeface="Arial"/>
                <a:ea typeface="Arial"/>
                <a:cs typeface="Arial"/>
                <a:sym typeface="Arial"/>
              </a:rPr>
              <a:t>In such cases As per master theorem:</a:t>
            </a:r>
            <a:endParaRPr b="1" i="0" sz="1900" u="none" cap="none" strike="noStrike">
              <a:solidFill>
                <a:srgbClr val="292929"/>
              </a:solidFill>
              <a:latin typeface="Arial"/>
              <a:ea typeface="Arial"/>
              <a:cs typeface="Arial"/>
              <a:sym typeface="Arial"/>
            </a:endParaRPr>
          </a:p>
          <a:p>
            <a:pPr indent="0" lvl="0" marL="0" marR="0" rtl="0" algn="just">
              <a:lnSpc>
                <a:spcPct val="100000"/>
              </a:lnSpc>
              <a:spcBef>
                <a:spcPts val="1300"/>
              </a:spcBef>
              <a:spcAft>
                <a:spcPts val="0"/>
              </a:spcAft>
              <a:buClr>
                <a:srgbClr val="000000"/>
              </a:buClr>
              <a:buSzPts val="1900"/>
              <a:buFont typeface="Arial"/>
              <a:buNone/>
            </a:pPr>
            <a:r>
              <a:t/>
            </a:r>
            <a:endParaRPr b="1" i="0" sz="1900" u="none" cap="none" strike="noStrike">
              <a:solidFill>
                <a:srgbClr val="292929"/>
              </a:solidFill>
              <a:latin typeface="Arial"/>
              <a:ea typeface="Arial"/>
              <a:cs typeface="Arial"/>
              <a:sym typeface="Arial"/>
            </a:endParaRPr>
          </a:p>
          <a:p>
            <a:pPr indent="0" lvl="0" marL="0" marR="0" rtl="0" algn="just">
              <a:lnSpc>
                <a:spcPct val="218181"/>
              </a:lnSpc>
              <a:spcBef>
                <a:spcPts val="1300"/>
              </a:spcBef>
              <a:spcAft>
                <a:spcPts val="0"/>
              </a:spcAft>
              <a:buClr>
                <a:srgbClr val="000000"/>
              </a:buClr>
              <a:buSzPts val="1900"/>
              <a:buFont typeface="Arial"/>
              <a:buNone/>
            </a:pPr>
            <a:r>
              <a:t/>
            </a:r>
            <a:endParaRPr b="1" i="0" sz="1900" u="none" cap="none" strike="noStrike">
              <a:solidFill>
                <a:srgbClr val="29292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pic>
        <p:nvPicPr>
          <p:cNvPr id="912" name="Google Shape;912;g255f986635b_0_125"/>
          <p:cNvPicPr preferRelativeResize="0"/>
          <p:nvPr/>
        </p:nvPicPr>
        <p:blipFill rotWithShape="1">
          <a:blip r:embed="rId5">
            <a:alphaModFix/>
          </a:blip>
          <a:srcRect b="0" l="0" r="0" t="0"/>
          <a:stretch/>
        </p:blipFill>
        <p:spPr>
          <a:xfrm>
            <a:off x="354838" y="3368063"/>
            <a:ext cx="7286625" cy="27717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255f986635b_0_140"/>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18" name="Google Shape;918;g255f986635b_0_140"/>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919" name="Google Shape;919;g255f986635b_0_140"/>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920" name="Google Shape;920;g255f986635b_0_140"/>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21" name="Google Shape;921;g255f986635b_0_140"/>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2" name="Google Shape;922;g255f986635b_0_140"/>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3" name="Google Shape;923;g255f986635b_0_140"/>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24" name="Google Shape;924;g255f986635b_0_14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25" name="Google Shape;925;g255f986635b_0_140"/>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926" name="Google Shape;926;g255f986635b_0_140"/>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927" name="Google Shape;927;g255f986635b_0_140"/>
          <p:cNvSpPr txBox="1"/>
          <p:nvPr/>
        </p:nvSpPr>
        <p:spPr>
          <a:xfrm>
            <a:off x="92050" y="1322775"/>
            <a:ext cx="8864400" cy="2518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C00000"/>
                </a:solidFill>
                <a:latin typeface="Roboto"/>
                <a:ea typeface="Roboto"/>
                <a:cs typeface="Roboto"/>
                <a:sym typeface="Roboto"/>
              </a:rPr>
              <a:t>Master Theorem: Solving recurrence relations using master theorem</a:t>
            </a:r>
            <a:endParaRPr b="1" i="0" sz="1900" u="none" cap="none" strike="noStrike">
              <a:solidFill>
                <a:srgbClr val="292929"/>
              </a:solidFill>
              <a:latin typeface="Arial"/>
              <a:ea typeface="Arial"/>
              <a:cs typeface="Arial"/>
              <a:sym typeface="Arial"/>
            </a:endParaRPr>
          </a:p>
          <a:p>
            <a:pPr indent="0" lvl="0" marL="0" marR="0" rtl="0" algn="just">
              <a:lnSpc>
                <a:spcPct val="218181"/>
              </a:lnSpc>
              <a:spcBef>
                <a:spcPts val="1300"/>
              </a:spcBef>
              <a:spcAft>
                <a:spcPts val="0"/>
              </a:spcAft>
              <a:buClr>
                <a:srgbClr val="000000"/>
              </a:buClr>
              <a:buSzPts val="1900"/>
              <a:buFont typeface="Arial"/>
              <a:buNone/>
            </a:pPr>
            <a:r>
              <a:t/>
            </a:r>
            <a:endParaRPr b="1" i="0" sz="1900" u="none" cap="none" strike="noStrike">
              <a:solidFill>
                <a:srgbClr val="29292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Arial"/>
              <a:ea typeface="Arial"/>
              <a:cs typeface="Arial"/>
              <a:sym typeface="Arial"/>
            </a:endParaRPr>
          </a:p>
        </p:txBody>
      </p:sp>
      <p:pic>
        <p:nvPicPr>
          <p:cNvPr id="928" name="Google Shape;928;g255f986635b_0_140"/>
          <p:cNvPicPr preferRelativeResize="0"/>
          <p:nvPr/>
        </p:nvPicPr>
        <p:blipFill rotWithShape="1">
          <a:blip r:embed="rId5">
            <a:alphaModFix/>
          </a:blip>
          <a:srcRect b="0" l="0" r="0" t="0"/>
          <a:stretch/>
        </p:blipFill>
        <p:spPr>
          <a:xfrm>
            <a:off x="238125" y="2162175"/>
            <a:ext cx="7886699" cy="38877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g2e68271dbcd_1_9"/>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34" name="Google Shape;934;g2e68271dbcd_1_9"/>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935" name="Google Shape;935;g2e68271dbcd_1_9"/>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936" name="Google Shape;936;g2e68271dbcd_1_9"/>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37" name="Google Shape;937;g2e68271dbcd_1_9"/>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8" name="Google Shape;938;g2e68271dbcd_1_9"/>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9" name="Google Shape;939;g2e68271dbcd_1_9"/>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40" name="Google Shape;940;g2e68271dbcd_1_9"/>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41" name="Google Shape;941;g2e68271dbcd_1_9"/>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942" name="Google Shape;942;g2e68271dbcd_1_9"/>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943" name="Google Shape;943;g2e68271dbcd_1_9"/>
          <p:cNvSpPr txBox="1"/>
          <p:nvPr/>
        </p:nvSpPr>
        <p:spPr>
          <a:xfrm>
            <a:off x="408875" y="1209200"/>
            <a:ext cx="8284800" cy="403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1)	Problem: T (n) = 3T (n/2) + n</a:t>
            </a:r>
            <a:r>
              <a:rPr b="0" baseline="30000" i="0" lang="en-US" sz="2800" u="none" cap="none" strike="noStrike">
                <a:solidFill>
                  <a:schemeClr val="dk1"/>
                </a:solidFill>
                <a:latin typeface="Calibri"/>
                <a:ea typeface="Calibri"/>
                <a:cs typeface="Calibri"/>
                <a:sym typeface="Calibri"/>
              </a:rPr>
              <a:t>2</a:t>
            </a:r>
            <a:r>
              <a:rPr b="0" i="0" lang="en-US" sz="2800" u="none" cap="none" strike="noStrike">
                <a:solidFill>
                  <a:schemeClr val="dk1"/>
                </a:solidFill>
                <a:latin typeface="Calibri"/>
                <a:ea typeface="Calibri"/>
                <a:cs typeface="Calibri"/>
                <a:sym typeface="Calibri"/>
              </a:rPr>
              <a:t> </a:t>
            </a:r>
            <a:endParaRPr b="0" i="0" sz="28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Solution:T (n) = Θ(n</a:t>
            </a:r>
            <a:r>
              <a:rPr b="0" baseline="30000" i="0" lang="en-US" sz="2800" u="none" cap="none" strike="noStrike">
                <a:solidFill>
                  <a:schemeClr val="dk1"/>
                </a:solidFill>
                <a:latin typeface="Calibri"/>
                <a:ea typeface="Calibri"/>
                <a:cs typeface="Calibri"/>
                <a:sym typeface="Calibri"/>
              </a:rPr>
              <a:t>2</a:t>
            </a:r>
            <a:r>
              <a:rPr b="0" i="0" lang="en-US"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2)Problem:T (n) = 4T (n/2) + n</a:t>
            </a:r>
            <a:r>
              <a:rPr b="0" baseline="30000" i="0" lang="en-US" sz="2800" u="none" cap="none" strike="noStrike">
                <a:solidFill>
                  <a:schemeClr val="dk1"/>
                </a:solidFill>
                <a:latin typeface="Calibri"/>
                <a:ea typeface="Calibri"/>
                <a:cs typeface="Calibri"/>
                <a:sym typeface="Calibri"/>
              </a:rPr>
              <a:t> 2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Solution:T(n) = Θ(n</a:t>
            </a:r>
            <a:r>
              <a:rPr b="0" baseline="30000" i="0" lang="en-US" sz="2800" u="none" cap="none" strike="noStrike">
                <a:solidFill>
                  <a:schemeClr val="dk1"/>
                </a:solidFill>
                <a:latin typeface="Calibri"/>
                <a:ea typeface="Calibri"/>
                <a:cs typeface="Calibri"/>
                <a:sym typeface="Calibri"/>
              </a:rPr>
              <a:t> 2</a:t>
            </a:r>
            <a:r>
              <a:rPr b="0" i="0" lang="en-US" sz="2800" u="none" cap="none" strike="noStrike">
                <a:solidFill>
                  <a:schemeClr val="dk1"/>
                </a:solidFill>
                <a:latin typeface="Calibri"/>
                <a:ea typeface="Calibri"/>
                <a:cs typeface="Calibri"/>
                <a:sym typeface="Calibri"/>
              </a:rPr>
              <a:t> log n)</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3)Problem: T (n) = T (n/2) + 2n</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Solution:Θ(2n ) </a:t>
            </a:r>
            <a:endParaRPr b="0" i="0" sz="28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g2e68271dbcd_1_26"/>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49" name="Google Shape;949;g2e68271dbcd_1_26"/>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950" name="Google Shape;950;g2e68271dbcd_1_26"/>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951" name="Google Shape;951;g2e68271dbcd_1_26"/>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52" name="Google Shape;952;g2e68271dbcd_1_26"/>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3" name="Google Shape;953;g2e68271dbcd_1_26"/>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4" name="Google Shape;954;g2e68271dbcd_1_26"/>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55" name="Google Shape;955;g2e68271dbcd_1_2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56" name="Google Shape;956;g2e68271dbcd_1_26"/>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957" name="Google Shape;957;g2e68271dbcd_1_26"/>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958" name="Google Shape;958;g2e68271dbcd_1_26"/>
          <p:cNvSpPr txBox="1"/>
          <p:nvPr/>
        </p:nvSpPr>
        <p:spPr>
          <a:xfrm>
            <a:off x="408875" y="1209200"/>
            <a:ext cx="8284800" cy="476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4) Problem:T (n) = 2</a:t>
            </a:r>
            <a:r>
              <a:rPr b="0" baseline="30000" i="0" lang="en-US" sz="2800" u="none" cap="none" strike="noStrike">
                <a:solidFill>
                  <a:schemeClr val="dk1"/>
                </a:solidFill>
                <a:latin typeface="Calibri"/>
                <a:ea typeface="Calibri"/>
                <a:cs typeface="Calibri"/>
                <a:sym typeface="Calibri"/>
              </a:rPr>
              <a:t>n</a:t>
            </a:r>
            <a:r>
              <a:rPr b="0" i="0" lang="en-US" sz="2800" u="none" cap="none" strike="noStrike">
                <a:solidFill>
                  <a:schemeClr val="dk1"/>
                </a:solidFill>
                <a:latin typeface="Calibri"/>
                <a:ea typeface="Calibri"/>
                <a:cs typeface="Calibri"/>
                <a:sym typeface="Calibri"/>
              </a:rPr>
              <a:t>T (n/2) + n</a:t>
            </a:r>
            <a:r>
              <a:rPr b="0" baseline="30000" i="0" lang="en-US" sz="2800" u="none" cap="none" strike="noStrike">
                <a:solidFill>
                  <a:schemeClr val="dk1"/>
                </a:solidFill>
                <a:latin typeface="Calibri"/>
                <a:ea typeface="Calibri"/>
                <a:cs typeface="Calibri"/>
                <a:sym typeface="Calibri"/>
              </a:rPr>
              <a:t> n</a:t>
            </a:r>
            <a:r>
              <a:rPr b="0" i="0" lang="en-US" sz="2800" u="none" cap="none" strike="noStrike">
                <a:solidFill>
                  <a:schemeClr val="dk1"/>
                </a:solidFill>
                <a:latin typeface="Calibri"/>
                <a:ea typeface="Calibri"/>
                <a:cs typeface="Calibri"/>
                <a:sym typeface="Calibri"/>
              </a:rPr>
              <a:t>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Solution:Does not apply (a is not constant)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5) Problem:T (n) = 16T (n/4) + n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Solution:T (n) = Θ(n 2 ) </a:t>
            </a:r>
            <a:endParaRPr b="0" i="0" sz="28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g3f38efe3c04_0_0"/>
          <p:cNvSpPr txBox="1"/>
          <p:nvPr>
            <p:ph type="title"/>
          </p:nvPr>
        </p:nvSpPr>
        <p:spPr>
          <a:xfrm>
            <a:off x="628650" y="365126"/>
            <a:ext cx="78867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64" name="Google Shape;964;g3f38efe3c04_0_0"/>
          <p:cNvPicPr preferRelativeResize="0"/>
          <p:nvPr>
            <p:ph idx="1" type="body"/>
          </p:nvPr>
        </p:nvPicPr>
        <p:blipFill rotWithShape="1">
          <a:blip r:embed="rId3">
            <a:alphaModFix/>
          </a:blip>
          <a:srcRect b="0" l="0" r="0" t="0"/>
          <a:stretch/>
        </p:blipFill>
        <p:spPr>
          <a:xfrm>
            <a:off x="47775" y="123725"/>
            <a:ext cx="9144000" cy="6858000"/>
          </a:xfrm>
          <a:prstGeom prst="rect">
            <a:avLst/>
          </a:prstGeom>
          <a:noFill/>
          <a:ln>
            <a:noFill/>
          </a:ln>
        </p:spPr>
      </p:pic>
      <p:pic>
        <p:nvPicPr>
          <p:cNvPr id="965" name="Google Shape;965;g3f38efe3c04_0_0"/>
          <p:cNvPicPr preferRelativeResize="0"/>
          <p:nvPr/>
        </p:nvPicPr>
        <p:blipFill rotWithShape="1">
          <a:blip r:embed="rId4">
            <a:alphaModFix/>
          </a:blip>
          <a:srcRect b="0" l="0" r="0" t="0"/>
          <a:stretch/>
        </p:blipFill>
        <p:spPr>
          <a:xfrm>
            <a:off x="354842" y="123715"/>
            <a:ext cx="5950425" cy="831628"/>
          </a:xfrm>
          <a:prstGeom prst="rect">
            <a:avLst/>
          </a:prstGeom>
          <a:noFill/>
          <a:ln>
            <a:noFill/>
          </a:ln>
        </p:spPr>
      </p:pic>
      <p:sp>
        <p:nvSpPr>
          <p:cNvPr id="966" name="Google Shape;966;g3f38efe3c04_0_0"/>
          <p:cNvSpPr txBox="1"/>
          <p:nvPr/>
        </p:nvSpPr>
        <p:spPr>
          <a:xfrm>
            <a:off x="1287262" y="166260"/>
            <a:ext cx="4928100" cy="6600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2400"/>
              <a:buFont typeface="Arial"/>
              <a:buNone/>
            </a:pPr>
            <a:r>
              <a:rPr b="1" i="0" lang="en-US" sz="2400" u="none" cap="none" strike="noStrike">
                <a:solidFill>
                  <a:schemeClr val="lt1"/>
                </a:solidFill>
                <a:latin typeface="Arial"/>
                <a:ea typeface="Arial"/>
                <a:cs typeface="Arial"/>
                <a:sym typeface="Arial"/>
              </a:rPr>
              <a:t>MIT School of Computing</a:t>
            </a:r>
            <a:br>
              <a:rPr b="1" i="0" lang="en-US" sz="2400" u="none" cap="none" strike="noStrike">
                <a:solidFill>
                  <a:schemeClr val="lt1"/>
                </a:solidFill>
                <a:latin typeface="Arial"/>
                <a:ea typeface="Arial"/>
                <a:cs typeface="Arial"/>
                <a:sym typeface="Arial"/>
              </a:rPr>
            </a:br>
            <a:r>
              <a:rPr b="1" i="0" lang="en-US" sz="1600" u="none" cap="none" strike="noStrike">
                <a:solidFill>
                  <a:schemeClr val="lt1"/>
                </a:solidFill>
                <a:latin typeface="Arial"/>
                <a:ea typeface="Arial"/>
                <a:cs typeface="Arial"/>
                <a:sym typeface="Arial"/>
              </a:rPr>
              <a:t>Department of Computer Science &amp; Engineering</a:t>
            </a:r>
            <a:endParaRPr b="0" i="0" sz="1400" u="none" cap="none" strike="noStrike">
              <a:solidFill>
                <a:srgbClr val="000000"/>
              </a:solidFill>
              <a:latin typeface="Arial"/>
              <a:ea typeface="Arial"/>
              <a:cs typeface="Arial"/>
              <a:sym typeface="Arial"/>
            </a:endParaRPr>
          </a:p>
        </p:txBody>
      </p:sp>
      <p:sp>
        <p:nvSpPr>
          <p:cNvPr id="967" name="Google Shape;967;g3f38efe3c04_0_0"/>
          <p:cNvSpPr/>
          <p:nvPr/>
        </p:nvSpPr>
        <p:spPr>
          <a:xfrm>
            <a:off x="197794" y="1322773"/>
            <a:ext cx="1775400" cy="1828800"/>
          </a:xfrm>
          <a:prstGeom prst="roundRect">
            <a:avLst>
              <a:gd fmla="val 16667" name="adj"/>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g3f38efe3c04_0_0"/>
          <p:cNvSpPr txBox="1"/>
          <p:nvPr/>
        </p:nvSpPr>
        <p:spPr>
          <a:xfrm>
            <a:off x="450376" y="1501254"/>
            <a:ext cx="8338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9" name="Google Shape;969;g3f38efe3c04_0_0"/>
          <p:cNvSpPr/>
          <p:nvPr/>
        </p:nvSpPr>
        <p:spPr>
          <a:xfrm>
            <a:off x="4250437" y="3244334"/>
            <a:ext cx="643200" cy="369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mbria"/>
                <a:ea typeface="Cambria"/>
                <a:cs typeface="Cambria"/>
                <a:sym typeface="Cambria"/>
              </a:rPr>
              <a:t>PLD </a:t>
            </a:r>
            <a:endParaRPr b="0" i="0" sz="1800" u="none" cap="none" strike="noStrike">
              <a:solidFill>
                <a:schemeClr val="dk1"/>
              </a:solidFill>
              <a:latin typeface="Calibri"/>
              <a:ea typeface="Calibri"/>
              <a:cs typeface="Calibri"/>
              <a:sym typeface="Calibri"/>
            </a:endParaRPr>
          </a:p>
        </p:txBody>
      </p:sp>
      <p:sp>
        <p:nvSpPr>
          <p:cNvPr id="970" name="Google Shape;970;g3f38efe3c04_0_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US"/>
              <a:t>‹#›</a:t>
            </a:fld>
            <a:endParaRPr/>
          </a:p>
        </p:txBody>
      </p:sp>
      <p:sp>
        <p:nvSpPr>
          <p:cNvPr id="971" name="Google Shape;971;g3f38efe3c04_0_0"/>
          <p:cNvSpPr txBox="1"/>
          <p:nvPr/>
        </p:nvSpPr>
        <p:spPr>
          <a:xfrm>
            <a:off x="354842" y="1105287"/>
            <a:ext cx="8338800" cy="552300"/>
          </a:xfrm>
          <a:prstGeom prst="rect">
            <a:avLst/>
          </a:prstGeom>
          <a:noFill/>
          <a:ln>
            <a:noFill/>
          </a:ln>
        </p:spPr>
        <p:txBody>
          <a:bodyPr anchorCtr="0" anchor="t" bIns="45700" lIns="91425" spcFirstLastPara="1" rIns="91425" wrap="square" tIns="45700">
            <a:spAutoFit/>
          </a:bodyPr>
          <a:lstStyle/>
          <a:p>
            <a:pPr indent="0" lvl="0" marL="457200" marR="0" rtl="0" algn="just">
              <a:lnSpc>
                <a:spcPct val="100000"/>
              </a:lnSpc>
              <a:spcBef>
                <a:spcPts val="720"/>
              </a:spcBef>
              <a:spcAft>
                <a:spcPts val="0"/>
              </a:spcAft>
              <a:buClr>
                <a:srgbClr val="000000"/>
              </a:buClr>
              <a:buSzPts val="2988"/>
              <a:buFont typeface="Arial"/>
              <a:buNone/>
            </a:pPr>
            <a:r>
              <a:t/>
            </a:r>
            <a:endParaRPr b="1" i="0" sz="2988" u="none" cap="none" strike="noStrike">
              <a:solidFill>
                <a:schemeClr val="dk1"/>
              </a:solidFill>
              <a:latin typeface="Times New Roman"/>
              <a:ea typeface="Times New Roman"/>
              <a:cs typeface="Times New Roman"/>
              <a:sym typeface="Times New Roman"/>
            </a:endParaRPr>
          </a:p>
        </p:txBody>
      </p:sp>
      <p:sp>
        <p:nvSpPr>
          <p:cNvPr id="972" name="Google Shape;972;g3f38efe3c04_0_0"/>
          <p:cNvSpPr txBox="1"/>
          <p:nvPr/>
        </p:nvSpPr>
        <p:spPr>
          <a:xfrm>
            <a:off x="718275" y="1322775"/>
            <a:ext cx="8070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rgbClr val="000000"/>
              </a:solidFill>
              <a:latin typeface="Arial"/>
              <a:ea typeface="Arial"/>
              <a:cs typeface="Arial"/>
              <a:sym typeface="Arial"/>
            </a:endParaRPr>
          </a:p>
        </p:txBody>
      </p:sp>
      <p:sp>
        <p:nvSpPr>
          <p:cNvPr id="973" name="Google Shape;973;g3f38efe3c04_0_0"/>
          <p:cNvSpPr txBox="1"/>
          <p:nvPr/>
        </p:nvSpPr>
        <p:spPr>
          <a:xfrm>
            <a:off x="408875" y="1209200"/>
            <a:ext cx="8284800" cy="4767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lang="en-US" sz="2800">
                <a:solidFill>
                  <a:schemeClr val="dk1"/>
                </a:solidFill>
                <a:latin typeface="Calibri"/>
                <a:ea typeface="Calibri"/>
                <a:cs typeface="Calibri"/>
                <a:sym typeface="Calibri"/>
              </a:rPr>
              <a:t>Thank You</a:t>
            </a:r>
            <a:endParaRPr b="0" i="0" sz="28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2018-03-07T17:43:46Z</dcterms:created>
  <dc:creator>User</dc:creator>
</cp:coreProperties>
</file>