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6858000" cx="9144000"/>
  <p:notesSz cx="6888150" cy="100187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3" roundtripDataSignature="AMtx7mjQdyahSnyKX05/3GExwkLnxhA4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A54B31-570E-4EE2-90CD-0D424257A100}">
  <a:tblStyle styleId="{0DA54B31-570E-4EE2-90CD-0D424257A10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34cb5792c_0_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g3f34cb5792c_0_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7" name="Google Shape;87;g3f34cb5792c_0_6:notes"/>
          <p:cNvSpPr txBox="1"/>
          <p:nvPr>
            <p:ph idx="12" type="sldNum"/>
          </p:nvPr>
        </p:nvSpPr>
        <p:spPr>
          <a:xfrm>
            <a:off x="3901698" y="9516039"/>
            <a:ext cx="2985000" cy="502800"/>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11" name="Google Shape;111;p3: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21" name="Google Shape;121;p4: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30" name="Google Shape;130;p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3" name="Google Shape;143;p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8" name="Google Shape;158;p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3" name="Google Shape;173;p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7" name="Google Shape;187;p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0" name="Google Shape;200;p1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4" name="Google Shape;214;p1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28" name="Google Shape;228;p1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43" name="Google Shape;243;p1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56" name="Google Shape;256;p1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9" name="Google Shape;269;p15: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80" name="Google Shape;280;p1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94" name="Google Shape;294;p1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08" name="Google Shape;308;p1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24" name="Google Shape;324;p19: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34" name="Google Shape;334;p2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48" name="Google Shape;348;p2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61" name="Google Shape;361;p2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2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75" name="Google Shape;375;p2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388" name="Google Shape;388;p2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03" name="Google Shape;403;p2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16" name="Google Shape;416;p2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2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30" name="Google Shape;430;p2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43" name="Google Shape;443;p2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56" name="Google Shape;456;p2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70" name="Google Shape;470;p3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82" name="Google Shape;482;p3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497" name="Google Shape;497;p3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11" name="Google Shape;511;p3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24" name="Google Shape;524;p3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38" name="Google Shape;538;p3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52" name="Google Shape;552;p3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3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67" name="Google Shape;567;p3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3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81" name="Google Shape;581;p3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595" name="Google Shape;595;p3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11" name="Google Shape;611;p4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4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26" name="Google Shape;626;p4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41" name="Google Shape;641;p4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4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54" name="Google Shape;654;p4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4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70" name="Google Shape;670;p4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45: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85" name="Google Shape;685;p45: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46: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99" name="Google Shape;699;p46: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7: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15" name="Google Shape;715;p47: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48: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29" name="Google Shape;729;p48: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49: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44" name="Google Shape;744;p49: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59" name="Google Shape;759;p5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5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72" name="Google Shape;772;p5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88" name="Google Shape;788;p5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53: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05" name="Google Shape;805;p53: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54: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20" name="Google Shape;820;p54: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g3f34cb5792c_0_6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35" name="Google Shape;835;g3f34cb5792c_0_6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f34cb5792c_0_7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50" name="Google Shape;850;g3f34cb5792c_0_7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5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59"/>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59"/>
          <p:cNvSpPr txBox="1"/>
          <p:nvPr/>
        </p:nvSpPr>
        <p:spPr>
          <a:xfrm>
            <a:off x="3371010" y="6542854"/>
            <a:ext cx="2401980" cy="230940"/>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ctr">
              <a:lnSpc>
                <a:spcPct val="90000"/>
              </a:lnSpc>
              <a:spcBef>
                <a:spcPts val="0"/>
              </a:spcBef>
              <a:spcAft>
                <a:spcPts val="0"/>
              </a:spcAft>
              <a:buClr>
                <a:srgbClr val="1E4E79"/>
              </a:buClr>
              <a:buSzPct val="100000"/>
              <a:buFont typeface="Arial"/>
              <a:buNone/>
            </a:pPr>
            <a:r>
              <a:rPr b="0" i="0" lang="en-US" sz="2000" u="none" cap="none" strike="noStrike">
                <a:solidFill>
                  <a:srgbClr val="1E4E79"/>
                </a:solidFill>
                <a:latin typeface="Calibri"/>
                <a:ea typeface="Calibri"/>
                <a:cs typeface="Calibri"/>
                <a:sym typeface="Calibri"/>
              </a:rPr>
              <a:t>Prof. Suraj Bhoyar, 2018</a:t>
            </a:r>
            <a:endParaRPr b="0" i="0" sz="2000" u="none" cap="none" strike="noStrike">
              <a:solidFill>
                <a:srgbClr val="1E4E79"/>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0"/>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0"/>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1"/>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1"/>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2"/>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2"/>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2"/>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2"/>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2"/>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5"/>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5"/>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6"/>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6"/>
          <p:cNvSpPr/>
          <p:nvPr>
            <p:ph idx="2" type="pic"/>
          </p:nvPr>
        </p:nvSpPr>
        <p:spPr>
          <a:xfrm>
            <a:off x="3887391" y="987426"/>
            <a:ext cx="4629150" cy="4873625"/>
          </a:xfrm>
          <a:prstGeom prst="rect">
            <a:avLst/>
          </a:prstGeom>
          <a:noFill/>
          <a:ln>
            <a:noFill/>
          </a:ln>
        </p:spPr>
      </p:sp>
      <p:sp>
        <p:nvSpPr>
          <p:cNvPr id="68" name="Google Shape;68;p66"/>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7"/>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8"/>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8"/>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6.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hyperlink" Target="https://www.youtube.com/watch?v=mMhC9vuA-7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jp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jp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jp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jp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jp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jp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jp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jp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jp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9.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jp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jp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jp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jp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jp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jpg"/><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0.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jp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jp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jp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jp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jp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hyperlink" Target="https://www.geeksforgeeks.org/floyd-warshall-algorithm-dp-1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jp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1.png"/><Relationship Id="rId6" Type="http://schemas.openxmlformats.org/officeDocument/2006/relationships/image" Target="../media/image1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jpg"/><Relationship Id="rId4" Type="http://schemas.openxmlformats.org/officeDocument/2006/relationships/image" Target="../media/image1.png"/><Relationship Id="rId5" Type="http://schemas.openxmlformats.org/officeDocument/2006/relationships/image" Target="../media/image18.png"/><Relationship Id="rId6" Type="http://schemas.openxmlformats.org/officeDocument/2006/relationships/image" Target="../media/image1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jp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3.jp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jp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3f34cb5792c_0_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0" name="Google Shape;90;g3f34cb5792c_0_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1" name="Google Shape;91;g3f34cb5792c_0_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2" name="Google Shape;92;g3f34cb5792c_0_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93" name="Google Shape;93;g3f34cb5792c_0_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g3f34cb5792c_0_6"/>
          <p:cNvSpPr txBox="1"/>
          <p:nvPr/>
        </p:nvSpPr>
        <p:spPr>
          <a:xfrm>
            <a:off x="450376" y="1460311"/>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g3f34cb5792c_0_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6" name="Google Shape;96;g3f34cb5792c_0_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
        <p:nvSpPr>
          <p:cNvPr id="97" name="Google Shape;97;g3f34cb5792c_0_6"/>
          <p:cNvSpPr txBox="1"/>
          <p:nvPr/>
        </p:nvSpPr>
        <p:spPr>
          <a:xfrm>
            <a:off x="628650" y="1320475"/>
            <a:ext cx="8160600" cy="4433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lang="en-US" sz="2800">
                <a:solidFill>
                  <a:srgbClr val="CC00CC"/>
                </a:solidFill>
                <a:latin typeface="Times New Roman"/>
                <a:ea typeface="Times New Roman"/>
                <a:cs typeface="Times New Roman"/>
                <a:sym typeface="Times New Roman"/>
              </a:rPr>
              <a:t>23CSE3011 </a:t>
            </a:r>
            <a:r>
              <a:rPr b="1" i="0" lang="en-US" sz="2800" u="none" cap="none" strike="noStrike">
                <a:solidFill>
                  <a:srgbClr val="CC00CC"/>
                </a:solidFill>
                <a:latin typeface="Times New Roman"/>
                <a:ea typeface="Times New Roman"/>
                <a:cs typeface="Times New Roman"/>
                <a:sym typeface="Times New Roman"/>
              </a:rPr>
              <a:t>- Design and Analysis of Algorithms</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(SEM-</a:t>
            </a:r>
            <a:r>
              <a:rPr b="1" lang="en-US" sz="2800">
                <a:solidFill>
                  <a:srgbClr val="FF0000"/>
                </a:solidFill>
                <a:latin typeface="Times New Roman"/>
                <a:ea typeface="Times New Roman"/>
                <a:cs typeface="Times New Roman"/>
                <a:sym typeface="Times New Roman"/>
              </a:rPr>
              <a:t>V</a:t>
            </a:r>
            <a:r>
              <a:rPr b="1" i="0" lang="en-US" sz="2800" u="none" cap="none" strike="noStrike">
                <a:solidFill>
                  <a:srgbClr val="FF0000"/>
                </a:solidFill>
                <a:latin typeface="Times New Roman"/>
                <a:ea typeface="Times New Roman"/>
                <a:cs typeface="Times New Roman"/>
                <a:sym typeface="Times New Roman"/>
              </a:rPr>
              <a:t>)</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a:t>
            </a:r>
            <a:r>
              <a:rPr b="1" lang="en-US" sz="2800">
                <a:latin typeface="Times New Roman"/>
                <a:ea typeface="Times New Roman"/>
                <a:cs typeface="Times New Roman"/>
                <a:sym typeface="Times New Roman"/>
              </a:rPr>
              <a:t>III</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3600"/>
              <a:buFont typeface="Arial"/>
              <a:buNone/>
            </a:pPr>
            <a:r>
              <a:rPr b="1" lang="en-US" sz="3000">
                <a:solidFill>
                  <a:schemeClr val="dk1"/>
                </a:solidFill>
                <a:latin typeface="Times New Roman"/>
                <a:ea typeface="Times New Roman"/>
                <a:cs typeface="Times New Roman"/>
                <a:sym typeface="Times New Roman"/>
              </a:rPr>
              <a:t>Greedy Techniques and  Dynamic Programming</a:t>
            </a:r>
            <a:endParaRPr sz="3000">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sz="2800">
              <a:latin typeface="Times New Roman"/>
              <a:ea typeface="Times New Roman"/>
              <a:cs typeface="Times New Roman"/>
              <a:sym typeface="Times New Roman"/>
            </a:endParaRPr>
          </a:p>
        </p:txBody>
      </p:sp>
      <p:sp>
        <p:nvSpPr>
          <p:cNvPr id="98" name="Google Shape;98;g3f34cb5792c_0_6"/>
          <p:cNvSpPr txBox="1"/>
          <p:nvPr/>
        </p:nvSpPr>
        <p:spPr>
          <a:xfrm>
            <a:off x="1973325" y="5402056"/>
            <a:ext cx="4648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a:t>
            </a:r>
            <a:r>
              <a:rPr lang="en-US" sz="2800">
                <a:solidFill>
                  <a:srgbClr val="CC00CC"/>
                </a:solidFill>
                <a:latin typeface="Times New Roman"/>
                <a:ea typeface="Times New Roman"/>
                <a:cs typeface="Times New Roman"/>
                <a:sym typeface="Times New Roman"/>
              </a:rPr>
              <a:t>6</a:t>
            </a:r>
            <a:r>
              <a:rPr b="0" i="0" lang="en-US" sz="2800" u="none" cap="none" strike="noStrike">
                <a:solidFill>
                  <a:srgbClr val="CC00CC"/>
                </a:solidFill>
                <a:latin typeface="Times New Roman"/>
                <a:ea typeface="Times New Roman"/>
                <a:cs typeface="Times New Roman"/>
                <a:sym typeface="Times New Roman"/>
              </a:rPr>
              <a:t>-202</a:t>
            </a:r>
            <a:r>
              <a:rPr lang="en-US" sz="2800">
                <a:solidFill>
                  <a:srgbClr val="CC00CC"/>
                </a:solidFill>
                <a:latin typeface="Times New Roman"/>
                <a:ea typeface="Times New Roman"/>
                <a:cs typeface="Times New Roman"/>
                <a:sym typeface="Times New Roman"/>
              </a:rPr>
              <a:t>7</a:t>
            </a:r>
            <a:r>
              <a:rPr b="0" i="0" lang="en-US" sz="2800" u="none" cap="none" strike="noStrike">
                <a:solidFill>
                  <a:srgbClr val="CC00CC"/>
                </a:solidFill>
                <a:latin typeface="Times New Roman"/>
                <a:ea typeface="Times New Roman"/>
                <a:cs typeface="Times New Roman"/>
                <a:sym typeface="Times New Roman"/>
              </a:rPr>
              <a:t>     </a:t>
            </a:r>
            <a:r>
              <a:rPr b="1" i="0" lang="en-US" sz="2800" u="none" cap="none" strike="noStrike">
                <a:solidFill>
                  <a:srgbClr val="CC00CC"/>
                </a:solidFill>
                <a:latin typeface="Times New Roman"/>
                <a:ea typeface="Times New Roman"/>
                <a:cs typeface="Times New Roman"/>
                <a:sym typeface="Times New Roman"/>
              </a:rPr>
              <a:t>SEM-</a:t>
            </a:r>
            <a:r>
              <a:rPr b="1" lang="en-US" sz="2800">
                <a:solidFill>
                  <a:srgbClr val="CC00CC"/>
                </a:solidFill>
                <a:latin typeface="Times New Roman"/>
                <a:ea typeface="Times New Roman"/>
                <a:cs typeface="Times New Roman"/>
                <a:sym typeface="Times New Roman"/>
              </a:rPr>
              <a:t>V</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
          <p:cNvPicPr preferRelativeResize="0"/>
          <p:nvPr/>
        </p:nvPicPr>
        <p:blipFill rotWithShape="1">
          <a:blip r:embed="rId3">
            <a:alphaModFix/>
          </a:blip>
          <a:srcRect b="0" l="0" r="0" t="0"/>
          <a:stretch/>
        </p:blipFill>
        <p:spPr>
          <a:xfrm>
            <a:off x="-1" y="0"/>
            <a:ext cx="9144001" cy="6858000"/>
          </a:xfrm>
          <a:prstGeom prst="rect">
            <a:avLst/>
          </a:prstGeom>
          <a:noFill/>
          <a:ln>
            <a:noFill/>
          </a:ln>
        </p:spPr>
      </p:pic>
      <p:sp>
        <p:nvSpPr>
          <p:cNvPr id="105" name="Google Shape;105;p2"/>
          <p:cNvSpPr txBox="1"/>
          <p:nvPr/>
        </p:nvSpPr>
        <p:spPr>
          <a:xfrm>
            <a:off x="250527" y="1454860"/>
            <a:ext cx="8769300" cy="3579600"/>
          </a:xfrm>
          <a:prstGeom prst="rect">
            <a:avLst/>
          </a:prstGeom>
          <a:noFill/>
          <a:ln>
            <a:noFill/>
          </a:ln>
        </p:spPr>
        <p:txBody>
          <a:bodyPr anchorCtr="0" anchor="t" bIns="45700" lIns="91425" spcFirstLastPara="1" rIns="91425" wrap="square" tIns="45700">
            <a:spAutoFit/>
          </a:bodyPr>
          <a:lstStyle/>
          <a:p>
            <a:pPr indent="-279400" lvl="0" marL="457200" rtl="0" algn="l">
              <a:lnSpc>
                <a:spcPct val="80000"/>
              </a:lnSpc>
              <a:spcBef>
                <a:spcPts val="0"/>
              </a:spcBef>
              <a:spcAft>
                <a:spcPts val="0"/>
              </a:spcAft>
              <a:buClr>
                <a:schemeClr val="dk1"/>
              </a:buClr>
              <a:buSzPts val="800"/>
              <a:buChar char="•"/>
            </a:pPr>
            <a:r>
              <a:rPr b="1" lang="en-US" sz="2253">
                <a:solidFill>
                  <a:srgbClr val="C00000"/>
                </a:solidFill>
                <a:latin typeface="Times New Roman"/>
                <a:ea typeface="Times New Roman"/>
                <a:cs typeface="Times New Roman"/>
                <a:sym typeface="Times New Roman"/>
              </a:rPr>
              <a:t>UNIT - III   SYLLABUS</a:t>
            </a:r>
            <a:endParaRPr b="1" sz="2253">
              <a:solidFill>
                <a:srgbClr val="C00000"/>
              </a:solidFill>
              <a:latin typeface="Times New Roman"/>
              <a:ea typeface="Times New Roman"/>
              <a:cs typeface="Times New Roman"/>
              <a:sym typeface="Times New Roman"/>
            </a:endParaRPr>
          </a:p>
          <a:p>
            <a:pPr indent="-279400" lvl="0" marL="457200" rtl="0" algn="l">
              <a:lnSpc>
                <a:spcPct val="80000"/>
              </a:lnSpc>
              <a:spcBef>
                <a:spcPts val="0"/>
              </a:spcBef>
              <a:spcAft>
                <a:spcPts val="0"/>
              </a:spcAft>
              <a:buClr>
                <a:schemeClr val="dk1"/>
              </a:buClr>
              <a:buSzPts val="800"/>
              <a:buChar char="•"/>
            </a:pPr>
            <a:r>
              <a:rPr b="1" lang="en-US" sz="1200">
                <a:solidFill>
                  <a:srgbClr val="C00000"/>
                </a:solidFill>
                <a:latin typeface="Times New Roman"/>
                <a:ea typeface="Times New Roman"/>
                <a:cs typeface="Times New Roman"/>
                <a:sym typeface="Times New Roman"/>
              </a:rPr>
              <a:t>			</a:t>
            </a:r>
            <a:endParaRPr b="1" sz="800">
              <a:solidFill>
                <a:srgbClr val="C00000"/>
              </a:solidFill>
              <a:latin typeface="Times New Roman"/>
              <a:ea typeface="Times New Roman"/>
              <a:cs typeface="Times New Roman"/>
              <a:sym typeface="Times New Roman"/>
            </a:endParaRPr>
          </a:p>
          <a:p>
            <a:pPr indent="-279400" lvl="0" marL="457200" rtl="0" algn="just">
              <a:lnSpc>
                <a:spcPct val="150000"/>
              </a:lnSpc>
              <a:spcBef>
                <a:spcPts val="0"/>
              </a:spcBef>
              <a:spcAft>
                <a:spcPts val="0"/>
              </a:spcAft>
              <a:buClr>
                <a:schemeClr val="dk1"/>
              </a:buClr>
              <a:buSzPts val="800"/>
              <a:buChar char="•"/>
            </a:pPr>
            <a:r>
              <a:t/>
            </a:r>
            <a:endParaRPr b="1" sz="1955">
              <a:solidFill>
                <a:schemeClr val="dk1"/>
              </a:solidFill>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rPr b="1" lang="en-US" sz="2155">
                <a:solidFill>
                  <a:schemeClr val="dk1"/>
                </a:solidFill>
                <a:latin typeface="Times New Roman"/>
                <a:ea typeface="Times New Roman"/>
                <a:cs typeface="Times New Roman"/>
                <a:sym typeface="Times New Roman"/>
              </a:rPr>
              <a:t>Greedy strategy: </a:t>
            </a:r>
            <a:r>
              <a:rPr lang="en-US" sz="2155">
                <a:solidFill>
                  <a:schemeClr val="dk1"/>
                </a:solidFill>
                <a:latin typeface="Times New Roman"/>
                <a:ea typeface="Times New Roman"/>
                <a:cs typeface="Times New Roman"/>
                <a:sym typeface="Times New Roman"/>
              </a:rPr>
              <a:t>Principle, algorithms, greedy knapsack problem, scheduling algorithm- activity selection problem</a:t>
            </a:r>
            <a:endParaRPr sz="2155">
              <a:solidFill>
                <a:schemeClr val="dk1"/>
              </a:solidFill>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t/>
            </a:r>
            <a:endParaRPr sz="2155">
              <a:solidFill>
                <a:schemeClr val="dk1"/>
              </a:solidFill>
              <a:latin typeface="Times New Roman"/>
              <a:ea typeface="Times New Roman"/>
              <a:cs typeface="Times New Roman"/>
              <a:sym typeface="Times New Roman"/>
            </a:endParaRPr>
          </a:p>
          <a:p>
            <a:pPr indent="0" lvl="0" marL="457200" rtl="0" algn="just">
              <a:lnSpc>
                <a:spcPct val="150000"/>
              </a:lnSpc>
              <a:spcBef>
                <a:spcPts val="0"/>
              </a:spcBef>
              <a:spcAft>
                <a:spcPts val="0"/>
              </a:spcAft>
              <a:buNone/>
            </a:pPr>
            <a:r>
              <a:rPr b="1" lang="en-US" sz="2155">
                <a:solidFill>
                  <a:schemeClr val="dk1"/>
                </a:solidFill>
                <a:latin typeface="Times New Roman"/>
                <a:ea typeface="Times New Roman"/>
                <a:cs typeface="Times New Roman"/>
                <a:sym typeface="Times New Roman"/>
              </a:rPr>
              <a:t>Dynamic Programming:</a:t>
            </a:r>
            <a:r>
              <a:rPr lang="en-US" sz="2155">
                <a:solidFill>
                  <a:schemeClr val="dk1"/>
                </a:solidFill>
                <a:latin typeface="Times New Roman"/>
                <a:ea typeface="Times New Roman"/>
                <a:cs typeface="Times New Roman"/>
                <a:sym typeface="Times New Roman"/>
              </a:rPr>
              <a:t> Principle, algorithms: 0/1 knapsack problem, the traveling salespersons problem, Warshall’s and Floyd’s Algorithms</a:t>
            </a:r>
            <a:endParaRPr sz="2155">
              <a:solidFill>
                <a:schemeClr val="dk1"/>
              </a:solidFill>
              <a:latin typeface="Times New Roman"/>
              <a:ea typeface="Times New Roman"/>
              <a:cs typeface="Times New Roman"/>
              <a:sym typeface="Times New Roman"/>
            </a:endParaRPr>
          </a:p>
          <a:p>
            <a:pPr indent="-279398" lvl="0" marL="525145" marR="59689" rtl="0" algn="just">
              <a:lnSpc>
                <a:spcPct val="101000"/>
              </a:lnSpc>
              <a:spcBef>
                <a:spcPts val="0"/>
              </a:spcBef>
              <a:spcAft>
                <a:spcPts val="0"/>
              </a:spcAft>
              <a:buClr>
                <a:schemeClr val="dk1"/>
              </a:buClr>
              <a:buSzPts val="2800"/>
              <a:buFont typeface="Arial"/>
              <a:buNone/>
            </a:pPr>
            <a:r>
              <a:t/>
            </a:r>
            <a:endParaRPr b="0" i="0" sz="400" u="none" cap="none" strike="noStrike">
              <a:solidFill>
                <a:schemeClr val="dk1"/>
              </a:solidFill>
              <a:latin typeface="Times New Roman"/>
              <a:ea typeface="Times New Roman"/>
              <a:cs typeface="Times New Roman"/>
              <a:sym typeface="Times New Roman"/>
            </a:endParaRPr>
          </a:p>
          <a:p>
            <a:pPr indent="-457200" lvl="0" marL="525145" marR="59689" rtl="0" algn="just">
              <a:lnSpc>
                <a:spcPct val="101000"/>
              </a:lnSpc>
              <a:spcBef>
                <a:spcPts val="0"/>
              </a:spcBef>
              <a:spcAft>
                <a:spcPts val="0"/>
              </a:spcAft>
              <a:buClr>
                <a:srgbClr val="000000"/>
              </a:buClr>
              <a:buSzPts val="2800"/>
              <a:buFont typeface="Arial"/>
              <a:buNone/>
            </a:pPr>
            <a:r>
              <a:t/>
            </a:r>
            <a:endParaRPr b="0" i="0" sz="400" u="none" cap="none" strike="noStrike">
              <a:solidFill>
                <a:schemeClr val="dk1"/>
              </a:solidFill>
              <a:latin typeface="Calibri"/>
              <a:ea typeface="Calibri"/>
              <a:cs typeface="Calibri"/>
              <a:sym typeface="Calibri"/>
            </a:endParaRPr>
          </a:p>
        </p:txBody>
      </p:sp>
      <p:pic>
        <p:nvPicPr>
          <p:cNvPr id="106" name="Google Shape;106;p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07" name="Google Shape;107;p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3"/>
          <p:cNvPicPr preferRelativeResize="0"/>
          <p:nvPr/>
        </p:nvPicPr>
        <p:blipFill rotWithShape="1">
          <a:blip r:embed="rId3">
            <a:alphaModFix/>
          </a:blip>
          <a:srcRect b="0" l="0" r="0" t="0"/>
          <a:stretch/>
        </p:blipFill>
        <p:spPr>
          <a:xfrm>
            <a:off x="0" y="0"/>
            <a:ext cx="9144001" cy="6858000"/>
          </a:xfrm>
          <a:prstGeom prst="rect">
            <a:avLst/>
          </a:prstGeom>
          <a:noFill/>
          <a:ln>
            <a:noFill/>
          </a:ln>
        </p:spPr>
      </p:pic>
      <p:sp>
        <p:nvSpPr>
          <p:cNvPr id="114" name="Google Shape;114;p3"/>
          <p:cNvSpPr txBox="1"/>
          <p:nvPr/>
        </p:nvSpPr>
        <p:spPr>
          <a:xfrm>
            <a:off x="317000" y="1476629"/>
            <a:ext cx="6163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Greedy strategy</a:t>
            </a:r>
            <a:endParaRPr i="0" sz="3200" u="none" cap="none" strike="noStrike">
              <a:solidFill>
                <a:schemeClr val="dk1"/>
              </a:solidFill>
              <a:latin typeface="Times New Roman"/>
              <a:ea typeface="Times New Roman"/>
              <a:cs typeface="Times New Roman"/>
              <a:sym typeface="Times New Roman"/>
            </a:endParaRPr>
          </a:p>
        </p:txBody>
      </p:sp>
      <p:sp>
        <p:nvSpPr>
          <p:cNvPr id="115" name="Google Shape;115;p3"/>
          <p:cNvSpPr txBox="1"/>
          <p:nvPr/>
        </p:nvSpPr>
        <p:spPr>
          <a:xfrm>
            <a:off x="439875" y="2070000"/>
            <a:ext cx="8344200" cy="4925400"/>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Among all the algorithmic approaches, the simplest and straightforward approach is the Greedy method.</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We encounter various types of computational problems each of which requires a different technique for solving. </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problem that requires a maximum or minimum result is the optimization problem.</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1" i="0" lang="en-US" sz="2000" u="none" cap="none" strike="noStrike">
                <a:solidFill>
                  <a:schemeClr val="dk1"/>
                </a:solidFill>
                <a:latin typeface="Calibri"/>
                <a:ea typeface="Calibri"/>
                <a:cs typeface="Calibri"/>
                <a:sym typeface="Calibri"/>
              </a:rPr>
              <a:t>There are broadly 3 ways to solve optimization problems:</a:t>
            </a:r>
            <a:endParaRPr b="1" i="0" sz="1600" u="none" cap="none" strike="noStrike">
              <a:solidFill>
                <a:srgbClr val="000000"/>
              </a:solidFill>
            </a:endParaRPr>
          </a:p>
          <a:p>
            <a:pPr indent="0" lvl="0" marL="457200" marR="0" rtl="0" algn="l">
              <a:lnSpc>
                <a:spcPct val="100000"/>
              </a:lnSpc>
              <a:spcBef>
                <a:spcPts val="0"/>
              </a:spcBef>
              <a:spcAft>
                <a:spcPts val="0"/>
              </a:spcAft>
              <a:buNone/>
            </a:pPr>
            <a:r>
              <a:rPr b="0" i="0" lang="en-US" sz="2000" u="none" cap="none" strike="noStrike">
                <a:solidFill>
                  <a:schemeClr val="dk1"/>
                </a:solidFill>
                <a:latin typeface="Calibri"/>
                <a:ea typeface="Calibri"/>
                <a:cs typeface="Calibri"/>
                <a:sym typeface="Calibri"/>
              </a:rPr>
              <a:t>1. The greedy method</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rPr b="0" i="0" lang="en-US" sz="2000" u="none" cap="none" strike="noStrike">
                <a:solidFill>
                  <a:schemeClr val="dk1"/>
                </a:solidFill>
                <a:latin typeface="Calibri"/>
                <a:ea typeface="Calibri"/>
                <a:cs typeface="Calibri"/>
                <a:sym typeface="Calibri"/>
              </a:rPr>
              <a:t>2. Dynamic programming</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rPr b="0" i="0" lang="en-US" sz="2000" u="none" cap="none" strike="noStrike">
                <a:solidFill>
                  <a:schemeClr val="dk1"/>
                </a:solidFill>
                <a:latin typeface="Calibri"/>
                <a:ea typeface="Calibri"/>
                <a:cs typeface="Calibri"/>
                <a:sym typeface="Calibri"/>
              </a:rPr>
              <a:t>3. Branch and bound technique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pic>
        <p:nvPicPr>
          <p:cNvPr id="116" name="Google Shape;116;p3"/>
          <p:cNvPicPr preferRelativeResize="0"/>
          <p:nvPr/>
        </p:nvPicPr>
        <p:blipFill rotWithShape="1">
          <a:blip r:embed="rId4">
            <a:alphaModFix/>
          </a:blip>
          <a:srcRect b="0" l="0" r="0" t="0"/>
          <a:stretch/>
        </p:blipFill>
        <p:spPr>
          <a:xfrm>
            <a:off x="269498" y="221251"/>
            <a:ext cx="5950424" cy="831628"/>
          </a:xfrm>
          <a:prstGeom prst="rect">
            <a:avLst/>
          </a:prstGeom>
          <a:noFill/>
          <a:ln>
            <a:noFill/>
          </a:ln>
        </p:spPr>
      </p:pic>
      <p:sp>
        <p:nvSpPr>
          <p:cNvPr id="117" name="Google Shape;117;p3"/>
          <p:cNvSpPr txBox="1"/>
          <p:nvPr/>
        </p:nvSpPr>
        <p:spPr>
          <a:xfrm>
            <a:off x="1104382" y="28818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4"/>
          <p:cNvPicPr preferRelativeResize="0"/>
          <p:nvPr/>
        </p:nvPicPr>
        <p:blipFill rotWithShape="1">
          <a:blip r:embed="rId3">
            <a:alphaModFix/>
          </a:blip>
          <a:srcRect b="0" l="0" r="0" t="0"/>
          <a:stretch/>
        </p:blipFill>
        <p:spPr>
          <a:xfrm>
            <a:off x="-1" y="0"/>
            <a:ext cx="9144001" cy="6858000"/>
          </a:xfrm>
          <a:prstGeom prst="rect">
            <a:avLst/>
          </a:prstGeom>
          <a:noFill/>
          <a:ln>
            <a:noFill/>
          </a:ln>
        </p:spPr>
      </p:pic>
      <p:sp>
        <p:nvSpPr>
          <p:cNvPr id="124" name="Google Shape;124;p4"/>
          <p:cNvSpPr txBox="1"/>
          <p:nvPr/>
        </p:nvSpPr>
        <p:spPr>
          <a:xfrm>
            <a:off x="243838" y="987552"/>
            <a:ext cx="6163295"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Calibri"/>
                <a:ea typeface="Calibri"/>
                <a:cs typeface="Calibri"/>
                <a:sym typeface="Calibri"/>
              </a:rPr>
              <a:t>Greedy strategy</a:t>
            </a:r>
            <a:endParaRPr b="0" i="0" sz="3200" u="none" cap="none" strike="noStrike">
              <a:solidFill>
                <a:schemeClr val="dk1"/>
              </a:solidFill>
              <a:latin typeface="Calibri"/>
              <a:ea typeface="Calibri"/>
              <a:cs typeface="Calibri"/>
              <a:sym typeface="Calibri"/>
            </a:endParaRPr>
          </a:p>
        </p:txBody>
      </p:sp>
      <p:sp>
        <p:nvSpPr>
          <p:cNvPr id="125" name="Google Shape;125;p4"/>
          <p:cNvSpPr txBox="1"/>
          <p:nvPr/>
        </p:nvSpPr>
        <p:spPr>
          <a:xfrm>
            <a:off x="573876" y="1328925"/>
            <a:ext cx="8237400" cy="563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greedy algorithm is an algorithmic paradigm that follows the</a:t>
            </a:r>
            <a:r>
              <a:rPr lang="en-US" sz="2000">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problem-solving heuristic of making the locally optimal choice at each stage with the hope of finding a global optimum.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In other words, a greedy algorithm chooses the best possible option at each step, without considering the consequences of that choice on future steps.</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greedy algorithm is useful when a problem can be divided into smaller </a:t>
            </a:r>
            <a:r>
              <a:rPr lang="en-US" sz="2000">
                <a:solidFill>
                  <a:schemeClr val="dk1"/>
                </a:solidFill>
                <a:latin typeface="Calibri"/>
                <a:ea typeface="Calibri"/>
                <a:cs typeface="Calibri"/>
                <a:sym typeface="Calibri"/>
              </a:rPr>
              <a:t>subproblems</a:t>
            </a:r>
            <a:r>
              <a:rPr b="0" i="0" lang="en-US" sz="2000" u="none" cap="none" strike="noStrike">
                <a:solidFill>
                  <a:schemeClr val="dk1"/>
                </a:solidFill>
                <a:latin typeface="Calibri"/>
                <a:ea typeface="Calibri"/>
                <a:cs typeface="Calibri"/>
                <a:sym typeface="Calibri"/>
              </a:rPr>
              <a:t>, and the solution of each sub problem can be combined to solve the overall problem.</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A classic example of a problem that can be solved using a greedy algorithm is the “coin change” problem.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problem is to make change for a given amount of money using the least possible number of coins.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pic>
        <p:nvPicPr>
          <p:cNvPr id="126" name="Google Shape;126;p4"/>
          <p:cNvPicPr preferRelativeResize="0"/>
          <p:nvPr/>
        </p:nvPicPr>
        <p:blipFill rotWithShape="1">
          <a:blip r:embed="rId4">
            <a:alphaModFix/>
          </a:blip>
          <a:srcRect b="0" l="0" r="0" t="0"/>
          <a:stretch/>
        </p:blipFill>
        <p:spPr>
          <a:xfrm>
            <a:off x="293882" y="148099"/>
            <a:ext cx="5950424" cy="831628"/>
          </a:xfrm>
          <a:prstGeom prst="rect">
            <a:avLst/>
          </a:prstGeom>
          <a:noFill/>
          <a:ln>
            <a:noFill/>
          </a:ln>
        </p:spPr>
      </p:pic>
      <p:sp>
        <p:nvSpPr>
          <p:cNvPr id="127" name="Google Shape;127;p4"/>
          <p:cNvSpPr txBox="1"/>
          <p:nvPr/>
        </p:nvSpPr>
        <p:spPr>
          <a:xfrm>
            <a:off x="1055614" y="251604"/>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3" name="Google Shape;133;p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34" name="Google Shape;134;p5"/>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35" name="Google Shape;135;p5"/>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136" name="Google Shape;136;p5"/>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7" name="Google Shape;137;p5"/>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39" name="Google Shape;139;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140" name="Google Shape;140;p5"/>
          <p:cNvSpPr/>
          <p:nvPr/>
        </p:nvSpPr>
        <p:spPr>
          <a:xfrm>
            <a:off x="539825" y="1827875"/>
            <a:ext cx="8249400" cy="4029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200" u="none" cap="none" strike="noStrike">
                <a:solidFill>
                  <a:schemeClr val="dk1"/>
                </a:solidFill>
                <a:latin typeface="Calibri"/>
                <a:ea typeface="Calibri"/>
                <a:cs typeface="Calibri"/>
                <a:sym typeface="Calibri"/>
              </a:rPr>
              <a:t>A greedy problem statement follows two properties mentioned below: </a:t>
            </a:r>
            <a:endParaRPr b="1" i="0" sz="18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200" u="none" cap="none" strike="noStrike">
                <a:solidFill>
                  <a:schemeClr val="dk1"/>
                </a:solidFill>
                <a:latin typeface="Calibri"/>
                <a:ea typeface="Calibri"/>
                <a:cs typeface="Calibri"/>
                <a:sym typeface="Calibri"/>
              </a:rPr>
              <a:t>1)</a:t>
            </a:r>
            <a:r>
              <a:rPr b="1" i="1" lang="en-US" sz="2200" u="none" cap="none" strike="noStrike">
                <a:solidFill>
                  <a:schemeClr val="dk1"/>
                </a:solidFill>
                <a:latin typeface="Calibri"/>
                <a:ea typeface="Calibri"/>
                <a:cs typeface="Calibri"/>
                <a:sym typeface="Calibri"/>
              </a:rPr>
              <a:t>Greedy Choice Property: </a:t>
            </a:r>
            <a:r>
              <a:rPr b="0" i="0" lang="en-US" sz="2200" u="none" cap="none" strike="noStrike">
                <a:solidFill>
                  <a:schemeClr val="dk1"/>
                </a:solidFill>
                <a:latin typeface="Calibri"/>
                <a:ea typeface="Calibri"/>
                <a:cs typeface="Calibri"/>
                <a:sym typeface="Calibri"/>
              </a:rPr>
              <a:t>Choosing the best option at each phase can </a:t>
            </a:r>
            <a:endParaRPr b="0" i="0" sz="2200" u="none" cap="none" strike="noStrike">
              <a:solidFill>
                <a:schemeClr val="dk1"/>
              </a:solidFill>
              <a:latin typeface="Calibri"/>
              <a:ea typeface="Calibri"/>
              <a:cs typeface="Calibri"/>
              <a:sym typeface="Calibri"/>
            </a:endParaRPr>
          </a:p>
          <a:p>
            <a:pPr indent="457200" lvl="0" marL="2743200" marR="0" rtl="0" algn="l">
              <a:lnSpc>
                <a:spcPct val="100000"/>
              </a:lnSpc>
              <a:spcBef>
                <a:spcPts val="0"/>
              </a:spcBef>
              <a:spcAft>
                <a:spcPts val="0"/>
              </a:spcAft>
              <a:buClr>
                <a:srgbClr val="000000"/>
              </a:buClr>
              <a:buSzPts val="1800"/>
              <a:buFont typeface="Arial"/>
              <a:buNone/>
            </a:pPr>
            <a:r>
              <a:rPr b="0" i="0" lang="en-US" sz="2200" u="none" cap="none" strike="noStrike">
                <a:solidFill>
                  <a:schemeClr val="dk1"/>
                </a:solidFill>
                <a:latin typeface="Calibri"/>
                <a:ea typeface="Calibri"/>
                <a:cs typeface="Calibri"/>
                <a:sym typeface="Calibri"/>
              </a:rPr>
              <a:t>lead to a global (overall) optimal solution.</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200" u="none" cap="none" strike="noStrike">
                <a:solidFill>
                  <a:schemeClr val="dk1"/>
                </a:solidFill>
                <a:latin typeface="Calibri"/>
                <a:ea typeface="Calibri"/>
                <a:cs typeface="Calibri"/>
                <a:sym typeface="Calibri"/>
              </a:rPr>
              <a:t>2)</a:t>
            </a:r>
            <a:r>
              <a:rPr b="1" i="1" lang="en-US" sz="2200" u="none" cap="none" strike="noStrike">
                <a:solidFill>
                  <a:schemeClr val="dk1"/>
                </a:solidFill>
                <a:latin typeface="Calibri"/>
                <a:ea typeface="Calibri"/>
                <a:cs typeface="Calibri"/>
                <a:sym typeface="Calibri"/>
              </a:rPr>
              <a:t>Optimal Substructure:</a:t>
            </a:r>
            <a:r>
              <a:rPr b="1" i="0" lang="en-US" sz="2200" u="none" cap="none" strike="noStrike">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If an optimal solution to the complete </a:t>
            </a:r>
            <a:endParaRPr b="0" i="0" sz="2200" u="none" cap="none" strike="noStrike">
              <a:solidFill>
                <a:schemeClr val="dk1"/>
              </a:solidFill>
              <a:latin typeface="Calibri"/>
              <a:ea typeface="Calibri"/>
              <a:cs typeface="Calibri"/>
              <a:sym typeface="Calibri"/>
            </a:endParaRPr>
          </a:p>
          <a:p>
            <a:pPr indent="0" lvl="0" marL="2743200" marR="0" rtl="0" algn="l">
              <a:lnSpc>
                <a:spcPct val="100000"/>
              </a:lnSpc>
              <a:spcBef>
                <a:spcPts val="0"/>
              </a:spcBef>
              <a:spcAft>
                <a:spcPts val="0"/>
              </a:spcAft>
              <a:buClr>
                <a:srgbClr val="000000"/>
              </a:buClr>
              <a:buSzPts val="1800"/>
              <a:buFont typeface="Arial"/>
              <a:buNone/>
            </a:pPr>
            <a:r>
              <a:rPr lang="en-US" sz="2200">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problem contains the optimal solutions to the  </a:t>
            </a:r>
            <a:endParaRPr b="0" i="0" sz="2200" u="none" cap="none" strike="noStrike">
              <a:solidFill>
                <a:schemeClr val="dk1"/>
              </a:solidFill>
              <a:latin typeface="Calibri"/>
              <a:ea typeface="Calibri"/>
              <a:cs typeface="Calibri"/>
              <a:sym typeface="Calibri"/>
            </a:endParaRPr>
          </a:p>
          <a:p>
            <a:pPr indent="0" lvl="0" marL="2743200" marR="0" rtl="0" algn="l">
              <a:lnSpc>
                <a:spcPct val="100000"/>
              </a:lnSpc>
              <a:spcBef>
                <a:spcPts val="0"/>
              </a:spcBef>
              <a:spcAft>
                <a:spcPts val="0"/>
              </a:spcAft>
              <a:buClr>
                <a:srgbClr val="000000"/>
              </a:buClr>
              <a:buSzPts val="1800"/>
              <a:buFont typeface="Arial"/>
              <a:buNone/>
            </a:pPr>
            <a:r>
              <a:rPr lang="en-US" sz="2200">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sub problems, the problem has an optimal </a:t>
            </a:r>
            <a:endParaRPr b="0" i="0" sz="2200" u="none" cap="none" strike="noStrike">
              <a:solidFill>
                <a:schemeClr val="dk1"/>
              </a:solidFill>
              <a:latin typeface="Calibri"/>
              <a:ea typeface="Calibri"/>
              <a:cs typeface="Calibri"/>
              <a:sym typeface="Calibri"/>
            </a:endParaRPr>
          </a:p>
          <a:p>
            <a:pPr indent="0" lvl="0" marL="2743200" marR="0" rtl="0" algn="l">
              <a:lnSpc>
                <a:spcPct val="100000"/>
              </a:lnSpc>
              <a:spcBef>
                <a:spcPts val="0"/>
              </a:spcBef>
              <a:spcAft>
                <a:spcPts val="0"/>
              </a:spcAft>
              <a:buClr>
                <a:srgbClr val="000000"/>
              </a:buClr>
              <a:buSzPts val="1800"/>
              <a:buFont typeface="Arial"/>
              <a:buNone/>
            </a:pPr>
            <a:r>
              <a:rPr lang="en-US" sz="2200">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substructure.</a:t>
            </a:r>
            <a:endParaRPr b="0" i="0" sz="2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46" name="Google Shape;146;p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47" name="Google Shape;147;p6"/>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48" name="Google Shape;148;p6"/>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149" name="Google Shape;149;p6"/>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0" name="Google Shape;150;p6"/>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51" name="Google Shape;151;p6"/>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52" name="Google Shape;152;p6"/>
          <p:cNvSpPr txBox="1"/>
          <p:nvPr/>
        </p:nvSpPr>
        <p:spPr>
          <a:xfrm>
            <a:off x="429900" y="1504676"/>
            <a:ext cx="8229600" cy="507180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Calibri"/>
                <a:ea typeface="Calibri"/>
                <a:cs typeface="Calibri"/>
                <a:sym typeface="Calibri"/>
              </a:rPr>
              <a:t>Example of Greedy Algorithm</a:t>
            </a:r>
            <a:endParaRPr b="1"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1" sz="2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Problem Statement: </a:t>
            </a:r>
            <a:r>
              <a:rPr b="0" i="1" lang="en-US" sz="2400" u="none" cap="none" strike="noStrike">
                <a:solidFill>
                  <a:schemeClr val="dk1"/>
                </a:solidFill>
                <a:latin typeface="Calibri"/>
                <a:ea typeface="Calibri"/>
                <a:cs typeface="Calibri"/>
                <a:sym typeface="Calibri"/>
              </a:rPr>
              <a:t> Find the best route to reach the destination city from the given starting point using a greedy method.</a:t>
            </a:r>
            <a:endParaRPr b="0" i="1"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53" name="Google Shape;153;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descr="data:image/jpeg;base64,/9j/4AAQSkZJRgABAQAAAQABAAD/2wCEAAkGBwgHBgkIBwgKCgkLDRYPDQwMDRsUFRAWIB0iIiAdHx8kKDQsJCYxJx8fLT0tMTU3Ojo6Iys/RD84QzQ5OjcBCgoKDQwNGg8PGjclHyU3Nzc3Nzc3Nzc3Nzc3Nzc3Nzc3Nzc3Nzc3Nzc3Nzc3Nzc3Nzc3Nzc3Nzc3Nzc3Nzc3N//AABEIAE0AlwMBEQACEQEDEQH/xAAbAAAABwEAAAAAAAAAAAAAAAAAAgMEBQYHAf/EAEcQAAIBAgMFBAUHCAgHAAAAAAECAwQRAAUSBiExQVETYXGBByIykaEUI0JSkrHRFTNTYnKTwdIWJENUgrLh8ERjc6Kj4vH/xAAaAQACAwEBAAAAAAAAAAAAAAAAAgMEBQEG/8QANBEAAgIBAwIBCQcFAQAAAAAAAQIAAxEEEiExQRMiMlFhcZGhsfAFFDOBwdHhI0JSYvEk/9oADAMBAAIRAxEAPwDccEIMEIMEJwkKCSQAOZwQkTWbR5ZS3Bn7Vh9GH1vjw+OG2mc3CVnMfSVQU7MkQhDDk0mpvsrc4Zay3SKzhesgq70mVZfRAkpY2K9jAouCLi2s3xOmldhnEgbVIpxmR0u2+dzMVBeNgLkPV6CB1KopIx06fHUiAu3djEP6X1jMQ1XLKQLt2czsijqXJAt4A4Pu7Yzjid8ZM4zzCRbY1Ekrr88in82xnYFvHp3fG3KX7k+3Mh++V7tsVG1+YK2mKqkDg2Mck8kRB6btQxE2nZeWHHvkgvVuFPPo6RzDt7nEJIYVDafa0SrKR4hhu88dGm3cAj5QOo29QfnJTL/SbK7qkouT+lh/ipsMcfSWL1E6mrrY4Blhyz0g5dWaQVUk/oZAx+ybHFc1kScOD0lios6y+tIWCpTWfoP6re44QgiMCJIY5OwYIQYIQYIQYITjMFUsxAAFySeGCEqe0W3FBlcTGJ0a27tXPq36KBvY+GHCGIWAmZ53t1mWZuwivovuao4eUY+8m/di9VoXbk8fOUrdai8Dk/CV2WSrzB9NRPNUEj2C1lt+yLL52xdXS01jLc+2UjqrrDhePZCgQRABbSkcozpjHnz8t3fiQMzfhjAiFEX8Q5Mcifs4xFVltJsVhg9TQP1jfgehJJ7uOISm5vJ5Pwk4s2r5XA7DvEWjeRQiSRug3rFGNIH+Dme/f44ZNi+fwfX9YiubH/DOR6v17wVKPEBAUZQpBkJFtTdPAfffuw6Ysbd2EjfNSbQOvWN74sSrHQjkqYdQjdpI7A2UnUvL3cPMdMQlgjcng/XxlgKbEzjkfL+J1bx2WqeMKvBWN3XwAuR92Im2HzP4/b9ZMgsHn8D4/kfoQ0suuE6FMsJFpDIfneW5iOA94PPphVqOcHj1dRGa0BcjyvSehiHYpLbsjc3/ADb+15dfge7E5bAxYP2/iVgmeazz8f5i9LmldSHTHO5UcUl9YfHePK2I30lT9OPZHTV2oeefbLfkPpCqqQrHUOVTo13T8VxRt0LLyOZfq1yNw3E0rJNpqHNVRQyxStwUsCH/AGW54oMhEvBgZOYWNBghE6ieOmheaZwkaC7MeWCEybbnbqSWRqKiG/lGfZUcmktxPRR/rizRQ1jYWV7r1rGW90o4WfMD208c80w9Xt0j1d9rDcPL441UqWjleT6+sy2tbUcNkD1dPzEH5MqgC7RSCJRqaQI24eFr+8DD/ea8ev0SP7pZn1emNpJdalEGmG/sc272PM93AYZayTueca0KNtfSHUmGNZRbtW/N3F9I+sfuHf4YHJY7F/OFYCL4jflOLSVLp2iU8zKd+sITfvvzwwKLxmRsLH8oicp7K5lKhhEpex4EjgPM2HnjlpIXA7xtOPLye3MPBDWlL061TL9aPVvPiML4dI4IEbxLzyCYoYcztvXMPfJjmyn1Tviaj1xBJD2umpaRk3rIHYk2IsePcTjrUoVIUc9pxL7FcbiZ1KOpIYJTyNpYqxjQkXBsfjhksUqD0zEepwxGMxSOnrYG1ilnFhv1RGxHfu4Y6xRhgmCrYhyBEp0WyyRD5p+R36TzGBT/AGt1g6gAMvT5RaANWN2TKzSW9V1BJH7XUd/LCkeHyOn10jKfF4PX0/vCTUc1M+mrHyc2vaXcxHULxI7wMHjJ259kBp378e2L0WZPl7/1QlkJu/a8G8F5ePHuGIno8blhj5yZL1pGFOflNV2M20jq4lhrZDpG4O59aM9GPMd/+xk36dqjgzUovW0ZEvoNxfFeWJnXpR2jaji+SU5GtSFUHg0hF9/co34mprLsAOpkVtgRST0EyMXuSzF2Y3Zm4seZOPQV1rWu1Z5+yxrG3NNc9Ec/Z7PVCX41jc/1Vxk/aH4o9k1vs78L851PStlZlVJKLMI1NtTFUOm4BIIDX3XsfA4hTSWuu4CTPq6kbaTO7aZTR59k35UysRfKVQSrIqLaaPmDccbXI57rY7TY1T7XziF1YsTK4zMrWQ1tUqQwRMZXCQj1gSCbKOPhyxqIjom7d6+ky3sR32bfUOZvlDNS5fTUmVRsto6fTHGTvZE0qT/3L78YbEsxJ7zbVQoAHaYdnFFT5ZXZhRFJQsVQIhZgbrvZfgq4167LLFT66TKeuqsv1/76JqHo2q0ptjkZS+hJJWsePHFDWZNx3S9pNvhDbGcfpayx9J/J2YqrWNyI9w+3hvuF2MxDrqQcZiu39Pl2dbMHN40DSxIk0cyABnQ2uCeljff0xzT2WU2bPyxO6iqu2vcfbmOvR1VLBsvcXAMrOepJAJ+N8RagEWEGS0EGsGM6X0sZTO8Yejr4Y3teR1QhQeZsxPuxL9xuxnEi++05xn4Rr6TsvpTQjNKWKJZywErBAQ+4kMRwJ3EX/WHTHNPaysFJ4jX1KVJA5iXolRoafMMyqH3XEKbgoAA1MbAAc192JdeArBRIdCWZSxnPS1AlZRZdm0BDhCYnZeasNSnw3H7WD7PfbYVPf9Jz7QTdWGHaZnjZmLHNBWSUNSs0XEbiOTDpiO2sWLtMlptatsibbsLnQrqYUjuWKxiSBjxMfAjyJHv7seesQo2DPRVuGXImY7fSdvnt5ZggDStpYMb3buB4Wti9ouGJxniUtaMqBkDmVvRF/eE/dyfy40vF/wBTMzwR/kJoXo8qFgyiVFkDD5STcAjkvUDGXrDusBxjiauiG2vGczPdKElnqI9TEs3zcnEm5+ji/Q+KlG09JQ1FYa1juHWaPsPVj+jq07OJEWR04ECx323gdTjO1fNucYmlpOKgM5lQ2HpUfOKRzKkgp17UgI4uQLDioHEg4t3X/wBDGDziU6KP/RnI4Jlirs9A2+pT8oTs6eIUxTSxIaT1jvtb9Fz5YpVV7q2OPoS9ZZtsUZjDb+CM1sdX2ioJ9Oq4Y3ZQwvuB5EYm0dmGx1kGsrDJnOOkm9jJwmzAhSQEFpBqsQN/iBiPV+VaTJdINtQGcyvx7Dzqqqcwh3AAkRti0NeAMbZUP2eSc7pL7U5hBluzMeSxTWkljSJNasfUUjUTpB5D3nFNN1l27HfPxlyzbXTtJ7Y+Ee7H1Aj2cjjRg19VjYju5gH4YNTzaZ3TcVDmVKm2LzEJFHNNSqAAGZXJt4C2L41tYXoZnnQOXzkYlo2zroxllHQmVVM1TGqg3JKrx4A9w6b8ZtYy/v8AlNOw4Xr6PnG8lR+RvR/8mEojllp9GuzGzy89wvu1dOWGsPjW59MRF8GrHoh4JRnWwho9Yd0h0KfWHrRkFeIv9Fffh7P6d+4DvmLWPFo25zxiZ+FhYAipQgi4PZyfy41vF/1Mx/BH+Qg0Rf3hP3cn8uDxf9TDwR/kJeNhK00kuXzLJrWOaRDYEalKNu3gHjY+WMjW4Lk4mvowRWBnMT9J2VvT5m84U6RIT/hfePcbjEmgsAfHpkWvrzXu9Eo+NiY8tmydT2NC6X4zE/AYytaP6g9k19Cf6R9sq3rShJQp+eUSADfbVvt5G48sXNMw8IZ7fQ+EpapD4xx3+j8ZbcsqlyfJdVQSugNI4G8ju8eGM7UsLLCRNPTKa6gDGeyKfk6mlLn1wRFc9F4/H7sPqHyqKOwkenQqzse5i7R5LNUvUGWNpnfWzCo5+/EaXOi7QeJM9KO24jmG2lf5flytH848cgddO/Vfcfvv5Y7pmCWgxNUviVEd4bIp5KXJ+zIZJAWIBFj3bsNq+bCROaTK1AGQ8OZ7QAI7TVbGwJVoF3+Pq4sjTacjr8ZVOp1APm/CS20U5rMoU6GMgdGC2uRc2O7wJxVoPh2jniWtQPEpPHMWyaramy0RkFSgvY9SoP8AHHNRzYTH0/FaiQibVZs8atqpgSAfzR/mxaXQqQDulNtewJG2I0Lz5nnCT10zTMoN2bcFXooHAXthmpTT1EjqYqXPqLQD0EsmaTUFYkcOYSKFRu0VTLo32Ivx38TjOVijBh1mk6h1KnpDZZPRUkZjoHXSxLELJqudwP8AD4YayxrDlotda1jCiU6uiEFbPEu5Vc6bfVO8fAjGrpn3VCY+qTZaffEMTyvNF2Ey1pM3yqjdTaBJKupFt1ipQKehvICP2DjC1dm+wkT0Glr2VgGaDtVkaZxQkKgaZAQAfpqeKnFZGKnIk7LuGJhedZRNlk7BlbstRAJFip+qehxvafUC0euYOp05qPHSFy+raKJo0jdzfUStrKOpJO7xxBq62LAiWdE6hSueYuM2TtFRSTewLC2kefPyuMVhTY3QS011anBaM6ysnnbs54I1RWDBXuxuOBNjbv5jgcT06UnDMcSC/VhcoBFnr5WoJEhVu0ChNQAGm+7V4D8OuI7NO+/GOskr1CbM56CMTNMf7ea3/Va3340BRWO0zG1Fp6mPIK3+qtTyCRwUfURv9WxJxS1NBBLKOJe0t4ZQrHmEpq8U9F2PZvqINwoG4nzwX02McqvadovrUbWbvI9IY1RR2abgB7IxoKi4HEzWsbJ5knLVmppko40fUxRFIsBe4tz7sZz0Or525GfVNRL0dMbsE8d51M0CRyBBIwdmKFRwU+z8LY4+nc4KidXUoCQxxGUdRULGoaeUkAe3IW+/F5aEwOOZntqHycHiPY6w0jaZBqktd9KKCOg5b7bz4jpirbWz+ZyJcqsWvz8An1ftEXkWrqJZ54ika6VMhexC+G+5JJsBvOCpLKgSQMnt/wAha6XEAdB3h6edEqRLE5QBdCxuNJA48bkXvvJJGGsVih3Lz7/5i1uu8bG4iVdIZanW0TpdB7dt/Qj8cd0YYA8cRNaVOMdZJ5Pl3Z6K2rjcgsBTwqt3mc+yAOdzwHPjwwur1IUbFjaPSkne02TYvIZMnopJ64IcxrCHqChuIwPZjB5hQTv5kseeMcnM1wMSx45OyA2j2agzaN5ECJUEWbUPVkHRvxw6OVORFZAwwZk2f7K1NLIYY0Mej1hTPuDfrA8G8Twxo06tSc2TPu0rBcVcfXplZmilgkMcyMjj6LC2NNWDDIOZlMrKcEYhkmBQRzKXQcPrL4H+GFZDnKxlsGNrjIhkV4z2tOwkUDfYbwOepenw78KXVvJfg/XSOEZfKTkfXUQGET+tTAk84hvI8Oo+OO79vD++cNe/lPdOIqwSKzyqHRgdCDWQR1tu95wrWBwQBmOtRrIZjidlFPGQEjmZGGpSZAu73Hhw8Rha2tIxxkRrFoBzzgxPXF/d3/f/APpiTFvpEizT6D8ItGYkieXTLGxvGhDBt5G88uA+8Yic2nyMDmT1LUB4gzx7ImsKvZYHBPAIfVP4fHEni484YkRp3eY2fnDEGmfRa9VewFriM/xbu5c+mFLmzzenpjBBVy3neiFESQ3E7EuP7JTd7/rH6Pnv7sd38ba4eH/facfOEkkaQjVZVX2UX2V/17zhkrwcnkyN7dw2rwIrSUdTWPppomfqeQ8Tjr2JWPKMWup7DhRLHk+TN2/yOnhbMq7cxpo/zcP6zsdyeJ3nkDjKv1YJ8kY+c1tPpdo8s5+X5TT9l9k1yyYZhmUiVWZEEKyi0dOp4rGD8WO89w3CgTmXgMS0Y5OwYIQYIRvW0dPXQmGqhSVONmHA9QeR7xghKnnGwqTofkckcicRDVC9vBxvHmCe/EqXMhyDI3qVxgiUXNtipKUkvBU0o+tp7SP7Q4eZxer+0GHncyjZ9nofN4kG+QVqESUzxTAG4aN7H/fniyNZUww0rHR3IcqYlNBWwXRqSY7hrmRSrMeNgw5db3JPdbCrtfo3HoPMkO5MZXk9xEGEEhtKTG3Vl0n8D4+r54k3PWOBke/3d/hIyldnU4Pu9/b3GKJRyyRFBaSMb0kjOoKe+3LAL0JyDz3EDp3C7T07GNkppGlaMqVKe3uvp/Hu64na1VXdKy0uzbcReWlYENVMtLGotGkjAPbwvxPH4csV1uUEnqZbahiAvRRCqy2K0ySuCLfNAgt4uRceCr5nHCbH5bj2zoFaDCc+zmO6ajzCdOxFK8MRGlGUFSg8TvI6jh0HVWNS8ls+rt8J1fEfgLj19/jOrkDwIGraqnpEvb1m/wDg+OOtra1Hkj9Iq6Gxjlz+sm8p2WeqKmhyusrf+dMvYwjvu1tQ8NWKdmvduBxLdehrXrzLpluwc0iqc4rhHEP+Dy+8a+Bl3MR+yExTZ2brLioFGBLjluXUWV0q0uX0sNNApuEiQKL8yep78JGjrBCDBCDBCDBCDBCDBCDBCR9bkuWVrF6qhgdz9PQA32hvwDiEip9i8tkv2E1ZTk/Um1/5w2O7jOYEZT7DOQRT5p4fKKYP/lZcMHInNokRWbIS0ThpKujkccGWhKkf+Q46bCes4EA6Rl+TZi+jt4d/PsT/ADYPEMNkd0Ox1RU3+S1tBTsd9zl5b7pBgFhHSGwSXj2FlK2nzpwetNTKlvDWXwu8zu0R3DsLlahflVRX1RH6SpMYPiI9IPhwxzcZ3Akvl+Q5Rlr66HLaWGTnIsQ1nxbiffjk7JLBCDBCDBCDBCDBCf/Z" id="154" name="Google Shape;154;p6"/>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Thumbnail_Greedy_Problem" id="155" name="Google Shape;155;p6"/>
          <p:cNvPicPr preferRelativeResize="0"/>
          <p:nvPr/>
        </p:nvPicPr>
        <p:blipFill rotWithShape="1">
          <a:blip r:embed="rId5">
            <a:alphaModFix/>
          </a:blip>
          <a:srcRect b="0" l="0" r="0" t="0"/>
          <a:stretch/>
        </p:blipFill>
        <p:spPr>
          <a:xfrm>
            <a:off x="829675" y="3244325"/>
            <a:ext cx="7685675" cy="32318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1" name="Google Shape;161;p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62" name="Google Shape;162;p7"/>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63" name="Google Shape;163;p7"/>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164" name="Google Shape;164;p7"/>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5" name="Google Shape;165;p7"/>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6" name="Google Shape;166;p7"/>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67" name="Google Shape;167;p7"/>
          <p:cNvSpPr txBox="1"/>
          <p:nvPr/>
        </p:nvSpPr>
        <p:spPr>
          <a:xfrm>
            <a:off x="429900" y="955350"/>
            <a:ext cx="8229600" cy="53718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68" name="Google Shape;168;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169" name="Google Shape;169;p7"/>
          <p:cNvSpPr/>
          <p:nvPr/>
        </p:nvSpPr>
        <p:spPr>
          <a:xfrm>
            <a:off x="616950" y="1150175"/>
            <a:ext cx="7844100" cy="537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Solution steps :</a:t>
            </a:r>
            <a:endParaRPr b="1"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sz="2100">
              <a:solidFill>
                <a:schemeClr val="dk1"/>
              </a:solidFill>
              <a:latin typeface="Calibri"/>
              <a:ea typeface="Calibri"/>
              <a:cs typeface="Calibri"/>
              <a:sym typeface="Calibri"/>
            </a:endParaRPr>
          </a:p>
          <a:p>
            <a:pPr indent="-120650" lvl="0" marL="457200" marR="0" rtl="0" algn="l">
              <a:lnSpc>
                <a:spcPct val="100000"/>
              </a:lnSpc>
              <a:spcBef>
                <a:spcPts val="0"/>
              </a:spcBef>
              <a:spcAft>
                <a:spcPts val="0"/>
              </a:spcAft>
              <a:buClr>
                <a:schemeClr val="dk1"/>
              </a:buClr>
              <a:buSzPts val="1900"/>
              <a:buFont typeface="Noto Sans Symbols"/>
              <a:buChar char="➢"/>
            </a:pPr>
            <a:r>
              <a:rPr b="0" i="0" lang="en-US" sz="1900" u="none" cap="none" strike="noStrike">
                <a:solidFill>
                  <a:schemeClr val="dk1"/>
                </a:solidFill>
                <a:latin typeface="Calibri"/>
                <a:ea typeface="Calibri"/>
                <a:cs typeface="Calibri"/>
                <a:sym typeface="Calibri"/>
              </a:rPr>
              <a:t>Start from the source vertex.</a:t>
            </a:r>
            <a:endParaRPr b="0" i="0" sz="1500" u="none" cap="none" strike="noStrike">
              <a:solidFill>
                <a:srgbClr val="000000"/>
              </a:solidFill>
              <a:latin typeface="Arial"/>
              <a:ea typeface="Arial"/>
              <a:cs typeface="Arial"/>
              <a:sym typeface="Arial"/>
            </a:endParaRPr>
          </a:p>
          <a:p>
            <a:pPr indent="-120650" lvl="0" marL="457200" marR="0" rtl="0" algn="l">
              <a:lnSpc>
                <a:spcPct val="100000"/>
              </a:lnSpc>
              <a:spcBef>
                <a:spcPts val="0"/>
              </a:spcBef>
              <a:spcAft>
                <a:spcPts val="0"/>
              </a:spcAft>
              <a:buClr>
                <a:schemeClr val="dk1"/>
              </a:buClr>
              <a:buSzPts val="1900"/>
              <a:buFont typeface="Noto Sans Symbols"/>
              <a:buChar char="➢"/>
            </a:pPr>
            <a:r>
              <a:rPr b="0" i="0" lang="en-US" sz="1900" u="none" cap="none" strike="noStrike">
                <a:solidFill>
                  <a:schemeClr val="dk1"/>
                </a:solidFill>
                <a:latin typeface="Calibri"/>
                <a:ea typeface="Calibri"/>
                <a:cs typeface="Calibri"/>
                <a:sym typeface="Calibri"/>
              </a:rPr>
              <a:t>Pick one vertex at a time with a minimum edge weight (distance) from the source vertex.</a:t>
            </a:r>
            <a:endParaRPr b="0" i="0" sz="1500" u="none" cap="none" strike="noStrike">
              <a:solidFill>
                <a:srgbClr val="000000"/>
              </a:solidFill>
              <a:latin typeface="Arial"/>
              <a:ea typeface="Arial"/>
              <a:cs typeface="Arial"/>
              <a:sym typeface="Arial"/>
            </a:endParaRPr>
          </a:p>
          <a:p>
            <a:pPr indent="-120650" lvl="0" marL="457200" marR="0" rtl="0" algn="l">
              <a:lnSpc>
                <a:spcPct val="100000"/>
              </a:lnSpc>
              <a:spcBef>
                <a:spcPts val="0"/>
              </a:spcBef>
              <a:spcAft>
                <a:spcPts val="0"/>
              </a:spcAft>
              <a:buClr>
                <a:schemeClr val="dk1"/>
              </a:buClr>
              <a:buSzPts val="1900"/>
              <a:buFont typeface="Noto Sans Symbols"/>
              <a:buChar char="➢"/>
            </a:pPr>
            <a:r>
              <a:rPr b="0" i="0" lang="en-US" sz="1900" u="none" cap="none" strike="noStrike">
                <a:solidFill>
                  <a:schemeClr val="dk1"/>
                </a:solidFill>
                <a:latin typeface="Calibri"/>
                <a:ea typeface="Calibri"/>
                <a:cs typeface="Calibri"/>
                <a:sym typeface="Calibri"/>
              </a:rPr>
              <a:t>Add the selected vertex to a tree structure if the connecting edge does not form a cycle.</a:t>
            </a:r>
            <a:endParaRPr b="0" i="0" sz="1500" u="none" cap="none" strike="noStrike">
              <a:solidFill>
                <a:srgbClr val="000000"/>
              </a:solidFill>
              <a:latin typeface="Arial"/>
              <a:ea typeface="Arial"/>
              <a:cs typeface="Arial"/>
              <a:sym typeface="Arial"/>
            </a:endParaRPr>
          </a:p>
          <a:p>
            <a:pPr indent="-120650" lvl="0" marL="457200" marR="0" rtl="0" algn="l">
              <a:lnSpc>
                <a:spcPct val="100000"/>
              </a:lnSpc>
              <a:spcBef>
                <a:spcPts val="0"/>
              </a:spcBef>
              <a:spcAft>
                <a:spcPts val="0"/>
              </a:spcAft>
              <a:buClr>
                <a:schemeClr val="dk1"/>
              </a:buClr>
              <a:buSzPts val="1900"/>
              <a:buFont typeface="Noto Sans Symbols"/>
              <a:buChar char="➢"/>
            </a:pPr>
            <a:r>
              <a:rPr b="0" i="0" lang="en-US" sz="1900" u="none" cap="none" strike="noStrike">
                <a:solidFill>
                  <a:schemeClr val="dk1"/>
                </a:solidFill>
                <a:latin typeface="Calibri"/>
                <a:ea typeface="Calibri"/>
                <a:cs typeface="Calibri"/>
                <a:sym typeface="Calibri"/>
              </a:rPr>
              <a:t>Keep adding adjacent fringe vertices to the tree until you reach the destination vertex.</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rPr b="0" i="0" lang="en-US" sz="1900" u="none" cap="none" strike="noStrike">
                <a:solidFill>
                  <a:schemeClr val="dk1"/>
                </a:solidFill>
                <a:latin typeface="Calibri"/>
                <a:ea typeface="Calibri"/>
                <a:cs typeface="Calibri"/>
                <a:sym typeface="Calibri"/>
              </a:rPr>
              <a:t>The animation given below explains how paths will be picked up in order to reach the destination city.</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ource_to_Destination_Greedy_Algorithm_Solution." id="170" name="Google Shape;170;p7"/>
          <p:cNvPicPr preferRelativeResize="0"/>
          <p:nvPr/>
        </p:nvPicPr>
        <p:blipFill rotWithShape="1">
          <a:blip r:embed="rId5">
            <a:alphaModFix/>
          </a:blip>
          <a:srcRect b="0" l="0" r="0" t="0"/>
          <a:stretch/>
        </p:blipFill>
        <p:spPr>
          <a:xfrm>
            <a:off x="1633625" y="4417775"/>
            <a:ext cx="6827426" cy="21042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6" name="Google Shape;176;p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77" name="Google Shape;177;p8"/>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78" name="Google Shape;178;p8"/>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179" name="Google Shape;179;p8"/>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0" name="Google Shape;180;p8"/>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1" name="Google Shape;181;p8"/>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82" name="Google Shape;182;p8"/>
          <p:cNvSpPr txBox="1"/>
          <p:nvPr/>
        </p:nvSpPr>
        <p:spPr>
          <a:xfrm>
            <a:off x="429904" y="1209368"/>
            <a:ext cx="8714096" cy="505869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4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endParaRPr b="1" i="0" sz="2400" u="none" cap="none" strike="noStrike">
              <a:solidFill>
                <a:schemeClr val="dk1"/>
              </a:solidFill>
              <a:latin typeface="Arial"/>
              <a:ea typeface="Arial"/>
              <a:cs typeface="Arial"/>
              <a:sym typeface="Arial"/>
            </a:endParaRPr>
          </a:p>
        </p:txBody>
      </p:sp>
      <p:sp>
        <p:nvSpPr>
          <p:cNvPr id="183" name="Google Shape;183;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184" name="Google Shape;184;p8"/>
          <p:cNvSpPr/>
          <p:nvPr/>
        </p:nvSpPr>
        <p:spPr>
          <a:xfrm>
            <a:off x="286450" y="1123375"/>
            <a:ext cx="8777700" cy="551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rgbClr val="0C0C0C"/>
                </a:solidFill>
                <a:latin typeface="Times New Roman"/>
                <a:ea typeface="Times New Roman"/>
                <a:cs typeface="Times New Roman"/>
                <a:sym typeface="Times New Roman"/>
              </a:rPr>
              <a:t>Applications of Greedy Algorithms:</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C0C0C"/>
              </a:solidFill>
              <a:latin typeface="Calibri"/>
              <a:ea typeface="Calibri"/>
              <a:cs typeface="Calibri"/>
              <a:sym typeface="Calibri"/>
            </a:endParaRPr>
          </a:p>
          <a:p>
            <a:pPr indent="-127000" lvl="0" marL="0" marR="0" rtl="0" algn="l">
              <a:lnSpc>
                <a:spcPct val="100000"/>
              </a:lnSpc>
              <a:spcBef>
                <a:spcPts val="0"/>
              </a:spcBef>
              <a:spcAft>
                <a:spcPts val="0"/>
              </a:spcAft>
              <a:buClr>
                <a:srgbClr val="0C0C0C"/>
              </a:buClr>
              <a:buSzPts val="2000"/>
              <a:buFont typeface="Noto Sans Symbols"/>
              <a:buChar char="➢"/>
            </a:pPr>
            <a:r>
              <a:rPr b="0" i="0" lang="en-US" sz="2000" u="none" cap="none" strike="noStrike">
                <a:solidFill>
                  <a:srgbClr val="0C0C0C"/>
                </a:solidFill>
                <a:latin typeface="Calibri"/>
                <a:ea typeface="Calibri"/>
                <a:cs typeface="Calibri"/>
                <a:sym typeface="Calibri"/>
              </a:rPr>
              <a:t>Finding an optimal solution (Activity selection, Fractional Knapsack, Job Sequencing, Huffman Coding).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rgbClr val="0C0C0C"/>
              </a:solidFill>
              <a:latin typeface="Calibri"/>
              <a:ea typeface="Calibri"/>
              <a:cs typeface="Calibri"/>
              <a:sym typeface="Calibri"/>
            </a:endParaRPr>
          </a:p>
          <a:p>
            <a:pPr indent="-127000" lvl="0" marL="0" marR="0" rtl="0" algn="l">
              <a:lnSpc>
                <a:spcPct val="100000"/>
              </a:lnSpc>
              <a:spcBef>
                <a:spcPts val="0"/>
              </a:spcBef>
              <a:spcAft>
                <a:spcPts val="0"/>
              </a:spcAft>
              <a:buClr>
                <a:srgbClr val="0C0C0C"/>
              </a:buClr>
              <a:buSzPts val="2000"/>
              <a:buFont typeface="Noto Sans Symbols"/>
              <a:buChar char="➢"/>
            </a:pPr>
            <a:r>
              <a:rPr b="0" i="0" lang="en-US" sz="2000" u="none" cap="none" strike="noStrike">
                <a:solidFill>
                  <a:srgbClr val="0C0C0C"/>
                </a:solidFill>
                <a:latin typeface="Calibri"/>
                <a:ea typeface="Calibri"/>
                <a:cs typeface="Calibri"/>
                <a:sym typeface="Calibri"/>
              </a:rPr>
              <a:t>Finding close to the optimal solution for NP-Hard problems like TSP.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rgbClr val="0C0C0C"/>
              </a:solidFill>
              <a:latin typeface="Calibri"/>
              <a:ea typeface="Calibri"/>
              <a:cs typeface="Calibri"/>
              <a:sym typeface="Calibri"/>
            </a:endParaRPr>
          </a:p>
          <a:p>
            <a:pPr indent="-127000" lvl="0" marL="0" marR="0" rtl="0" algn="l">
              <a:lnSpc>
                <a:spcPct val="100000"/>
              </a:lnSpc>
              <a:spcBef>
                <a:spcPts val="0"/>
              </a:spcBef>
              <a:spcAft>
                <a:spcPts val="0"/>
              </a:spcAft>
              <a:buClr>
                <a:srgbClr val="0C0C0C"/>
              </a:buClr>
              <a:buSzPts val="2000"/>
              <a:buFont typeface="Noto Sans Symbols"/>
              <a:buChar char="➢"/>
            </a:pPr>
            <a:r>
              <a:rPr b="0" i="0" lang="en-US" sz="2000" u="none" cap="none" strike="noStrike">
                <a:solidFill>
                  <a:srgbClr val="0C0C0C"/>
                </a:solidFill>
                <a:latin typeface="Calibri"/>
                <a:ea typeface="Calibri"/>
                <a:cs typeface="Calibri"/>
                <a:sym typeface="Calibri"/>
              </a:rPr>
              <a:t>Greedy algorithm is used to select the jobs that will be completed before their respective deadlines and maximizes the profit.</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rgbClr val="0C0C0C"/>
              </a:solidFill>
              <a:latin typeface="Calibri"/>
              <a:ea typeface="Calibri"/>
              <a:cs typeface="Calibri"/>
              <a:sym typeface="Calibri"/>
            </a:endParaRPr>
          </a:p>
          <a:p>
            <a:pPr indent="-127000" lvl="0" marL="0" marR="0" rtl="0" algn="l">
              <a:lnSpc>
                <a:spcPct val="100000"/>
              </a:lnSpc>
              <a:spcBef>
                <a:spcPts val="0"/>
              </a:spcBef>
              <a:spcAft>
                <a:spcPts val="0"/>
              </a:spcAft>
              <a:buClr>
                <a:srgbClr val="0C0C0C"/>
              </a:buClr>
              <a:buSzPts val="2000"/>
              <a:buFont typeface="Noto Sans Symbols"/>
              <a:buChar char="➢"/>
            </a:pPr>
            <a:r>
              <a:rPr b="0" i="0" lang="en-US" sz="2000" u="none" cap="none" strike="noStrike">
                <a:solidFill>
                  <a:srgbClr val="0C0C0C"/>
                </a:solidFill>
                <a:latin typeface="Calibri"/>
                <a:ea typeface="Calibri"/>
                <a:cs typeface="Calibri"/>
                <a:sym typeface="Calibri"/>
              </a:rPr>
              <a:t>Greedy algorithms are used to cluster data points together based on certain criteria, such as distance or similarity.</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rgbClr val="0C0C0C"/>
              </a:solidFill>
              <a:latin typeface="Calibri"/>
              <a:ea typeface="Calibri"/>
              <a:cs typeface="Calibri"/>
              <a:sym typeface="Calibri"/>
            </a:endParaRPr>
          </a:p>
          <a:p>
            <a:pPr indent="-127000" lvl="0" marL="0" marR="0" rtl="0" algn="l">
              <a:lnSpc>
                <a:spcPct val="100000"/>
              </a:lnSpc>
              <a:spcBef>
                <a:spcPts val="0"/>
              </a:spcBef>
              <a:spcAft>
                <a:spcPts val="0"/>
              </a:spcAft>
              <a:buClr>
                <a:srgbClr val="0C0C0C"/>
              </a:buClr>
              <a:buSzPts val="2000"/>
              <a:buFont typeface="Noto Sans Symbols"/>
              <a:buChar char="➢"/>
            </a:pPr>
            <a:r>
              <a:rPr b="0" i="0" lang="en-US" sz="2000" u="none" cap="none" strike="noStrike">
                <a:solidFill>
                  <a:srgbClr val="0C0C0C"/>
                </a:solidFill>
                <a:latin typeface="Calibri"/>
                <a:ea typeface="Calibri"/>
                <a:cs typeface="Calibri"/>
                <a:sym typeface="Calibri"/>
              </a:rPr>
              <a:t> The problem is broken down into smaller subproblems that are solved independently, but many of these subproblems are identical or overlapping</a:t>
            </a:r>
            <a:r>
              <a:rPr b="0" i="0" lang="en-US" sz="1800" u="none" cap="none" strike="noStrike">
                <a:solidFill>
                  <a:srgbClr val="0C0C0C"/>
                </a:solidFill>
                <a:latin typeface="Calibri"/>
                <a:ea typeface="Calibri"/>
                <a:cs typeface="Calibri"/>
                <a:sym typeface="Calibri"/>
              </a:rPr>
              <a:t>.</a:t>
            </a:r>
            <a:endParaRPr b="0" i="0" sz="1800" u="none" cap="none" strike="noStrike">
              <a:solidFill>
                <a:srgbClr val="0C0C0C"/>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0" name="Google Shape;190;p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91" name="Google Shape;191;p9"/>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92" name="Google Shape;192;p9"/>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193" name="Google Shape;193;p9"/>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4" name="Google Shape;194;p9"/>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5" name="Google Shape;195;p9"/>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96" name="Google Shape;196;p9"/>
          <p:cNvSpPr txBox="1"/>
          <p:nvPr/>
        </p:nvSpPr>
        <p:spPr>
          <a:xfrm>
            <a:off x="537325" y="1297850"/>
            <a:ext cx="8392800" cy="49701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Advantages of the Greedy Approach: </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1" sz="2400">
              <a:solidFill>
                <a:schemeClr val="dk1"/>
              </a:solidFill>
              <a:latin typeface="Calibri"/>
              <a:ea typeface="Calibri"/>
              <a:cs typeface="Calibri"/>
              <a:sym typeface="Calibri"/>
            </a:endParaRPr>
          </a:p>
          <a:p>
            <a:pPr indent="-146050" lvl="0" marL="0" marR="0" rtl="0" algn="l">
              <a:lnSpc>
                <a:spcPct val="100000"/>
              </a:lnSpc>
              <a:spcBef>
                <a:spcPts val="0"/>
              </a:spcBef>
              <a:spcAft>
                <a:spcPts val="0"/>
              </a:spcAft>
              <a:buClr>
                <a:schemeClr val="dk1"/>
              </a:buClr>
              <a:buSzPts val="2300"/>
              <a:buFont typeface="Times New Roman"/>
              <a:buChar char="➢"/>
            </a:pPr>
            <a:r>
              <a:rPr i="0" lang="en-US" sz="2300" u="none" cap="none" strike="noStrike">
                <a:solidFill>
                  <a:schemeClr val="dk1"/>
                </a:solidFill>
                <a:latin typeface="Times New Roman"/>
                <a:ea typeface="Times New Roman"/>
                <a:cs typeface="Times New Roman"/>
                <a:sym typeface="Times New Roman"/>
              </a:rPr>
              <a:t>The greedy approach is easy to implement.</a:t>
            </a:r>
            <a:endParaRPr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i="0" sz="2300" u="none" cap="none" strike="noStrike">
              <a:solidFill>
                <a:schemeClr val="dk1"/>
              </a:solidFill>
              <a:latin typeface="Times New Roman"/>
              <a:ea typeface="Times New Roman"/>
              <a:cs typeface="Times New Roman"/>
              <a:sym typeface="Times New Roman"/>
            </a:endParaRPr>
          </a:p>
          <a:p>
            <a:pPr indent="-146050" lvl="0" marL="0" marR="0" rtl="0" algn="l">
              <a:lnSpc>
                <a:spcPct val="100000"/>
              </a:lnSpc>
              <a:spcBef>
                <a:spcPts val="0"/>
              </a:spcBef>
              <a:spcAft>
                <a:spcPts val="0"/>
              </a:spcAft>
              <a:buClr>
                <a:schemeClr val="dk1"/>
              </a:buClr>
              <a:buSzPts val="2300"/>
              <a:buFont typeface="Times New Roman"/>
              <a:buChar char="➢"/>
            </a:pPr>
            <a:r>
              <a:rPr i="0" lang="en-US" sz="2300" u="none" cap="none" strike="noStrike">
                <a:solidFill>
                  <a:schemeClr val="dk1"/>
                </a:solidFill>
                <a:latin typeface="Times New Roman"/>
                <a:ea typeface="Times New Roman"/>
                <a:cs typeface="Times New Roman"/>
                <a:sym typeface="Times New Roman"/>
              </a:rPr>
              <a:t>Typically have less time complexity.</a:t>
            </a:r>
            <a:endParaRPr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i="0" sz="2300" u="none" cap="none" strike="noStrike">
              <a:solidFill>
                <a:schemeClr val="dk1"/>
              </a:solidFill>
              <a:latin typeface="Times New Roman"/>
              <a:ea typeface="Times New Roman"/>
              <a:cs typeface="Times New Roman"/>
              <a:sym typeface="Times New Roman"/>
            </a:endParaRPr>
          </a:p>
          <a:p>
            <a:pPr indent="-146050" lvl="0" marL="0" marR="0" rtl="0" algn="l">
              <a:lnSpc>
                <a:spcPct val="100000"/>
              </a:lnSpc>
              <a:spcBef>
                <a:spcPts val="0"/>
              </a:spcBef>
              <a:spcAft>
                <a:spcPts val="0"/>
              </a:spcAft>
              <a:buClr>
                <a:schemeClr val="dk1"/>
              </a:buClr>
              <a:buSzPts val="2300"/>
              <a:buFont typeface="Times New Roman"/>
              <a:buChar char="➢"/>
            </a:pPr>
            <a:r>
              <a:rPr i="0" lang="en-US" sz="2300" u="none" cap="none" strike="noStrike">
                <a:solidFill>
                  <a:schemeClr val="dk1"/>
                </a:solidFill>
                <a:latin typeface="Times New Roman"/>
                <a:ea typeface="Times New Roman"/>
                <a:cs typeface="Times New Roman"/>
                <a:sym typeface="Times New Roman"/>
              </a:rPr>
              <a:t>Greedy algorithms can be used for optimization purposes or finding close to optimization in case of Hard problems.</a:t>
            </a:r>
            <a:endParaRPr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i="0" sz="2300" u="none" cap="none" strike="noStrike">
              <a:solidFill>
                <a:schemeClr val="dk1"/>
              </a:solidFill>
              <a:latin typeface="Times New Roman"/>
              <a:ea typeface="Times New Roman"/>
              <a:cs typeface="Times New Roman"/>
              <a:sym typeface="Times New Roman"/>
            </a:endParaRPr>
          </a:p>
          <a:p>
            <a:pPr indent="-146050" lvl="0" marL="0" marR="0" rtl="0" algn="l">
              <a:lnSpc>
                <a:spcPct val="100000"/>
              </a:lnSpc>
              <a:spcBef>
                <a:spcPts val="0"/>
              </a:spcBef>
              <a:spcAft>
                <a:spcPts val="0"/>
              </a:spcAft>
              <a:buClr>
                <a:schemeClr val="dk1"/>
              </a:buClr>
              <a:buSzPts val="2300"/>
              <a:buFont typeface="Times New Roman"/>
              <a:buChar char="➢"/>
            </a:pPr>
            <a:r>
              <a:rPr i="0" lang="en-US" sz="2300" u="none" cap="none" strike="noStrike">
                <a:solidFill>
                  <a:schemeClr val="dk1"/>
                </a:solidFill>
                <a:latin typeface="Times New Roman"/>
                <a:ea typeface="Times New Roman"/>
                <a:cs typeface="Times New Roman"/>
                <a:sym typeface="Times New Roman"/>
              </a:rPr>
              <a:t>The greedy approach can be very efficient, as it does not require exploring all possible solutions to the problem.</a:t>
            </a:r>
            <a:endParaRPr i="0" sz="1300" u="none" cap="none" strike="noStrike">
              <a:solidFill>
                <a:srgbClr val="000000"/>
              </a:solidFill>
              <a:latin typeface="Times New Roman"/>
              <a:ea typeface="Times New Roman"/>
              <a:cs typeface="Times New Roman"/>
              <a:sym typeface="Times New Roman"/>
            </a:endParaRPr>
          </a:p>
          <a:p>
            <a:pPr indent="0" lvl="0" marL="457200" marR="0" rtl="0" algn="l">
              <a:lnSpc>
                <a:spcPct val="100000"/>
              </a:lnSpc>
              <a:spcBef>
                <a:spcPts val="0"/>
              </a:spcBef>
              <a:spcAft>
                <a:spcPts val="0"/>
              </a:spcAft>
              <a:buNone/>
            </a:pPr>
            <a:r>
              <a:t/>
            </a:r>
            <a:endParaRPr i="0" sz="2300" u="none" cap="none" strike="noStrike">
              <a:solidFill>
                <a:schemeClr val="dk1"/>
              </a:solidFill>
              <a:latin typeface="Times New Roman"/>
              <a:ea typeface="Times New Roman"/>
              <a:cs typeface="Times New Roman"/>
              <a:sym typeface="Times New Roman"/>
            </a:endParaRPr>
          </a:p>
          <a:p>
            <a:pPr indent="-146050" lvl="0" marL="0" marR="0" rtl="0" algn="l">
              <a:lnSpc>
                <a:spcPct val="100000"/>
              </a:lnSpc>
              <a:spcBef>
                <a:spcPts val="0"/>
              </a:spcBef>
              <a:spcAft>
                <a:spcPts val="0"/>
              </a:spcAft>
              <a:buClr>
                <a:schemeClr val="dk1"/>
              </a:buClr>
              <a:buSzPts val="2300"/>
              <a:buFont typeface="Times New Roman"/>
              <a:buChar char="➢"/>
            </a:pPr>
            <a:r>
              <a:rPr i="0" lang="en-US" sz="2300" u="none" cap="none" strike="noStrike">
                <a:solidFill>
                  <a:schemeClr val="dk1"/>
                </a:solidFill>
                <a:latin typeface="Times New Roman"/>
                <a:ea typeface="Times New Roman"/>
                <a:cs typeface="Times New Roman"/>
                <a:sym typeface="Times New Roman"/>
              </a:rPr>
              <a:t>The solutions to subproblems can be stored in a table, which can be reused for similar problems.</a:t>
            </a:r>
            <a:endParaRPr i="0" sz="1300" u="none" cap="none" strike="noStrike">
              <a:solidFill>
                <a:srgbClr val="000000"/>
              </a:solidFill>
              <a:latin typeface="Times New Roman"/>
              <a:ea typeface="Times New Roman"/>
              <a:cs typeface="Times New Roman"/>
              <a:sym typeface="Times New Roman"/>
            </a:endParaRPr>
          </a:p>
          <a:p>
            <a:pPr indent="-228600" lvl="0" marL="228600" marR="0" rtl="0" algn="l">
              <a:lnSpc>
                <a:spcPct val="150000"/>
              </a:lnSpc>
              <a:spcBef>
                <a:spcPts val="0"/>
              </a:spcBef>
              <a:spcAft>
                <a:spcPts val="0"/>
              </a:spcAft>
              <a:buClr>
                <a:schemeClr val="dk1"/>
              </a:buClr>
              <a:buSzPts val="2220"/>
              <a:buFont typeface="Calibri"/>
              <a:buNone/>
            </a:pPr>
            <a:r>
              <a:t/>
            </a:r>
            <a:endParaRPr b="0" i="0" sz="2220" u="none" cap="none" strike="noStrike">
              <a:solidFill>
                <a:schemeClr val="dk1"/>
              </a:solidFill>
              <a:latin typeface="Arial"/>
              <a:ea typeface="Arial"/>
              <a:cs typeface="Arial"/>
              <a:sym typeface="Arial"/>
            </a:endParaRPr>
          </a:p>
        </p:txBody>
      </p:sp>
      <p:sp>
        <p:nvSpPr>
          <p:cNvPr id="197" name="Google Shape;197;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3" name="Google Shape;203;p1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04" name="Google Shape;204;p1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205" name="Google Shape;205;p1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06" name="Google Shape;206;p1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7" name="Google Shape;207;p1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8" name="Google Shape;208;p1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09" name="Google Shape;209;p10"/>
          <p:cNvSpPr txBox="1"/>
          <p:nvPr/>
        </p:nvSpPr>
        <p:spPr>
          <a:xfrm>
            <a:off x="429904" y="1504664"/>
            <a:ext cx="8714096"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400"/>
              <a:buFont typeface="Calibri"/>
              <a:buNone/>
            </a:pPr>
            <a:r>
              <a:t/>
            </a:r>
            <a:endParaRPr b="1" i="0" sz="2400" u="none" cap="none" strike="noStrike">
              <a:solidFill>
                <a:srgbClr val="F58634"/>
              </a:solidFill>
              <a:latin typeface="Arial"/>
              <a:ea typeface="Arial"/>
              <a:cs typeface="Arial"/>
              <a:sym typeface="Arial"/>
            </a:endParaRPr>
          </a:p>
        </p:txBody>
      </p:sp>
      <p:sp>
        <p:nvSpPr>
          <p:cNvPr id="210" name="Google Shape;210;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211" name="Google Shape;211;p10"/>
          <p:cNvSpPr/>
          <p:nvPr/>
        </p:nvSpPr>
        <p:spPr>
          <a:xfrm>
            <a:off x="528800" y="1608475"/>
            <a:ext cx="8338800" cy="480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Calibri"/>
                <a:ea typeface="Calibri"/>
                <a:cs typeface="Calibri"/>
                <a:sym typeface="Calibri"/>
              </a:rPr>
              <a:t>Disadvantages of the Greedy Approach:</a:t>
            </a:r>
            <a:endParaRPr b="1" i="1"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1"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1" lang="en-US" sz="2000" u="none" cap="none" strike="noStrike">
                <a:solidFill>
                  <a:schemeClr val="dk1"/>
                </a:solidFill>
                <a:latin typeface="Calibri"/>
                <a:ea typeface="Calibri"/>
                <a:cs typeface="Calibri"/>
                <a:sym typeface="Calibri"/>
              </a:rPr>
              <a:t>The local optimal solution may not always be globally optimal.</a:t>
            </a:r>
            <a:endParaRPr b="0" i="1"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1" lang="en-US" sz="2000" u="none" cap="none" strike="noStrike">
                <a:solidFill>
                  <a:schemeClr val="dk1"/>
                </a:solidFill>
                <a:latin typeface="Calibri"/>
                <a:ea typeface="Calibri"/>
                <a:cs typeface="Calibri"/>
                <a:sym typeface="Calibri"/>
              </a:rPr>
              <a:t>Lack of proof of optimality.</a:t>
            </a:r>
            <a:endParaRPr b="0" i="1"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1" lang="en-US" sz="2000" u="none" cap="none" strike="noStrike">
                <a:solidFill>
                  <a:schemeClr val="dk1"/>
                </a:solidFill>
                <a:latin typeface="Calibri"/>
                <a:ea typeface="Calibri"/>
                <a:cs typeface="Calibri"/>
                <a:sym typeface="Calibri"/>
              </a:rPr>
              <a:t>The greedy approach is only applicable to problems that have the property of greedy-choice property meaning not all problems can be solved using this approach.</a:t>
            </a:r>
            <a:endParaRPr b="0" i="1"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1" lang="en-US" sz="2000" u="none" cap="none" strike="noStrike">
                <a:solidFill>
                  <a:schemeClr val="dk1"/>
                </a:solidFill>
                <a:latin typeface="Calibri"/>
                <a:ea typeface="Calibri"/>
                <a:cs typeface="Calibri"/>
                <a:sym typeface="Calibri"/>
              </a:rPr>
              <a:t>The greedy approach is not easily adaptable to changing problem conditions.</a:t>
            </a:r>
            <a:endParaRPr b="0" i="1" sz="20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pic>
        <p:nvPicPr>
          <p:cNvPr id="216" name="Google Shape;216;p11"/>
          <p:cNvPicPr preferRelativeResize="0"/>
          <p:nvPr/>
        </p:nvPicPr>
        <p:blipFill rotWithShape="1">
          <a:blip r:embed="rId3">
            <a:alphaModFix/>
          </a:blip>
          <a:srcRect b="0" l="0" r="0" t="0"/>
          <a:stretch/>
        </p:blipFill>
        <p:spPr>
          <a:xfrm>
            <a:off x="354842" y="123715"/>
            <a:ext cx="5950424" cy="831628"/>
          </a:xfrm>
          <a:prstGeom prst="rect">
            <a:avLst/>
          </a:prstGeom>
          <a:noFill/>
          <a:ln>
            <a:noFill/>
          </a:ln>
        </p:spPr>
      </p:pic>
      <p:sp>
        <p:nvSpPr>
          <p:cNvPr id="217" name="Google Shape;217;p1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18" name="Google Shape;218;p1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19" name="Google Shape;219;p11"/>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20" name="Google Shape;220;p1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21" name="Google Shape;221;p11"/>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222" name="Google Shape;222;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223" name="Google Shape;223;p11"/>
          <p:cNvSpPr txBox="1"/>
          <p:nvPr/>
        </p:nvSpPr>
        <p:spPr>
          <a:xfrm>
            <a:off x="473724" y="1288973"/>
            <a:ext cx="3944039"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Greedy Knapsack Problem</a:t>
            </a:r>
            <a:endParaRPr b="1" i="0" sz="2400" u="none" cap="none" strike="noStrike">
              <a:solidFill>
                <a:schemeClr val="dk1"/>
              </a:solidFill>
              <a:latin typeface="Calibri"/>
              <a:ea typeface="Calibri"/>
              <a:cs typeface="Calibri"/>
              <a:sym typeface="Calibri"/>
            </a:endParaRPr>
          </a:p>
        </p:txBody>
      </p:sp>
      <p:sp>
        <p:nvSpPr>
          <p:cNvPr id="224" name="Google Shape;224;p11"/>
          <p:cNvSpPr/>
          <p:nvPr/>
        </p:nvSpPr>
        <p:spPr>
          <a:xfrm>
            <a:off x="374575" y="2032475"/>
            <a:ext cx="4928100" cy="3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The selection of some things, each with profit and weight values, to be packed into one or more knapsacks with capacity is the fundamental idea behind all families of knapsack problems.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The knapsack problem had two versions that are as follows: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Binary or 0/1 knapsack : </a:t>
            </a:r>
            <a:r>
              <a:rPr b="0" i="0" lang="en-US" sz="1800" u="none" cap="none" strike="noStrike">
                <a:solidFill>
                  <a:schemeClr val="dk1"/>
                </a:solidFill>
                <a:latin typeface="Calibri"/>
                <a:ea typeface="Calibri"/>
                <a:cs typeface="Calibri"/>
                <a:sym typeface="Calibri"/>
              </a:rPr>
              <a:t>Item cannot be broken down into parts.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Fractional knapsack :</a:t>
            </a:r>
            <a:r>
              <a:rPr b="0" i="0" lang="en-US" sz="1800" u="none" cap="none" strike="noStrike">
                <a:solidFill>
                  <a:schemeClr val="dk1"/>
                </a:solidFill>
                <a:latin typeface="Calibri"/>
                <a:ea typeface="Calibri"/>
                <a:cs typeface="Calibri"/>
                <a:sym typeface="Calibri"/>
              </a:rPr>
              <a:t> Item can be divided into parts.</a:t>
            </a:r>
            <a:endParaRPr b="0" i="0" sz="1800" u="none" cap="none" strike="noStrike">
              <a:solidFill>
                <a:schemeClr val="dk1"/>
              </a:solidFill>
              <a:latin typeface="Calibri"/>
              <a:ea typeface="Calibri"/>
              <a:cs typeface="Calibri"/>
              <a:sym typeface="Calibri"/>
            </a:endParaRPr>
          </a:p>
        </p:txBody>
      </p:sp>
      <p:pic>
        <p:nvPicPr>
          <p:cNvPr descr="All About Knapsack Problem | python" id="225" name="Google Shape;225;p11"/>
          <p:cNvPicPr preferRelativeResize="0"/>
          <p:nvPr>
            <p:ph idx="1" type="body"/>
          </p:nvPr>
        </p:nvPicPr>
        <p:blipFill rotWithShape="1">
          <a:blip r:embed="rId4">
            <a:alphaModFix/>
          </a:blip>
          <a:srcRect b="0" l="0" r="0" t="0"/>
          <a:stretch/>
        </p:blipFill>
        <p:spPr>
          <a:xfrm>
            <a:off x="5604275" y="2032477"/>
            <a:ext cx="3539700" cy="3330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31" name="Google Shape;231;p12"/>
          <p:cNvPicPr preferRelativeResize="0"/>
          <p:nvPr>
            <p:ph idx="1" type="body"/>
          </p:nvPr>
        </p:nvPicPr>
        <p:blipFill rotWithShape="1">
          <a:blip r:embed="rId3">
            <a:alphaModFix/>
          </a:blip>
          <a:srcRect b="0" l="0" r="0" t="0"/>
          <a:stretch/>
        </p:blipFill>
        <p:spPr>
          <a:xfrm>
            <a:off x="-143219" y="0"/>
            <a:ext cx="9144000" cy="6858000"/>
          </a:xfrm>
          <a:prstGeom prst="rect">
            <a:avLst/>
          </a:prstGeom>
          <a:noFill/>
          <a:ln>
            <a:noFill/>
          </a:ln>
        </p:spPr>
      </p:pic>
      <p:pic>
        <p:nvPicPr>
          <p:cNvPr id="232" name="Google Shape;232;p1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233" name="Google Shape;233;p1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34" name="Google Shape;234;p1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5" name="Google Shape;235;p1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36" name="Google Shape;236;p1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37" name="Google Shape;237;p12"/>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238" name="Google Shape;238;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239" name="Google Shape;239;p12"/>
          <p:cNvSpPr txBox="1"/>
          <p:nvPr/>
        </p:nvSpPr>
        <p:spPr>
          <a:xfrm>
            <a:off x="484757" y="1061571"/>
            <a:ext cx="77754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Times New Roman"/>
                <a:ea typeface="Times New Roman"/>
                <a:cs typeface="Times New Roman"/>
                <a:sym typeface="Times New Roman"/>
              </a:rPr>
              <a:t>Fractional Knapsack Problem</a:t>
            </a:r>
            <a:endParaRPr i="0" sz="2100" u="none" cap="none" strike="noStrike">
              <a:solidFill>
                <a:schemeClr val="dk1"/>
              </a:solidFill>
              <a:latin typeface="Times New Roman"/>
              <a:ea typeface="Times New Roman"/>
              <a:cs typeface="Times New Roman"/>
              <a:sym typeface="Times New Roman"/>
            </a:endParaRPr>
          </a:p>
        </p:txBody>
      </p:sp>
      <p:sp>
        <p:nvSpPr>
          <p:cNvPr id="240" name="Google Shape;240;p12"/>
          <p:cNvSpPr/>
          <p:nvPr/>
        </p:nvSpPr>
        <p:spPr>
          <a:xfrm>
            <a:off x="253400" y="1477075"/>
            <a:ext cx="8535900" cy="5126700"/>
          </a:xfrm>
          <a:prstGeom prst="rect">
            <a:avLst/>
          </a:prstGeom>
          <a:noFill/>
          <a:ln>
            <a:noFill/>
          </a:ln>
        </p:spPr>
        <p:txBody>
          <a:bodyPr anchorCtr="0" anchor="t" bIns="45700" lIns="91425" spcFirstLastPara="1" rIns="91425" wrap="square" tIns="45700">
            <a:spAutoFit/>
          </a:bodyPr>
          <a:lstStyle/>
          <a:p>
            <a:pPr indent="-127000" lvl="0" marL="45720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fractional knapsack problem is also one of the techniques which are used to solve the knapsack problem. </a:t>
            </a:r>
            <a:endParaRPr b="0" i="0" sz="2000" u="none" cap="none" strike="noStrike">
              <a:solidFill>
                <a:schemeClr val="dk1"/>
              </a:solidFill>
              <a:latin typeface="Calibri"/>
              <a:ea typeface="Calibri"/>
              <a:cs typeface="Calibri"/>
              <a:sym typeface="Calibri"/>
            </a:endParaRPr>
          </a:p>
          <a:p>
            <a:pPr indent="-127000" lvl="0" marL="45720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In fractional knapsack, the items are broken in order to maximize the profit. </a:t>
            </a:r>
            <a:endParaRPr b="0" i="0" sz="2000" u="none" cap="none" strike="noStrike">
              <a:solidFill>
                <a:schemeClr val="dk1"/>
              </a:solidFill>
              <a:latin typeface="Calibri"/>
              <a:ea typeface="Calibri"/>
              <a:cs typeface="Calibri"/>
              <a:sym typeface="Calibri"/>
            </a:endParaRPr>
          </a:p>
          <a:p>
            <a:pPr indent="-127000" lvl="0" marL="45720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problem in which we break the item is known as a Fractional knapsack problem.</a:t>
            </a:r>
            <a:endParaRPr b="0" i="0" sz="2000" u="none" cap="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b="1" lang="en-US" sz="2000">
                <a:solidFill>
                  <a:schemeClr val="dk1"/>
                </a:solidFill>
                <a:latin typeface="Calibri"/>
                <a:ea typeface="Calibri"/>
                <a:cs typeface="Calibri"/>
                <a:sym typeface="Calibri"/>
              </a:rPr>
              <a:t>Analysis </a:t>
            </a:r>
            <a:r>
              <a:rPr lang="en-US" sz="2000">
                <a:solidFill>
                  <a:schemeClr val="dk1"/>
                </a:solidFill>
                <a:latin typeface="Calibri"/>
                <a:ea typeface="Calibri"/>
                <a:cs typeface="Calibri"/>
                <a:sym typeface="Calibri"/>
              </a:rPr>
              <a:t>-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US" sz="2000">
                <a:solidFill>
                  <a:schemeClr val="dk1"/>
                </a:solidFill>
                <a:latin typeface="Calibri"/>
                <a:ea typeface="Calibri"/>
                <a:cs typeface="Calibri"/>
                <a:sym typeface="Calibri"/>
              </a:rPr>
              <a:t>To explain this problem a little easier, consider a test with 12 questions, 10 marks each, out of which only 10 should be attempted to get the maximum mark of 100. </a:t>
            </a:r>
            <a:endParaRPr>
              <a:solidFill>
                <a:schemeClr val="dk1"/>
              </a:solidFill>
            </a:endParaRPr>
          </a:p>
          <a:p>
            <a:pPr indent="-355600" lvl="0" marL="91440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test taker now must calculate the highest profitable questions – the one that he’s confident in – to achieve the maximum mark. </a:t>
            </a:r>
            <a:endParaRPr>
              <a:solidFill>
                <a:schemeClr val="dk1"/>
              </a:solidFill>
            </a:endParaRPr>
          </a:p>
          <a:p>
            <a:pPr indent="-355600" lvl="0" marL="91440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However, he cannot attempt all the 12 questions since there will not be any extra marks awarded for those attempted answers. </a:t>
            </a:r>
            <a:endParaRPr>
              <a:solidFill>
                <a:schemeClr val="dk1"/>
              </a:solidFill>
            </a:endParaRPr>
          </a:p>
          <a:p>
            <a:pPr indent="-355600" lvl="0" marL="914400" rtl="0" algn="l">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This is the most basic real-world application of the knapsack problem.</a:t>
            </a:r>
            <a:endParaRPr sz="20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pic>
        <p:nvPicPr>
          <p:cNvPr id="245" name="Google Shape;245;p13"/>
          <p:cNvPicPr preferRelativeResize="0"/>
          <p:nvPr>
            <p:ph idx="1" type="body"/>
          </p:nvPr>
        </p:nvPicPr>
        <p:blipFill rotWithShape="1">
          <a:blip r:embed="rId3">
            <a:alphaModFix/>
          </a:blip>
          <a:srcRect b="0" l="0" r="0" t="0"/>
          <a:stretch/>
        </p:blipFill>
        <p:spPr>
          <a:xfrm>
            <a:off x="-132202" y="0"/>
            <a:ext cx="9144000" cy="7987229"/>
          </a:xfrm>
          <a:prstGeom prst="rect">
            <a:avLst/>
          </a:prstGeom>
          <a:noFill/>
          <a:ln>
            <a:noFill/>
          </a:ln>
        </p:spPr>
      </p:pic>
      <p:sp>
        <p:nvSpPr>
          <p:cNvPr id="246" name="Google Shape;246;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id="247" name="Google Shape;247;p1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248" name="Google Shape;248;p1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49" name="Google Shape;249;p1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0" name="Google Shape;250;p13"/>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51" name="Google Shape;251;p13"/>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52" name="Google Shape;252;p13"/>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253" name="Google Shape;253;p13"/>
          <p:cNvSpPr/>
          <p:nvPr/>
        </p:nvSpPr>
        <p:spPr>
          <a:xfrm>
            <a:off x="62250" y="1167800"/>
            <a:ext cx="8727000" cy="5355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Knapsack Algorithm</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weights (Wi) and profit values (Pi) of the items to be added in the knapsack are taken as an input for the fractional knapsack algorithm and the subset of the items added in the knapsack without exceeding the limit and with maximum profit is achieved as the output.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Algorithm</a:t>
            </a:r>
            <a:endParaRPr b="1" i="0" sz="1400" u="none" cap="none" strike="noStrike">
              <a:solidFill>
                <a:srgbClr val="000000"/>
              </a:solidFill>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Consider all the items with their weights and profits mentioned respectively.</a:t>
            </a:r>
            <a:endParaRPr b="0" i="0" sz="1800" u="none" cap="none" strike="noStrike">
              <a:solidFill>
                <a:schemeClr val="dk1"/>
              </a:solidFill>
              <a:latin typeface="Calibri"/>
              <a:ea typeface="Calibri"/>
              <a:cs typeface="Calibri"/>
              <a:sym typeface="Calibri"/>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Calculate P</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/W</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of all the items and sort the items in descending order based on their P</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/W</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values.</a:t>
            </a:r>
            <a:endParaRPr b="0" i="0" sz="1800" u="none" cap="none" strike="noStrike">
              <a:solidFill>
                <a:schemeClr val="dk1"/>
              </a:solidFill>
              <a:latin typeface="Calibri"/>
              <a:ea typeface="Calibri"/>
              <a:cs typeface="Calibri"/>
              <a:sym typeface="Calibri"/>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Without exceeding the limit, add the items into the knapsack.</a:t>
            </a:r>
            <a:endParaRPr b="0" i="0" sz="1800" u="none" cap="none" strike="noStrike">
              <a:solidFill>
                <a:schemeClr val="dk1"/>
              </a:solidFill>
              <a:latin typeface="Calibri"/>
              <a:ea typeface="Calibri"/>
              <a:cs typeface="Calibri"/>
              <a:sym typeface="Calibri"/>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If the knapsack can still store some weight, but the weights of other items exceed the limit, the fractional part of the next time can be added.</a:t>
            </a:r>
            <a:endParaRPr b="0" i="0" sz="1800" u="none" cap="none" strike="noStrike">
              <a:solidFill>
                <a:schemeClr val="dk1"/>
              </a:solidFill>
              <a:latin typeface="Calibri"/>
              <a:ea typeface="Calibri"/>
              <a:cs typeface="Calibri"/>
              <a:sym typeface="Calibri"/>
            </a:endParaRPr>
          </a:p>
          <a:p>
            <a:pPr indent="-114300" lvl="0" marL="4572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Hence, giving it the name fractional knapsack problem.</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pic>
        <p:nvPicPr>
          <p:cNvPr id="258" name="Google Shape;258;p14"/>
          <p:cNvPicPr preferRelativeResize="0"/>
          <p:nvPr/>
        </p:nvPicPr>
        <p:blipFill rotWithShape="1">
          <a:blip r:embed="rId3">
            <a:alphaModFix/>
          </a:blip>
          <a:srcRect b="0" l="0" r="0" t="0"/>
          <a:stretch/>
        </p:blipFill>
        <p:spPr>
          <a:xfrm>
            <a:off x="354842" y="123715"/>
            <a:ext cx="5950424" cy="831628"/>
          </a:xfrm>
          <a:prstGeom prst="rect">
            <a:avLst/>
          </a:prstGeom>
          <a:noFill/>
          <a:ln>
            <a:noFill/>
          </a:ln>
        </p:spPr>
      </p:pic>
      <p:sp>
        <p:nvSpPr>
          <p:cNvPr id="259" name="Google Shape;259;p1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60" name="Google Shape;260;p1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61" name="Google Shape;261;p14"/>
          <p:cNvSpPr txBox="1"/>
          <p:nvPr/>
        </p:nvSpPr>
        <p:spPr>
          <a:xfrm>
            <a:off x="450376" y="1501254"/>
            <a:ext cx="8338782"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Example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For the given set of items and the knapsack capacity of 10 kg, find the subset of the items to be added in the knapsack such that the profit is maximum.</a:t>
            </a:r>
            <a:endParaRPr b="0" i="0" sz="1800" u="none" cap="none" strike="noStrike">
              <a:solidFill>
                <a:schemeClr val="dk1"/>
              </a:solidFill>
              <a:latin typeface="Calibri"/>
              <a:ea typeface="Calibri"/>
              <a:cs typeface="Calibri"/>
              <a:sym typeface="Calibri"/>
            </a:endParaRPr>
          </a:p>
        </p:txBody>
      </p:sp>
      <p:sp>
        <p:nvSpPr>
          <p:cNvPr id="262" name="Google Shape;262;p1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63" name="Google Shape;263;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graphicFrame>
        <p:nvGraphicFramePr>
          <p:cNvPr id="264" name="Google Shape;264;p14"/>
          <p:cNvGraphicFramePr/>
          <p:nvPr/>
        </p:nvGraphicFramePr>
        <p:xfrm>
          <a:off x="874005" y="2739718"/>
          <a:ext cx="3000000" cy="3000000"/>
        </p:xfrm>
        <a:graphic>
          <a:graphicData uri="http://schemas.openxmlformats.org/drawingml/2006/table">
            <a:tbl>
              <a:tblPr>
                <a:noFill/>
                <a:tableStyleId>{0DA54B31-570E-4EE2-90CD-0D424257A100}</a:tableStyleId>
              </a:tblPr>
              <a:tblGrid>
                <a:gridCol w="1016000"/>
                <a:gridCol w="1016000"/>
                <a:gridCol w="1016000"/>
                <a:gridCol w="1016000"/>
                <a:gridCol w="1016000"/>
                <a:gridCol w="1016000"/>
              </a:tblGrid>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Items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6018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Weights (in kg)</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Profits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265" name="Google Shape;265;p14"/>
          <p:cNvSpPr/>
          <p:nvPr/>
        </p:nvSpPr>
        <p:spPr>
          <a:xfrm>
            <a:off x="1096178" y="4267325"/>
            <a:ext cx="45720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Solution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Step 1</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Given, n =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Wi= {3, 3, 2, 5,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Pi={ 10, 15, 10,  12, 8}</a:t>
            </a:r>
            <a:endParaRPr b="0" i="0" sz="20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pic>
        <p:nvPicPr>
          <p:cNvPr id="271" name="Google Shape;271;p15"/>
          <p:cNvPicPr preferRelativeResize="0"/>
          <p:nvPr/>
        </p:nvPicPr>
        <p:blipFill rotWithShape="1">
          <a:blip r:embed="rId3">
            <a:alphaModFix/>
          </a:blip>
          <a:srcRect b="0" l="0" r="0" t="0"/>
          <a:stretch/>
        </p:blipFill>
        <p:spPr>
          <a:xfrm>
            <a:off x="-1" y="0"/>
            <a:ext cx="9144001" cy="6858000"/>
          </a:xfrm>
          <a:prstGeom prst="rect">
            <a:avLst/>
          </a:prstGeom>
          <a:noFill/>
          <a:ln>
            <a:noFill/>
          </a:ln>
        </p:spPr>
      </p:pic>
      <p:sp>
        <p:nvSpPr>
          <p:cNvPr id="272" name="Google Shape;272;p15"/>
          <p:cNvSpPr/>
          <p:nvPr/>
        </p:nvSpPr>
        <p:spPr>
          <a:xfrm>
            <a:off x="154528" y="897741"/>
            <a:ext cx="310617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Calculate P</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/W</a:t>
            </a:r>
            <a:r>
              <a:rPr b="0" baseline="-25000" i="0" lang="en-US" sz="1800" u="none" cap="none" strike="noStrike">
                <a:solidFill>
                  <a:schemeClr val="dk1"/>
                </a:solidFill>
                <a:latin typeface="Calibri"/>
                <a:ea typeface="Calibri"/>
                <a:cs typeface="Calibri"/>
                <a:sym typeface="Calibri"/>
              </a:rPr>
              <a:t>i</a:t>
            </a:r>
            <a:r>
              <a:rPr b="0" i="0" lang="en-US" sz="1800" u="none" cap="none" strike="noStrike">
                <a:solidFill>
                  <a:schemeClr val="dk1"/>
                </a:solidFill>
                <a:latin typeface="Calibri"/>
                <a:ea typeface="Calibri"/>
                <a:cs typeface="Calibri"/>
                <a:sym typeface="Calibri"/>
              </a:rPr>
              <a:t> for all the items</a:t>
            </a:r>
            <a:endParaRPr b="0" i="0" sz="1800" u="none" cap="none" strike="noStrike">
              <a:solidFill>
                <a:schemeClr val="dk1"/>
              </a:solidFill>
              <a:latin typeface="Calibri"/>
              <a:ea typeface="Calibri"/>
              <a:cs typeface="Calibri"/>
              <a:sym typeface="Calibri"/>
            </a:endParaRPr>
          </a:p>
        </p:txBody>
      </p:sp>
      <p:graphicFrame>
        <p:nvGraphicFramePr>
          <p:cNvPr id="273" name="Google Shape;273;p15"/>
          <p:cNvGraphicFramePr/>
          <p:nvPr/>
        </p:nvGraphicFramePr>
        <p:xfrm>
          <a:off x="455364" y="1554017"/>
          <a:ext cx="3000000" cy="3000000"/>
        </p:xfrm>
        <a:graphic>
          <a:graphicData uri="http://schemas.openxmlformats.org/drawingml/2006/table">
            <a:tbl>
              <a:tblPr>
                <a:noFill/>
                <a:tableStyleId>{0DA54B31-570E-4EE2-90CD-0D424257A100}</a:tableStyleId>
              </a:tblPr>
              <a:tblGrid>
                <a:gridCol w="1016000"/>
                <a:gridCol w="1016000"/>
                <a:gridCol w="1016000"/>
                <a:gridCol w="1016000"/>
                <a:gridCol w="1016000"/>
                <a:gridCol w="1016000"/>
              </a:tblGrid>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Items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6018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Weights (in kg)</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Profits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a:t>
                      </a:r>
                      <a:r>
                        <a:rPr baseline="-25000" lang="en-US" sz="1500" u="none" cap="none" strike="noStrike"/>
                        <a:t>i</a:t>
                      </a:r>
                      <a:r>
                        <a:rPr lang="en-US" sz="1500" u="none" cap="none" strike="noStrike"/>
                        <a:t>/W</a:t>
                      </a:r>
                      <a:r>
                        <a:rPr baseline="-25000" lang="en-US" sz="1500" u="none" cap="none" strike="noStrike"/>
                        <a:t>i</a:t>
                      </a:r>
                      <a:endParaRPr sz="15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274" name="Google Shape;274;p15"/>
          <p:cNvSpPr/>
          <p:nvPr/>
        </p:nvSpPr>
        <p:spPr>
          <a:xfrm>
            <a:off x="402114" y="3496144"/>
            <a:ext cx="592156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Step 2</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alibri"/>
                <a:ea typeface="Calibri"/>
                <a:cs typeface="Calibri"/>
                <a:sym typeface="Calibri"/>
              </a:rPr>
              <a:t>Arrange all the items in descending order based on P</a:t>
            </a:r>
            <a:r>
              <a:rPr b="0" baseline="-25000" i="0" lang="en-US" sz="1400" u="none" cap="none" strike="noStrike">
                <a:solidFill>
                  <a:schemeClr val="dk1"/>
                </a:solidFill>
                <a:latin typeface="Calibri"/>
                <a:ea typeface="Calibri"/>
                <a:cs typeface="Calibri"/>
                <a:sym typeface="Calibri"/>
              </a:rPr>
              <a:t>i</a:t>
            </a:r>
            <a:r>
              <a:rPr b="0" i="0" lang="en-US" sz="1400" u="none" cap="none" strike="noStrike">
                <a:solidFill>
                  <a:schemeClr val="dk1"/>
                </a:solidFill>
                <a:latin typeface="Calibri"/>
                <a:ea typeface="Calibri"/>
                <a:cs typeface="Calibri"/>
                <a:sym typeface="Calibri"/>
              </a:rPr>
              <a:t>/W</a:t>
            </a:r>
            <a:r>
              <a:rPr b="0" baseline="-25000" i="0" lang="en-US" sz="1400" u="none" cap="none" strike="noStrike">
                <a:solidFill>
                  <a:schemeClr val="dk1"/>
                </a:solidFill>
                <a:latin typeface="Calibri"/>
                <a:ea typeface="Calibri"/>
                <a:cs typeface="Calibri"/>
                <a:sym typeface="Calibri"/>
              </a:rPr>
              <a:t>i</a:t>
            </a:r>
            <a:endParaRPr b="0" i="0" sz="1400" u="none" cap="none" strike="noStrike">
              <a:solidFill>
                <a:schemeClr val="dk1"/>
              </a:solidFill>
              <a:latin typeface="Calibri"/>
              <a:ea typeface="Calibri"/>
              <a:cs typeface="Calibri"/>
              <a:sym typeface="Calibri"/>
            </a:endParaRPr>
          </a:p>
        </p:txBody>
      </p:sp>
      <p:graphicFrame>
        <p:nvGraphicFramePr>
          <p:cNvPr id="275" name="Google Shape;275;p15"/>
          <p:cNvGraphicFramePr/>
          <p:nvPr/>
        </p:nvGraphicFramePr>
        <p:xfrm>
          <a:off x="616943" y="4594673"/>
          <a:ext cx="3000000" cy="3000000"/>
        </p:xfrm>
        <a:graphic>
          <a:graphicData uri="http://schemas.openxmlformats.org/drawingml/2006/table">
            <a:tbl>
              <a:tblPr>
                <a:noFill/>
                <a:tableStyleId>{0DA54B31-570E-4EE2-90CD-0D424257A100}</a:tableStyleId>
              </a:tblPr>
              <a:tblGrid>
                <a:gridCol w="1062525"/>
                <a:gridCol w="1062525"/>
                <a:gridCol w="1062525"/>
                <a:gridCol w="1062525"/>
                <a:gridCol w="1062525"/>
                <a:gridCol w="1062525"/>
              </a:tblGrid>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Items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6018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Weights (in kg)</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Profits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a:t>
                      </a:r>
                      <a:r>
                        <a:rPr baseline="-25000" lang="en-US" sz="1500" u="none" cap="none" strike="noStrike"/>
                        <a:t>i</a:t>
                      </a:r>
                      <a:r>
                        <a:rPr lang="en-US" sz="1500" u="none" cap="none" strike="noStrike"/>
                        <a:t>/W</a:t>
                      </a:r>
                      <a:r>
                        <a:rPr baseline="-25000" lang="en-US" sz="1500" u="none" cap="none" strike="noStrike"/>
                        <a:t>i</a:t>
                      </a:r>
                      <a:endParaRPr sz="15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pic>
        <p:nvPicPr>
          <p:cNvPr id="276" name="Google Shape;276;p1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77" name="Google Shape;277;p15"/>
          <p:cNvSpPr txBox="1"/>
          <p:nvPr/>
        </p:nvSpPr>
        <p:spPr>
          <a:xfrm>
            <a:off x="1212800" y="114725"/>
            <a:ext cx="6096000" cy="84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400">
                <a:solidFill>
                  <a:schemeClr val="lt1"/>
                </a:solidFill>
              </a:rPr>
              <a:t>Dept. of Computer Science &amp; Engineering</a:t>
            </a:r>
            <a:r>
              <a:rPr b="1" lang="en-US" sz="2300">
                <a:solidFill>
                  <a:schemeClr val="lt1"/>
                </a:solidFill>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83" name="Google Shape;283;p1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84" name="Google Shape;284;p16"/>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285" name="Google Shape;285;p16"/>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286" name="Google Shape;286;p16"/>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87" name="Google Shape;287;p16"/>
          <p:cNvSpPr txBox="1"/>
          <p:nvPr/>
        </p:nvSpPr>
        <p:spPr>
          <a:xfrm>
            <a:off x="450376" y="1211856"/>
            <a:ext cx="8338782" cy="20312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3</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Without exceeding the knapsack capacity, insert the items in the knapsack with maximum profit.</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Knapsack= {5,2,3}</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However, the knapsack can still hold 4 kg weight, but the next item having 5 kg weight will exceed the capacity.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Therefore, only 4 kg weight of the 5 kg will be added in the knapsack.</a:t>
            </a:r>
            <a:endParaRPr b="0" i="0" sz="1800" u="none" cap="none" strike="noStrike">
              <a:solidFill>
                <a:schemeClr val="dk1"/>
              </a:solidFill>
              <a:latin typeface="Calibri"/>
              <a:ea typeface="Calibri"/>
              <a:cs typeface="Calibri"/>
              <a:sym typeface="Calibri"/>
            </a:endParaRPr>
          </a:p>
        </p:txBody>
      </p:sp>
      <p:sp>
        <p:nvSpPr>
          <p:cNvPr id="288" name="Google Shape;288;p16"/>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89" name="Google Shape;289;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graphicFrame>
        <p:nvGraphicFramePr>
          <p:cNvPr id="290" name="Google Shape;290;p16"/>
          <p:cNvGraphicFramePr/>
          <p:nvPr/>
        </p:nvGraphicFramePr>
        <p:xfrm>
          <a:off x="1248579" y="3526037"/>
          <a:ext cx="3000000" cy="3000000"/>
        </p:xfrm>
        <a:graphic>
          <a:graphicData uri="http://schemas.openxmlformats.org/drawingml/2006/table">
            <a:tbl>
              <a:tblPr>
                <a:noFill/>
                <a:tableStyleId>{0DA54B31-570E-4EE2-90CD-0D424257A100}</a:tableStyleId>
              </a:tblPr>
              <a:tblGrid>
                <a:gridCol w="1016000"/>
                <a:gridCol w="1016000"/>
                <a:gridCol w="1016000"/>
                <a:gridCol w="1016000"/>
                <a:gridCol w="1016000"/>
                <a:gridCol w="1016000"/>
              </a:tblGrid>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Items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6018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Weights (in kg)</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Profits</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8</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Knapsack</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291" name="Google Shape;291;p16"/>
          <p:cNvSpPr/>
          <p:nvPr/>
        </p:nvSpPr>
        <p:spPr>
          <a:xfrm>
            <a:off x="352541" y="5541485"/>
            <a:ext cx="8295700" cy="141577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Hence, the knapsack holds the weights = [(1 * 1) + (1 * 3) + (1 * 2) + (4/5 * 5)] = 10, with maximum profit of [(1 * 8) + (1 * 15) + (1 * 10) + (4/5 * 20)] = 37.</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rgbClr val="FF0000"/>
              </a:buClr>
              <a:buSzPts val="1800"/>
              <a:buFont typeface="Noto Sans Symbols"/>
              <a:buChar char="▪"/>
            </a:pPr>
            <a:r>
              <a:rPr b="0" i="0" lang="en-US" sz="1800" u="none" cap="none" strike="noStrike">
                <a:solidFill>
                  <a:srgbClr val="FF0000"/>
                </a:solidFill>
                <a:latin typeface="Calibri"/>
                <a:ea typeface="Calibri"/>
                <a:cs typeface="Calibri"/>
                <a:sym typeface="Calibri"/>
              </a:rPr>
              <a:t>Note</a:t>
            </a:r>
            <a:r>
              <a:rPr b="0" i="0" lang="en-US" sz="1800" u="none" cap="none" strike="noStrike">
                <a:solidFill>
                  <a:schemeClr val="dk1"/>
                </a:solidFill>
                <a:latin typeface="Calibri"/>
                <a:ea typeface="Calibri"/>
                <a:cs typeface="Calibri"/>
                <a:sym typeface="Calibri"/>
              </a:rPr>
              <a:t>:- </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https://www.youtube.com/watch?v=mMhC9vuA-70</a:t>
            </a:r>
            <a:r>
              <a:rPr b="0" i="0" lang="en-US" sz="1800" u="none" cap="none" strike="noStrike">
                <a:solidFill>
                  <a:schemeClr val="dk1"/>
                </a:solidFill>
                <a:latin typeface="Calibri"/>
                <a:ea typeface="Calibri"/>
                <a:cs typeface="Calibri"/>
                <a:sym typeface="Calibri"/>
              </a:rPr>
              <a:t>  (</a:t>
            </a:r>
            <a:r>
              <a:rPr b="0" i="0" lang="en-US" sz="1400" u="none" cap="none" strike="noStrike">
                <a:solidFill>
                  <a:schemeClr val="dk1"/>
                </a:solidFill>
                <a:latin typeface="Calibri"/>
                <a:ea typeface="Calibri"/>
                <a:cs typeface="Calibri"/>
                <a:sym typeface="Calibri"/>
              </a:rPr>
              <a:t>Video Lecture link for fractionl knapsack)</a:t>
            </a:r>
            <a:endParaRPr b="0" i="0" sz="14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sp>
        <p:nvSpPr>
          <p:cNvPr id="296" name="Google Shape;296;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7" name="Google Shape;297;p17"/>
          <p:cNvPicPr preferRelativeResize="0"/>
          <p:nvPr>
            <p:ph idx="1" type="body"/>
          </p:nvPr>
        </p:nvPicPr>
        <p:blipFill rotWithShape="1">
          <a:blip r:embed="rId3">
            <a:alphaModFix/>
          </a:blip>
          <a:srcRect b="0" l="0" r="0" t="0"/>
          <a:stretch/>
        </p:blipFill>
        <p:spPr>
          <a:xfrm>
            <a:off x="-143220" y="0"/>
            <a:ext cx="9144000" cy="6858000"/>
          </a:xfrm>
          <a:prstGeom prst="rect">
            <a:avLst/>
          </a:prstGeom>
          <a:noFill/>
          <a:ln>
            <a:noFill/>
          </a:ln>
        </p:spPr>
      </p:pic>
      <p:sp>
        <p:nvSpPr>
          <p:cNvPr id="298" name="Google Shape;298;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id="299" name="Google Shape;299;p17"/>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00" name="Google Shape;300;p17"/>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01" name="Google Shape;301;p17"/>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2" name="Google Shape;302;p17"/>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3" name="Google Shape;303;p17"/>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04" name="Google Shape;304;p17"/>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5" name="Google Shape;305;p17"/>
          <p:cNvSpPr/>
          <p:nvPr/>
        </p:nvSpPr>
        <p:spPr>
          <a:xfrm>
            <a:off x="197800" y="1101700"/>
            <a:ext cx="8626800" cy="5808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Algorithm </a:t>
            </a:r>
            <a:r>
              <a:rPr b="0" i="1" lang="en-US" sz="1800" u="none" cap="none" strike="noStrike">
                <a:solidFill>
                  <a:schemeClr val="dk1"/>
                </a:solidFill>
                <a:latin typeface="Calibri"/>
                <a:ea typeface="Calibri"/>
                <a:cs typeface="Calibri"/>
                <a:sym typeface="Calibri"/>
              </a:rPr>
              <a:t>GREEDY_FRACTIONAL_KNAPSACK(X, V, W, M) </a:t>
            </a:r>
            <a:endParaRPr b="0" i="1"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Description : Solve the knapsack problem using greedy approach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 Input: X: An array of n items </a:t>
            </a:r>
            <a:endParaRPr sz="1800">
              <a:solidFill>
                <a:schemeClr val="dk1"/>
              </a:solidFill>
              <a:latin typeface="Calibri"/>
              <a:ea typeface="Calibri"/>
              <a:cs typeface="Calibri"/>
              <a:sym typeface="Calibri"/>
            </a:endParaRPr>
          </a:p>
          <a:p>
            <a:pPr indent="-342900" lvl="2" marL="13716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 V: An array of profit associated with each item</a:t>
            </a:r>
            <a:endParaRPr b="0" i="0" sz="1400" u="none" cap="none" strike="noStrike">
              <a:solidFill>
                <a:srgbClr val="000000"/>
              </a:solidFill>
              <a:latin typeface="Arial"/>
              <a:ea typeface="Arial"/>
              <a:cs typeface="Arial"/>
              <a:sym typeface="Arial"/>
            </a:endParaRPr>
          </a:p>
          <a:p>
            <a:pPr indent="-342900" lvl="2" marL="13716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 An array of weight associated with each item </a:t>
            </a:r>
            <a:endParaRPr b="0" i="0" sz="1400" u="none" cap="none" strike="noStrike">
              <a:solidFill>
                <a:srgbClr val="000000"/>
              </a:solidFill>
              <a:latin typeface="Arial"/>
              <a:ea typeface="Arial"/>
              <a:cs typeface="Arial"/>
              <a:sym typeface="Arial"/>
            </a:endParaRPr>
          </a:p>
          <a:p>
            <a:pPr indent="-342900" lvl="2" marL="137160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M: Capacity of knapsack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Output : </a:t>
            </a:r>
            <a:r>
              <a:rPr b="0" i="0" lang="en-US" sz="1800" u="none" cap="none" strike="noStrike">
                <a:solidFill>
                  <a:schemeClr val="dk1"/>
                </a:solidFill>
                <a:latin typeface="Calibri"/>
                <a:ea typeface="Calibri"/>
                <a:cs typeface="Calibri"/>
                <a:sym typeface="Calibri"/>
              </a:rPr>
              <a:t>SW: Weight of selected items SP: Profit of selected items</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 // Items are presorted in decreasing order of pi = vi / wi ratio</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 ← Φ // Set of selected items,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initially empty SW ← 0 // weight of selected items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SP ← 0 // profit of selected items</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 i ← 1 </a:t>
            </a:r>
            <a:r>
              <a:rPr b="1" i="0" lang="en-US" sz="1800" u="none" cap="none" strike="noStrike">
                <a:solidFill>
                  <a:schemeClr val="dk1"/>
                </a:solidFill>
                <a:latin typeface="Calibri"/>
                <a:ea typeface="Calibri"/>
                <a:cs typeface="Calibri"/>
                <a:sym typeface="Calibri"/>
              </a:rPr>
              <a:t>while </a:t>
            </a:r>
            <a:r>
              <a:rPr b="0" i="0" lang="en-US" sz="1800" u="none" cap="none" strike="noStrike">
                <a:solidFill>
                  <a:schemeClr val="dk1"/>
                </a:solidFill>
                <a:latin typeface="Calibri"/>
                <a:ea typeface="Calibri"/>
                <a:cs typeface="Calibri"/>
                <a:sym typeface="Calibri"/>
              </a:rPr>
              <a:t>i ≤ n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do</a:t>
            </a: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if </a:t>
            </a:r>
            <a:r>
              <a:rPr b="0" i="0" lang="en-US" sz="1800" u="none" cap="none" strike="noStrike">
                <a:solidFill>
                  <a:schemeClr val="dk1"/>
                </a:solidFill>
                <a:latin typeface="Calibri"/>
                <a:ea typeface="Calibri"/>
                <a:cs typeface="Calibri"/>
                <a:sym typeface="Calibri"/>
              </a:rPr>
              <a:t>(SW + w[i]) ≤ M </a:t>
            </a:r>
            <a:r>
              <a:rPr b="1" i="0" lang="en-US" sz="1800" u="none" cap="none" strike="noStrike">
                <a:solidFill>
                  <a:schemeClr val="dk1"/>
                </a:solidFill>
                <a:latin typeface="Calibri"/>
                <a:ea typeface="Calibri"/>
                <a:cs typeface="Calibri"/>
                <a:sym typeface="Calibri"/>
              </a:rPr>
              <a:t>then</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 S ← S ∪ X[i] SW ← SW + W[i] SP ← SP + V[i]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else</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frac ← (M - SW) / W[i] S ← S ∪ X[i] * frac // Add fraction of item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X[i] SP ← SP + V[i] * frac // Add fraction of profit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SW ← SW + W[i] * frac // Add fraction of weight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End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 ← i + 1 </a:t>
            </a:r>
            <a:r>
              <a:rPr b="1" i="0" lang="en-US" sz="1800" u="none" cap="none" strike="noStrike">
                <a:solidFill>
                  <a:schemeClr val="dk1"/>
                </a:solidFill>
                <a:latin typeface="Calibri"/>
                <a:ea typeface="Calibri"/>
                <a:cs typeface="Calibri"/>
                <a:sym typeface="Calibri"/>
              </a:rPr>
              <a:t>end</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11" name="Google Shape;311;p1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12" name="Google Shape;312;p18"/>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13" name="Google Shape;313;p18"/>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14" name="Google Shape;314;p18"/>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5" name="Google Shape;315;p18"/>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6" name="Google Shape;316;p18"/>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17" name="Google Shape;317;p18"/>
          <p:cNvSpPr txBox="1"/>
          <p:nvPr/>
        </p:nvSpPr>
        <p:spPr>
          <a:xfrm>
            <a:off x="429904" y="1401098"/>
            <a:ext cx="8229600" cy="4896464"/>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80000"/>
              </a:lnSpc>
              <a:spcBef>
                <a:spcPts val="1000"/>
              </a:spcBef>
              <a:spcAft>
                <a:spcPts val="0"/>
              </a:spcAft>
              <a:buClr>
                <a:schemeClr val="dk1"/>
              </a:buClr>
              <a:buSzPts val="2380"/>
              <a:buFont typeface="Calibri"/>
              <a:buNone/>
            </a:pPr>
            <a:r>
              <a:t/>
            </a:r>
            <a:endParaRPr b="1" i="0" sz="2380" u="none" cap="none" strike="noStrike">
              <a:solidFill>
                <a:srgbClr val="F58634"/>
              </a:solidFill>
              <a:latin typeface="Arial"/>
              <a:ea typeface="Arial"/>
              <a:cs typeface="Arial"/>
              <a:sym typeface="Arial"/>
            </a:endParaRPr>
          </a:p>
        </p:txBody>
      </p:sp>
      <p:sp>
        <p:nvSpPr>
          <p:cNvPr id="318" name="Google Shape;318;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319" name="Google Shape;319;p18"/>
          <p:cNvSpPr/>
          <p:nvPr/>
        </p:nvSpPr>
        <p:spPr>
          <a:xfrm>
            <a:off x="508376" y="1102308"/>
            <a:ext cx="7471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0-1 Knapsack  Problem</a:t>
            </a:r>
            <a:endParaRPr b="0" i="0" sz="2000" u="none" cap="none" strike="noStrike">
              <a:solidFill>
                <a:schemeClr val="dk1"/>
              </a:solidFill>
              <a:latin typeface="Calibri"/>
              <a:ea typeface="Calibri"/>
              <a:cs typeface="Calibri"/>
              <a:sym typeface="Calibri"/>
            </a:endParaRPr>
          </a:p>
        </p:txBody>
      </p:sp>
      <p:sp>
        <p:nvSpPr>
          <p:cNvPr id="320" name="Google Shape;320;p18"/>
          <p:cNvSpPr/>
          <p:nvPr/>
        </p:nvSpPr>
        <p:spPr>
          <a:xfrm>
            <a:off x="354850" y="1453600"/>
            <a:ext cx="8580000" cy="5311800"/>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The 0/1 knapsack problem means that the items are either completely or no items are filled in a knapsack.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Unlike in fractional knapsack, the items are always stored fully without using the fractional part of them.</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 Its either the item is added to the knapsack or not.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That is why, this method is known as the</a:t>
            </a:r>
            <a:r>
              <a:rPr b="1" i="0" lang="en-US" sz="2000" u="none" cap="none" strike="noStrike">
                <a:solidFill>
                  <a:schemeClr val="dk1"/>
                </a:solidFill>
                <a:latin typeface="Calibri"/>
                <a:ea typeface="Calibri"/>
                <a:cs typeface="Calibri"/>
                <a:sym typeface="Calibri"/>
              </a:rPr>
              <a:t> 0-1 Knapsack problem or Binary Knapsack</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For example, we have two items having weights 2kg and 3kg, respectively.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If we pick the 2kg item then we cannot pick 1kg item from the 2kg item (item is not divisible)</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2000">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 we have to pick the 2kg item completely.</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19"/>
          <p:cNvPicPr preferRelativeResize="0"/>
          <p:nvPr/>
        </p:nvPicPr>
        <p:blipFill rotWithShape="1">
          <a:blip r:embed="rId3">
            <a:alphaModFix/>
          </a:blip>
          <a:srcRect b="0" l="0" r="0" t="0"/>
          <a:stretch/>
        </p:blipFill>
        <p:spPr>
          <a:xfrm>
            <a:off x="-1" y="0"/>
            <a:ext cx="9144001" cy="6858000"/>
          </a:xfrm>
          <a:prstGeom prst="rect">
            <a:avLst/>
          </a:prstGeom>
          <a:noFill/>
          <a:ln>
            <a:noFill/>
          </a:ln>
        </p:spPr>
      </p:pic>
      <p:pic>
        <p:nvPicPr>
          <p:cNvPr id="327" name="Google Shape;327;p19"/>
          <p:cNvPicPr preferRelativeResize="0"/>
          <p:nvPr/>
        </p:nvPicPr>
        <p:blipFill rotWithShape="1">
          <a:blip r:embed="rId4">
            <a:alphaModFix/>
          </a:blip>
          <a:srcRect b="0" l="0" r="0" t="0"/>
          <a:stretch/>
        </p:blipFill>
        <p:spPr>
          <a:xfrm>
            <a:off x="231354" y="176271"/>
            <a:ext cx="6095946" cy="831628"/>
          </a:xfrm>
          <a:prstGeom prst="rect">
            <a:avLst/>
          </a:prstGeom>
          <a:noFill/>
          <a:ln>
            <a:noFill/>
          </a:ln>
        </p:spPr>
      </p:pic>
      <p:sp>
        <p:nvSpPr>
          <p:cNvPr id="328" name="Google Shape;328;p19"/>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29" name="Google Shape;329;p19"/>
          <p:cNvSpPr/>
          <p:nvPr/>
        </p:nvSpPr>
        <p:spPr>
          <a:xfrm>
            <a:off x="391099" y="1385627"/>
            <a:ext cx="747494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Examples for Binary Knapsack</a:t>
            </a:r>
            <a:endParaRPr b="1" i="0" sz="1800" u="none" cap="none" strike="noStrike">
              <a:solidFill>
                <a:schemeClr val="dk1"/>
              </a:solidFill>
              <a:latin typeface="Calibri"/>
              <a:ea typeface="Calibri"/>
              <a:cs typeface="Calibri"/>
              <a:sym typeface="Calibri"/>
            </a:endParaRPr>
          </a:p>
        </p:txBody>
      </p:sp>
      <p:sp>
        <p:nvSpPr>
          <p:cNvPr id="330" name="Google Shape;330;p19"/>
          <p:cNvSpPr/>
          <p:nvPr/>
        </p:nvSpPr>
        <p:spPr>
          <a:xfrm>
            <a:off x="380081" y="1895545"/>
            <a:ext cx="8036805"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Problem: Consider the following instance for the simple knapsack problem. Find the solution using the greedy method.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 = 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 = {11, 21, 31, 33, 43, 53, 55, 65}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 = {1, 11, 21, 23, 33, 43, 45, 55}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 = 110</a:t>
            </a:r>
            <a:endParaRPr b="0" i="0" sz="1800" u="none" cap="none" strike="noStrike">
              <a:solidFill>
                <a:schemeClr val="dk1"/>
              </a:solidFill>
              <a:latin typeface="Calibri"/>
              <a:ea typeface="Calibri"/>
              <a:cs typeface="Calibri"/>
              <a:sym typeface="Calibri"/>
            </a:endParaRPr>
          </a:p>
        </p:txBody>
      </p:sp>
      <p:sp>
        <p:nvSpPr>
          <p:cNvPr id="331" name="Google Shape;331;p19"/>
          <p:cNvSpPr/>
          <p:nvPr/>
        </p:nvSpPr>
        <p:spPr>
          <a:xfrm>
            <a:off x="523301" y="4039114"/>
            <a:ext cx="8047822"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Solution:</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 us arrange items by decreasing order of profit density.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Assume that items are labeled as (I</a:t>
            </a:r>
            <a:r>
              <a:rPr b="0" baseline="-25000" i="0" lang="en-US" sz="1800" u="none" cap="none" strike="noStrike">
                <a:solidFill>
                  <a:schemeClr val="dk1"/>
                </a:solidFill>
                <a:latin typeface="Calibri"/>
                <a:ea typeface="Calibri"/>
                <a:cs typeface="Calibri"/>
                <a:sym typeface="Calibri"/>
              </a:rPr>
              <a:t>1</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4</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6</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7</a:t>
            </a:r>
            <a:r>
              <a:rPr b="0" i="0" lang="en-US" sz="1800" u="none" cap="none" strike="noStrike">
                <a:solidFill>
                  <a:schemeClr val="dk1"/>
                </a:solidFill>
                <a:latin typeface="Calibri"/>
                <a:ea typeface="Calibri"/>
                <a:cs typeface="Calibri"/>
                <a:sym typeface="Calibri"/>
              </a:rPr>
              <a:t>, I</a:t>
            </a:r>
            <a:r>
              <a:rPr b="0" baseline="-25000" i="0" lang="en-US" sz="1800" u="none" cap="none" strike="noStrike">
                <a:solidFill>
                  <a:schemeClr val="dk1"/>
                </a:solidFill>
                <a:latin typeface="Calibri"/>
                <a:ea typeface="Calibri"/>
                <a:cs typeface="Calibri"/>
                <a:sym typeface="Calibri"/>
              </a:rPr>
              <a:t>8</a:t>
            </a:r>
            <a:r>
              <a:rPr b="0" i="0" lang="en-US" sz="1800" u="none" cap="none" strike="noStrike">
                <a:solidFill>
                  <a:schemeClr val="dk1"/>
                </a:solidFill>
                <a:latin typeface="Calibri"/>
                <a:ea typeface="Calibri"/>
                <a:cs typeface="Calibri"/>
                <a:sym typeface="Calibri"/>
              </a:rPr>
              <a:t>),  have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profit P = {11, 21, 31, 33, 43, 53, 55, 65} and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W = {1, 11, 21, 23, 33, 43, 45, 55}.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37" name="Google Shape;337;p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38" name="Google Shape;338;p2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39" name="Google Shape;339;p2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40" name="Google Shape;340;p2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1" name="Google Shape;341;p2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42" name="Google Shape;342;p2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43" name="Google Shape;343;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graphicFrame>
        <p:nvGraphicFramePr>
          <p:cNvPr id="344" name="Google Shape;344;p20"/>
          <p:cNvGraphicFramePr/>
          <p:nvPr/>
        </p:nvGraphicFramePr>
        <p:xfrm>
          <a:off x="631633" y="1366824"/>
          <a:ext cx="3000000" cy="3000000"/>
        </p:xfrm>
        <a:graphic>
          <a:graphicData uri="http://schemas.openxmlformats.org/drawingml/2006/table">
            <a:tbl>
              <a:tblPr>
                <a:noFill/>
                <a:tableStyleId>{0DA54B31-570E-4EE2-90CD-0D424257A100}</a:tableStyleId>
              </a:tblPr>
              <a:tblGrid>
                <a:gridCol w="1524000"/>
                <a:gridCol w="1524000"/>
                <a:gridCol w="1524000"/>
                <a:gridCol w="1524000"/>
              </a:tblGrid>
              <a:tr h="32850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Item</a:t>
                      </a:r>
                      <a:endParaRPr sz="1600" u="none" cap="none" strike="noStrike"/>
                    </a:p>
                  </a:txBody>
                  <a:tcPr marT="42325" marB="42325" marR="42325" marL="42325" anchor="ctr">
                    <a:lnL cap="flat" cmpd="sng" w="9525">
                      <a:solidFill>
                        <a:srgbClr val="10559B"/>
                      </a:solidFill>
                      <a:prstDash val="solid"/>
                      <a:round/>
                      <a:headEnd len="sm" w="sm" type="none"/>
                      <a:tailEnd len="sm" w="sm" type="none"/>
                    </a:lnL>
                    <a:lnR cap="flat" cmpd="sng" w="9525">
                      <a:solidFill>
                        <a:srgbClr val="D07346"/>
                      </a:solidFill>
                      <a:prstDash val="solid"/>
                      <a:round/>
                      <a:headEnd len="sm" w="sm" type="none"/>
                      <a:tailEnd len="sm" w="sm" type="none"/>
                    </a:lnR>
                    <a:lnT cap="flat" cmpd="sng" w="9525">
                      <a:solidFill>
                        <a:srgbClr val="E0559B"/>
                      </a:solidFill>
                      <a:prstDash val="solid"/>
                      <a:round/>
                      <a:headEnd len="sm" w="sm" type="none"/>
                      <a:tailEnd len="sm" w="sm" type="none"/>
                    </a:lnT>
                    <a:lnB cap="flat" cmpd="sng" w="9525">
                      <a:solidFill>
                        <a:srgbClr val="70569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Weight</a:t>
                      </a:r>
                      <a:endParaRPr sz="1600" u="none" cap="none" strike="noStrike"/>
                    </a:p>
                  </a:txBody>
                  <a:tcPr marT="42325" marB="42325" marR="42325" marL="42325" anchor="ctr">
                    <a:lnL cap="flat" cmpd="sng" w="9525">
                      <a:solidFill>
                        <a:srgbClr val="D07346"/>
                      </a:solidFill>
                      <a:prstDash val="solid"/>
                      <a:round/>
                      <a:headEnd len="sm" w="sm" type="none"/>
                      <a:tailEnd len="sm" w="sm" type="none"/>
                    </a:lnL>
                    <a:lnR cap="flat" cmpd="sng" w="9525">
                      <a:solidFill>
                        <a:srgbClr val="B0C6CD"/>
                      </a:solidFill>
                      <a:prstDash val="solid"/>
                      <a:round/>
                      <a:headEnd len="sm" w="sm" type="none"/>
                      <a:tailEnd len="sm" w="sm" type="none"/>
                    </a:lnR>
                    <a:lnT cap="flat" cmpd="sng" w="9525">
                      <a:solidFill>
                        <a:srgbClr val="E0539B"/>
                      </a:solidFill>
                      <a:prstDash val="solid"/>
                      <a:round/>
                      <a:headEnd len="sm" w="sm" type="none"/>
                      <a:tailEnd len="sm" w="sm" type="none"/>
                    </a:lnT>
                    <a:lnB cap="flat" cmpd="sng" w="9525">
                      <a:solidFill>
                        <a:srgbClr val="50589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latin typeface="Arial"/>
                          <a:ea typeface="Arial"/>
                          <a:cs typeface="Arial"/>
                          <a:sym typeface="Arial"/>
                        </a:rPr>
                        <a:t>Value</a:t>
                      </a:r>
                      <a:endParaRPr sz="1600" u="none" cap="none" strike="noStrike"/>
                    </a:p>
                  </a:txBody>
                  <a:tcPr marT="42325" marB="42325" marR="42325" marL="42325" anchor="ctr">
                    <a:lnL cap="flat" cmpd="sng" w="9525">
                      <a:solidFill>
                        <a:srgbClr val="B0C6CD"/>
                      </a:solidFill>
                      <a:prstDash val="solid"/>
                      <a:round/>
                      <a:headEnd len="sm" w="sm" type="none"/>
                      <a:tailEnd len="sm" w="sm" type="none"/>
                    </a:lnL>
                    <a:lnR cap="flat" cmpd="sng" w="9525">
                      <a:solidFill>
                        <a:srgbClr val="30569B"/>
                      </a:solidFill>
                      <a:prstDash val="solid"/>
                      <a:round/>
                      <a:headEnd len="sm" w="sm" type="none"/>
                      <a:tailEnd len="sm" w="sm" type="none"/>
                    </a:lnR>
                    <a:lnT cap="flat" cmpd="sng" w="9525">
                      <a:solidFill>
                        <a:srgbClr val="A0559B"/>
                      </a:solidFill>
                      <a:prstDash val="solid"/>
                      <a:round/>
                      <a:headEnd len="sm" w="sm" type="none"/>
                      <a:tailEnd len="sm" w="sm" type="none"/>
                    </a:lnT>
                    <a:lnB cap="flat" cmpd="sng" w="9525">
                      <a:solidFill>
                        <a:srgbClr val="E0CCCD"/>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i="1" lang="en-US" sz="1600" u="none" cap="none" strike="noStrike">
                          <a:latin typeface="Arial"/>
                          <a:ea typeface="Arial"/>
                          <a:cs typeface="Arial"/>
                          <a:sym typeface="Arial"/>
                        </a:rPr>
                        <a:t>p</a:t>
                      </a:r>
                      <a:r>
                        <a:rPr b="1" baseline="-25000" i="1" lang="en-US" sz="1600" u="none" cap="none" strike="noStrike">
                          <a:latin typeface="Arial"/>
                          <a:ea typeface="Arial"/>
                          <a:cs typeface="Arial"/>
                          <a:sym typeface="Arial"/>
                        </a:rPr>
                        <a:t>i</a:t>
                      </a:r>
                      <a:r>
                        <a:rPr b="1" i="1" lang="en-US" sz="1600" u="none" cap="none" strike="noStrike">
                          <a:latin typeface="Arial"/>
                          <a:ea typeface="Arial"/>
                          <a:cs typeface="Arial"/>
                          <a:sym typeface="Arial"/>
                        </a:rPr>
                        <a:t> = v</a:t>
                      </a:r>
                      <a:r>
                        <a:rPr b="1" baseline="-25000" i="1" lang="en-US" sz="1600" u="none" cap="none" strike="noStrike">
                          <a:latin typeface="Arial"/>
                          <a:ea typeface="Arial"/>
                          <a:cs typeface="Arial"/>
                          <a:sym typeface="Arial"/>
                        </a:rPr>
                        <a:t>i</a:t>
                      </a:r>
                      <a:r>
                        <a:rPr b="1" i="1" lang="en-US" sz="1600" u="none" cap="none" strike="noStrike">
                          <a:latin typeface="Arial"/>
                          <a:ea typeface="Arial"/>
                          <a:cs typeface="Arial"/>
                          <a:sym typeface="Arial"/>
                        </a:rPr>
                        <a:t> / w</a:t>
                      </a:r>
                      <a:r>
                        <a:rPr b="1" baseline="-25000" i="1" lang="en-US" sz="1600" u="none" cap="none" strike="noStrike">
                          <a:latin typeface="Arial"/>
                          <a:ea typeface="Arial"/>
                          <a:cs typeface="Arial"/>
                          <a:sym typeface="Arial"/>
                        </a:rPr>
                        <a:t>i</a:t>
                      </a:r>
                      <a:endParaRPr sz="1600" u="none" cap="none" strike="noStrike"/>
                    </a:p>
                  </a:txBody>
                  <a:tcPr marT="42325" marB="42325" marR="42325" marL="42325" anchor="ctr">
                    <a:lnL cap="flat" cmpd="sng" w="9525">
                      <a:solidFill>
                        <a:srgbClr val="30569B"/>
                      </a:solidFill>
                      <a:prstDash val="solid"/>
                      <a:round/>
                      <a:headEnd len="sm" w="sm" type="none"/>
                      <a:tailEnd len="sm" w="sm" type="none"/>
                    </a:lnL>
                    <a:lnR cap="flat" cmpd="sng" w="9525">
                      <a:solidFill>
                        <a:srgbClr val="A0559B"/>
                      </a:solidFill>
                      <a:prstDash val="solid"/>
                      <a:round/>
                      <a:headEnd len="sm" w="sm" type="none"/>
                      <a:tailEnd len="sm" w="sm" type="none"/>
                    </a:lnR>
                    <a:lnT cap="flat" cmpd="sng" w="9525">
                      <a:solidFill>
                        <a:srgbClr val="D0559B"/>
                      </a:solidFill>
                      <a:prstDash val="solid"/>
                      <a:round/>
                      <a:headEnd len="sm" w="sm" type="none"/>
                      <a:tailEnd len="sm" w="sm" type="none"/>
                    </a:lnT>
                    <a:lnB cap="flat" cmpd="sng" w="9525">
                      <a:solidFill>
                        <a:srgbClr val="D05B9B"/>
                      </a:solidFill>
                      <a:prstDash val="solid"/>
                      <a:round/>
                      <a:headEnd len="sm" w="sm" type="none"/>
                      <a:tailEnd len="sm" w="sm" type="none"/>
                    </a:lnB>
                    <a:solidFill>
                      <a:srgbClr val="FFFFFF"/>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1</a:t>
                      </a:r>
                      <a:endParaRPr sz="1600" u="none" cap="none" strike="noStrike"/>
                    </a:p>
                  </a:txBody>
                  <a:tcPr marT="42325" marB="42325" marR="42325" marL="42325" anchor="ctr">
                    <a:lnL cap="flat" cmpd="sng" w="9525">
                      <a:solidFill>
                        <a:srgbClr val="40C8CD"/>
                      </a:solidFill>
                      <a:prstDash val="solid"/>
                      <a:round/>
                      <a:headEnd len="sm" w="sm" type="none"/>
                      <a:tailEnd len="sm" w="sm" type="none"/>
                    </a:lnL>
                    <a:lnR cap="flat" cmpd="sng" w="9525">
                      <a:solidFill>
                        <a:srgbClr val="D05A9B"/>
                      </a:solidFill>
                      <a:prstDash val="solid"/>
                      <a:round/>
                      <a:headEnd len="sm" w="sm" type="none"/>
                      <a:tailEnd len="sm" w="sm" type="none"/>
                    </a:lnR>
                    <a:lnT cap="flat" cmpd="sng" w="9525">
                      <a:solidFill>
                        <a:srgbClr val="70569B"/>
                      </a:solidFill>
                      <a:prstDash val="solid"/>
                      <a:round/>
                      <a:headEnd len="sm" w="sm" type="none"/>
                      <a:tailEnd len="sm" w="sm" type="none"/>
                    </a:lnT>
                    <a:lnB cap="flat" cmpd="sng" w="9525">
                      <a:solidFill>
                        <a:srgbClr val="505C9B"/>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a:t>
                      </a:r>
                      <a:endParaRPr sz="1400" u="none" cap="none" strike="noStrike"/>
                    </a:p>
                  </a:txBody>
                  <a:tcPr marT="42325" marB="42325" marR="42325" marL="42325" anchor="ctr">
                    <a:lnL cap="flat" cmpd="sng" w="9525">
                      <a:solidFill>
                        <a:srgbClr val="D05A9B"/>
                      </a:solidFill>
                      <a:prstDash val="solid"/>
                      <a:round/>
                      <a:headEnd len="sm" w="sm" type="none"/>
                      <a:tailEnd len="sm" w="sm" type="none"/>
                    </a:lnL>
                    <a:lnR cap="flat" cmpd="sng" w="9525">
                      <a:solidFill>
                        <a:srgbClr val="905B9B"/>
                      </a:solidFill>
                      <a:prstDash val="solid"/>
                      <a:round/>
                      <a:headEnd len="sm" w="sm" type="none"/>
                      <a:tailEnd len="sm" w="sm" type="none"/>
                    </a:lnR>
                    <a:lnT cap="flat" cmpd="sng" w="9525">
                      <a:solidFill>
                        <a:srgbClr val="50589B"/>
                      </a:solidFill>
                      <a:prstDash val="solid"/>
                      <a:round/>
                      <a:headEnd len="sm" w="sm" type="none"/>
                      <a:tailEnd len="sm" w="sm" type="none"/>
                    </a:lnT>
                    <a:lnB cap="flat" cmpd="sng" w="9525">
                      <a:solidFill>
                        <a:srgbClr val="105D9B"/>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11</a:t>
                      </a:r>
                      <a:endParaRPr sz="1400" u="none" cap="none" strike="noStrike"/>
                    </a:p>
                  </a:txBody>
                  <a:tcPr marT="42325" marB="42325" marR="42325" marL="42325" anchor="ctr">
                    <a:lnL cap="flat" cmpd="sng" w="9525">
                      <a:solidFill>
                        <a:srgbClr val="905B9B"/>
                      </a:solidFill>
                      <a:prstDash val="solid"/>
                      <a:round/>
                      <a:headEnd len="sm" w="sm" type="none"/>
                      <a:tailEnd len="sm" w="sm" type="none"/>
                    </a:lnL>
                    <a:lnR cap="flat" cmpd="sng" w="9525">
                      <a:solidFill>
                        <a:srgbClr val="205C9B"/>
                      </a:solidFill>
                      <a:prstDash val="solid"/>
                      <a:round/>
                      <a:headEnd len="sm" w="sm" type="none"/>
                      <a:tailEnd len="sm" w="sm" type="none"/>
                    </a:lnR>
                    <a:lnT cap="flat" cmpd="sng" w="9525">
                      <a:solidFill>
                        <a:srgbClr val="E0CCCD"/>
                      </a:solidFill>
                      <a:prstDash val="solid"/>
                      <a:round/>
                      <a:headEnd len="sm" w="sm" type="none"/>
                      <a:tailEnd len="sm" w="sm" type="none"/>
                    </a:lnT>
                    <a:lnB cap="flat" cmpd="sng" w="9525">
                      <a:solidFill>
                        <a:srgbClr val="705D9B"/>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11.0</a:t>
                      </a:r>
                      <a:endParaRPr sz="1400" u="none" cap="none" strike="noStrike"/>
                    </a:p>
                  </a:txBody>
                  <a:tcPr marT="42325" marB="42325" marR="42325" marL="42325" anchor="ctr">
                    <a:lnL cap="flat" cmpd="sng" w="9525">
                      <a:solidFill>
                        <a:srgbClr val="205C9B"/>
                      </a:solidFill>
                      <a:prstDash val="solid"/>
                      <a:round/>
                      <a:headEnd len="sm" w="sm" type="none"/>
                      <a:tailEnd len="sm" w="sm" type="none"/>
                    </a:lnL>
                    <a:lnR cap="flat" cmpd="sng" w="9525">
                      <a:solidFill>
                        <a:srgbClr val="305B9B"/>
                      </a:solidFill>
                      <a:prstDash val="solid"/>
                      <a:round/>
                      <a:headEnd len="sm" w="sm" type="none"/>
                      <a:tailEnd len="sm" w="sm" type="none"/>
                    </a:lnR>
                    <a:lnT cap="flat" cmpd="sng" w="9525">
                      <a:solidFill>
                        <a:srgbClr val="D05B9B"/>
                      </a:solidFill>
                      <a:prstDash val="solid"/>
                      <a:round/>
                      <a:headEnd len="sm" w="sm" type="none"/>
                      <a:tailEnd len="sm" w="sm" type="none"/>
                    </a:lnT>
                    <a:lnB cap="flat" cmpd="sng" w="9525">
                      <a:solidFill>
                        <a:srgbClr val="F05D9B"/>
                      </a:solidFill>
                      <a:prstDash val="solid"/>
                      <a:round/>
                      <a:headEnd len="sm" w="sm" type="none"/>
                      <a:tailEnd len="sm" w="sm" type="none"/>
                    </a:lnB>
                    <a:solidFill>
                      <a:srgbClr val="F1F1F1"/>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2</a:t>
                      </a:r>
                      <a:endParaRPr sz="1600" u="none" cap="none" strike="noStrike"/>
                    </a:p>
                  </a:txBody>
                  <a:tcPr marT="42325" marB="42325" marR="42325" marL="42325" anchor="ctr">
                    <a:lnL cap="flat" cmpd="sng" w="9525">
                      <a:solidFill>
                        <a:srgbClr val="A05C9B"/>
                      </a:solidFill>
                      <a:prstDash val="solid"/>
                      <a:round/>
                      <a:headEnd len="sm" w="sm" type="none"/>
                      <a:tailEnd len="sm" w="sm" type="none"/>
                    </a:lnL>
                    <a:lnR cap="flat" cmpd="sng" w="9525">
                      <a:solidFill>
                        <a:srgbClr val="405D9B"/>
                      </a:solidFill>
                      <a:prstDash val="solid"/>
                      <a:round/>
                      <a:headEnd len="sm" w="sm" type="none"/>
                      <a:tailEnd len="sm" w="sm" type="none"/>
                    </a:lnR>
                    <a:lnT cap="flat" cmpd="sng" w="9525">
                      <a:solidFill>
                        <a:srgbClr val="505C9B"/>
                      </a:solidFill>
                      <a:prstDash val="solid"/>
                      <a:round/>
                      <a:headEnd len="sm" w="sm" type="none"/>
                      <a:tailEnd len="sm" w="sm" type="none"/>
                    </a:lnT>
                    <a:lnB cap="flat" cmpd="sng" w="9525">
                      <a:solidFill>
                        <a:srgbClr val="D05E9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11</a:t>
                      </a:r>
                      <a:endParaRPr sz="1400" u="none" cap="none" strike="noStrike"/>
                    </a:p>
                  </a:txBody>
                  <a:tcPr marT="42325" marB="42325" marR="42325" marL="42325" anchor="ctr">
                    <a:lnL cap="flat" cmpd="sng" w="9525">
                      <a:solidFill>
                        <a:srgbClr val="405D9B"/>
                      </a:solidFill>
                      <a:prstDash val="solid"/>
                      <a:round/>
                      <a:headEnd len="sm" w="sm" type="none"/>
                      <a:tailEnd len="sm" w="sm" type="none"/>
                    </a:lnL>
                    <a:lnR cap="flat" cmpd="sng" w="9525">
                      <a:solidFill>
                        <a:srgbClr val="C05D9B"/>
                      </a:solidFill>
                      <a:prstDash val="solid"/>
                      <a:round/>
                      <a:headEnd len="sm" w="sm" type="none"/>
                      <a:tailEnd len="sm" w="sm" type="none"/>
                    </a:lnR>
                    <a:lnT cap="flat" cmpd="sng" w="9525">
                      <a:solidFill>
                        <a:srgbClr val="105D9B"/>
                      </a:solidFill>
                      <a:prstDash val="solid"/>
                      <a:round/>
                      <a:headEnd len="sm" w="sm" type="none"/>
                      <a:tailEnd len="sm" w="sm" type="none"/>
                    </a:lnT>
                    <a:lnB cap="flat" cmpd="sng" w="9525">
                      <a:solidFill>
                        <a:srgbClr val="605F9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21</a:t>
                      </a:r>
                      <a:endParaRPr sz="1400" u="none" cap="none" strike="noStrike"/>
                    </a:p>
                  </a:txBody>
                  <a:tcPr marT="42325" marB="42325" marR="42325" marL="42325" anchor="ctr">
                    <a:lnL cap="flat" cmpd="sng" w="9525">
                      <a:solidFill>
                        <a:srgbClr val="C05D9B"/>
                      </a:solidFill>
                      <a:prstDash val="solid"/>
                      <a:round/>
                      <a:headEnd len="sm" w="sm" type="none"/>
                      <a:tailEnd len="sm" w="sm" type="none"/>
                    </a:lnL>
                    <a:lnR cap="flat" cmpd="sng" w="9525">
                      <a:solidFill>
                        <a:srgbClr val="805E9B"/>
                      </a:solidFill>
                      <a:prstDash val="solid"/>
                      <a:round/>
                      <a:headEnd len="sm" w="sm" type="none"/>
                      <a:tailEnd len="sm" w="sm" type="none"/>
                    </a:lnR>
                    <a:lnT cap="flat" cmpd="sng" w="9525">
                      <a:solidFill>
                        <a:srgbClr val="705D9B"/>
                      </a:solidFill>
                      <a:prstDash val="solid"/>
                      <a:round/>
                      <a:headEnd len="sm" w="sm" type="none"/>
                      <a:tailEnd len="sm" w="sm" type="none"/>
                    </a:lnT>
                    <a:lnB cap="flat" cmpd="sng" w="9525">
                      <a:solidFill>
                        <a:srgbClr val="F05F9B"/>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1.91</a:t>
                      </a:r>
                      <a:endParaRPr sz="1400" u="none" cap="none" strike="noStrike"/>
                    </a:p>
                  </a:txBody>
                  <a:tcPr marT="42325" marB="42325" marR="42325" marL="42325" anchor="ctr">
                    <a:lnL cap="flat" cmpd="sng" w="9525">
                      <a:solidFill>
                        <a:srgbClr val="805E9B"/>
                      </a:solidFill>
                      <a:prstDash val="solid"/>
                      <a:round/>
                      <a:headEnd len="sm" w="sm" type="none"/>
                      <a:tailEnd len="sm" w="sm" type="none"/>
                    </a:lnL>
                    <a:lnR cap="flat" cmpd="sng" w="9525">
                      <a:solidFill>
                        <a:srgbClr val="E05C9B"/>
                      </a:solidFill>
                      <a:prstDash val="solid"/>
                      <a:round/>
                      <a:headEnd len="sm" w="sm" type="none"/>
                      <a:tailEnd len="sm" w="sm" type="none"/>
                    </a:lnR>
                    <a:lnT cap="flat" cmpd="sng" w="9525">
                      <a:solidFill>
                        <a:srgbClr val="F05D9B"/>
                      </a:solidFill>
                      <a:prstDash val="solid"/>
                      <a:round/>
                      <a:headEnd len="sm" w="sm" type="none"/>
                      <a:tailEnd len="sm" w="sm" type="none"/>
                    </a:lnT>
                    <a:lnB cap="flat" cmpd="sng" w="9525">
                      <a:solidFill>
                        <a:srgbClr val="60509F"/>
                      </a:solidFill>
                      <a:prstDash val="solid"/>
                      <a:round/>
                      <a:headEnd len="sm" w="sm" type="none"/>
                      <a:tailEnd len="sm" w="sm" type="none"/>
                    </a:lnB>
                    <a:solidFill>
                      <a:srgbClr val="FFFFFF"/>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3</a:t>
                      </a:r>
                      <a:endParaRPr sz="1600" u="none" cap="none" strike="noStrike"/>
                    </a:p>
                  </a:txBody>
                  <a:tcPr marT="42325" marB="42325" marR="42325" marL="42325" anchor="ctr">
                    <a:lnL cap="flat" cmpd="sng" w="9525">
                      <a:solidFill>
                        <a:srgbClr val="205F9B"/>
                      </a:solidFill>
                      <a:prstDash val="solid"/>
                      <a:round/>
                      <a:headEnd len="sm" w="sm" type="none"/>
                      <a:tailEnd len="sm" w="sm" type="none"/>
                    </a:lnL>
                    <a:lnR cap="flat" cmpd="sng" w="9525">
                      <a:solidFill>
                        <a:srgbClr val="B05F9B"/>
                      </a:solidFill>
                      <a:prstDash val="solid"/>
                      <a:round/>
                      <a:headEnd len="sm" w="sm" type="none"/>
                      <a:tailEnd len="sm" w="sm" type="none"/>
                    </a:lnR>
                    <a:lnT cap="flat" cmpd="sng" w="9525">
                      <a:solidFill>
                        <a:srgbClr val="D05E9B"/>
                      </a:solidFill>
                      <a:prstDash val="solid"/>
                      <a:round/>
                      <a:headEnd len="sm" w="sm" type="none"/>
                      <a:tailEnd len="sm" w="sm" type="none"/>
                    </a:lnT>
                    <a:lnB cap="flat" cmpd="sng" w="9525">
                      <a:solidFill>
                        <a:srgbClr val="C050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21</a:t>
                      </a:r>
                      <a:endParaRPr sz="1400" u="none" cap="none" strike="noStrike"/>
                    </a:p>
                  </a:txBody>
                  <a:tcPr marT="42325" marB="42325" marR="42325" marL="42325" anchor="ctr">
                    <a:lnL cap="flat" cmpd="sng" w="9525">
                      <a:solidFill>
                        <a:srgbClr val="B05F9B"/>
                      </a:solidFill>
                      <a:prstDash val="solid"/>
                      <a:round/>
                      <a:headEnd len="sm" w="sm" type="none"/>
                      <a:tailEnd len="sm" w="sm" type="none"/>
                    </a:lnL>
                    <a:lnR cap="flat" cmpd="sng" w="9525">
                      <a:solidFill>
                        <a:srgbClr val="40509F"/>
                      </a:solidFill>
                      <a:prstDash val="solid"/>
                      <a:round/>
                      <a:headEnd len="sm" w="sm" type="none"/>
                      <a:tailEnd len="sm" w="sm" type="none"/>
                    </a:lnR>
                    <a:lnT cap="flat" cmpd="sng" w="9525">
                      <a:solidFill>
                        <a:srgbClr val="605F9B"/>
                      </a:solidFill>
                      <a:prstDash val="solid"/>
                      <a:round/>
                      <a:headEnd len="sm" w="sm" type="none"/>
                      <a:tailEnd len="sm" w="sm" type="none"/>
                    </a:lnT>
                    <a:lnB cap="flat" cmpd="sng" w="9525">
                      <a:solidFill>
                        <a:srgbClr val="2051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31</a:t>
                      </a:r>
                      <a:endParaRPr sz="1400" u="none" cap="none" strike="noStrike"/>
                    </a:p>
                  </a:txBody>
                  <a:tcPr marT="42325" marB="42325" marR="42325" marL="42325" anchor="ctr">
                    <a:lnL cap="flat" cmpd="sng" w="9525">
                      <a:solidFill>
                        <a:srgbClr val="40509F"/>
                      </a:solidFill>
                      <a:prstDash val="solid"/>
                      <a:round/>
                      <a:headEnd len="sm" w="sm" type="none"/>
                      <a:tailEnd len="sm" w="sm" type="none"/>
                    </a:lnL>
                    <a:lnR cap="flat" cmpd="sng" w="9525">
                      <a:solidFill>
                        <a:srgbClr val="A0509F"/>
                      </a:solidFill>
                      <a:prstDash val="solid"/>
                      <a:round/>
                      <a:headEnd len="sm" w="sm" type="none"/>
                      <a:tailEnd len="sm" w="sm" type="none"/>
                    </a:lnR>
                    <a:lnT cap="flat" cmpd="sng" w="9525">
                      <a:solidFill>
                        <a:srgbClr val="F05F9B"/>
                      </a:solidFill>
                      <a:prstDash val="solid"/>
                      <a:round/>
                      <a:headEnd len="sm" w="sm" type="none"/>
                      <a:tailEnd len="sm" w="sm" type="none"/>
                    </a:lnT>
                    <a:lnB cap="flat" cmpd="sng" w="9525">
                      <a:solidFill>
                        <a:srgbClr val="8051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1.48</a:t>
                      </a:r>
                      <a:endParaRPr sz="1400" u="none" cap="none" strike="noStrike"/>
                    </a:p>
                  </a:txBody>
                  <a:tcPr marT="42325" marB="42325" marR="42325" marL="42325" anchor="ctr">
                    <a:lnL cap="flat" cmpd="sng" w="9525">
                      <a:solidFill>
                        <a:srgbClr val="A0509F"/>
                      </a:solidFill>
                      <a:prstDash val="solid"/>
                      <a:round/>
                      <a:headEnd len="sm" w="sm" type="none"/>
                      <a:tailEnd len="sm" w="sm" type="none"/>
                    </a:lnL>
                    <a:lnR cap="flat" cmpd="sng" w="9525">
                      <a:solidFill>
                        <a:srgbClr val="D05F9B"/>
                      </a:solidFill>
                      <a:prstDash val="solid"/>
                      <a:round/>
                      <a:headEnd len="sm" w="sm" type="none"/>
                      <a:tailEnd len="sm" w="sm" type="none"/>
                    </a:lnR>
                    <a:lnT cap="flat" cmpd="sng" w="9525">
                      <a:solidFill>
                        <a:srgbClr val="60509F"/>
                      </a:solidFill>
                      <a:prstDash val="solid"/>
                      <a:round/>
                      <a:headEnd len="sm" w="sm" type="none"/>
                      <a:tailEnd len="sm" w="sm" type="none"/>
                    </a:lnT>
                    <a:lnB cap="flat" cmpd="sng" w="9525">
                      <a:solidFill>
                        <a:srgbClr val="F0519F"/>
                      </a:solidFill>
                      <a:prstDash val="solid"/>
                      <a:round/>
                      <a:headEnd len="sm" w="sm" type="none"/>
                      <a:tailEnd len="sm" w="sm" type="none"/>
                    </a:lnB>
                    <a:solidFill>
                      <a:srgbClr val="F1F1F1"/>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4</a:t>
                      </a:r>
                      <a:endParaRPr sz="1600" u="none" cap="none" strike="noStrike"/>
                    </a:p>
                  </a:txBody>
                  <a:tcPr marT="42325" marB="42325" marR="42325" marL="42325" anchor="ctr">
                    <a:lnL cap="flat" cmpd="sng" w="9525">
                      <a:solidFill>
                        <a:srgbClr val="00519F"/>
                      </a:solidFill>
                      <a:prstDash val="solid"/>
                      <a:round/>
                      <a:headEnd len="sm" w="sm" type="none"/>
                      <a:tailEnd len="sm" w="sm" type="none"/>
                    </a:lnL>
                    <a:lnR cap="flat" cmpd="sng" w="9525">
                      <a:solidFill>
                        <a:srgbClr val="40519F"/>
                      </a:solidFill>
                      <a:prstDash val="solid"/>
                      <a:round/>
                      <a:headEnd len="sm" w="sm" type="none"/>
                      <a:tailEnd len="sm" w="sm" type="none"/>
                    </a:lnR>
                    <a:lnT cap="flat" cmpd="sng" w="9525">
                      <a:solidFill>
                        <a:srgbClr val="C0509F"/>
                      </a:solidFill>
                      <a:prstDash val="solid"/>
                      <a:round/>
                      <a:headEnd len="sm" w="sm" type="none"/>
                      <a:tailEnd len="sm" w="sm" type="none"/>
                    </a:lnT>
                    <a:lnB cap="flat" cmpd="sng" w="9525">
                      <a:solidFill>
                        <a:srgbClr val="5052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23</a:t>
                      </a:r>
                      <a:endParaRPr sz="1400" u="none" cap="none" strike="noStrike"/>
                    </a:p>
                  </a:txBody>
                  <a:tcPr marT="42325" marB="42325" marR="42325" marL="42325" anchor="ctr">
                    <a:lnL cap="flat" cmpd="sng" w="9525">
                      <a:solidFill>
                        <a:srgbClr val="40519F"/>
                      </a:solidFill>
                      <a:prstDash val="solid"/>
                      <a:round/>
                      <a:headEnd len="sm" w="sm" type="none"/>
                      <a:tailEnd len="sm" w="sm" type="none"/>
                    </a:lnL>
                    <a:lnR cap="flat" cmpd="sng" w="9525">
                      <a:solidFill>
                        <a:srgbClr val="D0519F"/>
                      </a:solidFill>
                      <a:prstDash val="solid"/>
                      <a:round/>
                      <a:headEnd len="sm" w="sm" type="none"/>
                      <a:tailEnd len="sm" w="sm" type="none"/>
                    </a:lnR>
                    <a:lnT cap="flat" cmpd="sng" w="9525">
                      <a:solidFill>
                        <a:srgbClr val="20519F"/>
                      </a:solidFill>
                      <a:prstDash val="solid"/>
                      <a:round/>
                      <a:headEnd len="sm" w="sm" type="none"/>
                      <a:tailEnd len="sm" w="sm" type="none"/>
                    </a:lnT>
                    <a:lnB cap="flat" cmpd="sng" w="9525">
                      <a:solidFill>
                        <a:srgbClr val="B052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33</a:t>
                      </a:r>
                      <a:endParaRPr sz="1400" u="none" cap="none" strike="noStrike"/>
                    </a:p>
                  </a:txBody>
                  <a:tcPr marT="42325" marB="42325" marR="42325" marL="42325" anchor="ctr">
                    <a:lnL cap="flat" cmpd="sng" w="9525">
                      <a:solidFill>
                        <a:srgbClr val="D0519F"/>
                      </a:solidFill>
                      <a:prstDash val="solid"/>
                      <a:round/>
                      <a:headEnd len="sm" w="sm" type="none"/>
                      <a:tailEnd len="sm" w="sm" type="none"/>
                    </a:lnL>
                    <a:lnR cap="flat" cmpd="sng" w="9525">
                      <a:solidFill>
                        <a:srgbClr val="30529F"/>
                      </a:solidFill>
                      <a:prstDash val="solid"/>
                      <a:round/>
                      <a:headEnd len="sm" w="sm" type="none"/>
                      <a:tailEnd len="sm" w="sm" type="none"/>
                    </a:lnR>
                    <a:lnT cap="flat" cmpd="sng" w="9525">
                      <a:solidFill>
                        <a:srgbClr val="80519F"/>
                      </a:solidFill>
                      <a:prstDash val="solid"/>
                      <a:round/>
                      <a:headEnd len="sm" w="sm" type="none"/>
                      <a:tailEnd len="sm" w="sm" type="none"/>
                    </a:lnT>
                    <a:lnB cap="flat" cmpd="sng" w="9525">
                      <a:solidFill>
                        <a:srgbClr val="1053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1.44</a:t>
                      </a:r>
                      <a:endParaRPr sz="1400" u="none" cap="none" strike="noStrike"/>
                    </a:p>
                  </a:txBody>
                  <a:tcPr marT="42325" marB="42325" marR="42325" marL="42325" anchor="ctr">
                    <a:lnL cap="flat" cmpd="sng" w="9525">
                      <a:solidFill>
                        <a:srgbClr val="30529F"/>
                      </a:solidFill>
                      <a:prstDash val="solid"/>
                      <a:round/>
                      <a:headEnd len="sm" w="sm" type="none"/>
                      <a:tailEnd len="sm" w="sm" type="none"/>
                    </a:lnL>
                    <a:lnR cap="flat" cmpd="sng" w="9525">
                      <a:solidFill>
                        <a:srgbClr val="60519F"/>
                      </a:solidFill>
                      <a:prstDash val="solid"/>
                      <a:round/>
                      <a:headEnd len="sm" w="sm" type="none"/>
                      <a:tailEnd len="sm" w="sm" type="none"/>
                    </a:lnR>
                    <a:lnT cap="flat" cmpd="sng" w="9525">
                      <a:solidFill>
                        <a:srgbClr val="F0519F"/>
                      </a:solidFill>
                      <a:prstDash val="solid"/>
                      <a:round/>
                      <a:headEnd len="sm" w="sm" type="none"/>
                      <a:tailEnd len="sm" w="sm" type="none"/>
                    </a:lnT>
                    <a:lnB cap="flat" cmpd="sng" w="9525">
                      <a:solidFill>
                        <a:srgbClr val="80539F"/>
                      </a:solidFill>
                      <a:prstDash val="solid"/>
                      <a:round/>
                      <a:headEnd len="sm" w="sm" type="none"/>
                      <a:tailEnd len="sm" w="sm" type="none"/>
                    </a:lnB>
                    <a:solidFill>
                      <a:srgbClr val="FFFFFF"/>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5</a:t>
                      </a:r>
                      <a:endParaRPr sz="1600" u="none" cap="none" strike="noStrike"/>
                    </a:p>
                  </a:txBody>
                  <a:tcPr marT="42325" marB="42325" marR="42325" marL="42325" anchor="ctr">
                    <a:lnL cap="flat" cmpd="sng" w="9525">
                      <a:solidFill>
                        <a:srgbClr val="90529F"/>
                      </a:solidFill>
                      <a:prstDash val="solid"/>
                      <a:round/>
                      <a:headEnd len="sm" w="sm" type="none"/>
                      <a:tailEnd len="sm" w="sm" type="none"/>
                    </a:lnL>
                    <a:lnR cap="flat" cmpd="sng" w="9525">
                      <a:solidFill>
                        <a:srgbClr val="D0529F"/>
                      </a:solidFill>
                      <a:prstDash val="solid"/>
                      <a:round/>
                      <a:headEnd len="sm" w="sm" type="none"/>
                      <a:tailEnd len="sm" w="sm" type="none"/>
                    </a:lnR>
                    <a:lnT cap="flat" cmpd="sng" w="9525">
                      <a:solidFill>
                        <a:srgbClr val="50529F"/>
                      </a:solidFill>
                      <a:prstDash val="solid"/>
                      <a:round/>
                      <a:headEnd len="sm" w="sm" type="none"/>
                      <a:tailEnd len="sm" w="sm" type="none"/>
                    </a:lnT>
                    <a:lnB cap="flat" cmpd="sng" w="9525">
                      <a:solidFill>
                        <a:srgbClr val="0054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33</a:t>
                      </a:r>
                      <a:endParaRPr sz="1400" u="none" cap="none" strike="noStrike"/>
                    </a:p>
                  </a:txBody>
                  <a:tcPr marT="42325" marB="42325" marR="42325" marL="42325" anchor="ctr">
                    <a:lnL cap="flat" cmpd="sng" w="9525">
                      <a:solidFill>
                        <a:srgbClr val="D0529F"/>
                      </a:solidFill>
                      <a:prstDash val="solid"/>
                      <a:round/>
                      <a:headEnd len="sm" w="sm" type="none"/>
                      <a:tailEnd len="sm" w="sm" type="none"/>
                    </a:lnL>
                    <a:lnR cap="flat" cmpd="sng" w="9525">
                      <a:solidFill>
                        <a:srgbClr val="60539F"/>
                      </a:solidFill>
                      <a:prstDash val="solid"/>
                      <a:round/>
                      <a:headEnd len="sm" w="sm" type="none"/>
                      <a:tailEnd len="sm" w="sm" type="none"/>
                    </a:lnR>
                    <a:lnT cap="flat" cmpd="sng" w="9525">
                      <a:solidFill>
                        <a:srgbClr val="B0529F"/>
                      </a:solidFill>
                      <a:prstDash val="solid"/>
                      <a:round/>
                      <a:headEnd len="sm" w="sm" type="none"/>
                      <a:tailEnd len="sm" w="sm" type="none"/>
                    </a:lnT>
                    <a:lnB cap="flat" cmpd="sng" w="9525">
                      <a:solidFill>
                        <a:srgbClr val="A054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43</a:t>
                      </a:r>
                      <a:endParaRPr sz="1400" u="none" cap="none" strike="noStrike"/>
                    </a:p>
                  </a:txBody>
                  <a:tcPr marT="42325" marB="42325" marR="42325" marL="42325" anchor="ctr">
                    <a:lnL cap="flat" cmpd="sng" w="9525">
                      <a:solidFill>
                        <a:srgbClr val="60539F"/>
                      </a:solidFill>
                      <a:prstDash val="solid"/>
                      <a:round/>
                      <a:headEnd len="sm" w="sm" type="none"/>
                      <a:tailEnd len="sm" w="sm" type="none"/>
                    </a:lnL>
                    <a:lnR cap="flat" cmpd="sng" w="9525">
                      <a:solidFill>
                        <a:srgbClr val="E0539F"/>
                      </a:solidFill>
                      <a:prstDash val="solid"/>
                      <a:round/>
                      <a:headEnd len="sm" w="sm" type="none"/>
                      <a:tailEnd len="sm" w="sm" type="none"/>
                    </a:lnR>
                    <a:lnT cap="flat" cmpd="sng" w="9525">
                      <a:solidFill>
                        <a:srgbClr val="10539F"/>
                      </a:solidFill>
                      <a:prstDash val="solid"/>
                      <a:round/>
                      <a:headEnd len="sm" w="sm" type="none"/>
                      <a:tailEnd len="sm" w="sm" type="none"/>
                    </a:lnT>
                    <a:lnB cap="flat" cmpd="sng" w="9525">
                      <a:solidFill>
                        <a:srgbClr val="A055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1.30</a:t>
                      </a:r>
                      <a:endParaRPr sz="1400" u="none" cap="none" strike="noStrike"/>
                    </a:p>
                  </a:txBody>
                  <a:tcPr marT="42325" marB="42325" marR="42325" marL="42325" anchor="ctr">
                    <a:lnL cap="flat" cmpd="sng" w="9525">
                      <a:solidFill>
                        <a:srgbClr val="E0539F"/>
                      </a:solidFill>
                      <a:prstDash val="solid"/>
                      <a:round/>
                      <a:headEnd len="sm" w="sm" type="none"/>
                      <a:tailEnd len="sm" w="sm" type="none"/>
                    </a:lnL>
                    <a:lnR cap="flat" cmpd="sng" w="9525">
                      <a:solidFill>
                        <a:srgbClr val="F0529F"/>
                      </a:solidFill>
                      <a:prstDash val="solid"/>
                      <a:round/>
                      <a:headEnd len="sm" w="sm" type="none"/>
                      <a:tailEnd len="sm" w="sm" type="none"/>
                    </a:lnR>
                    <a:lnT cap="flat" cmpd="sng" w="9525">
                      <a:solidFill>
                        <a:srgbClr val="80539F"/>
                      </a:solidFill>
                      <a:prstDash val="solid"/>
                      <a:round/>
                      <a:headEnd len="sm" w="sm" type="none"/>
                      <a:tailEnd len="sm" w="sm" type="none"/>
                    </a:lnT>
                    <a:lnB cap="flat" cmpd="sng" w="9525">
                      <a:solidFill>
                        <a:srgbClr val="E0579F"/>
                      </a:solidFill>
                      <a:prstDash val="solid"/>
                      <a:round/>
                      <a:headEnd len="sm" w="sm" type="none"/>
                      <a:tailEnd len="sm" w="sm" type="none"/>
                    </a:lnB>
                    <a:solidFill>
                      <a:srgbClr val="F1F1F1"/>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6</a:t>
                      </a:r>
                      <a:endParaRPr sz="1600" u="none" cap="none" strike="noStrike"/>
                    </a:p>
                  </a:txBody>
                  <a:tcPr marT="42325" marB="42325" marR="42325" marL="42325" anchor="ctr">
                    <a:lnL cap="flat" cmpd="sng" w="9525">
                      <a:solidFill>
                        <a:srgbClr val="70549F"/>
                      </a:solidFill>
                      <a:prstDash val="solid"/>
                      <a:round/>
                      <a:headEnd len="sm" w="sm" type="none"/>
                      <a:tailEnd len="sm" w="sm" type="none"/>
                    </a:lnL>
                    <a:lnR cap="flat" cmpd="sng" w="9525">
                      <a:solidFill>
                        <a:srgbClr val="D0549F"/>
                      </a:solidFill>
                      <a:prstDash val="solid"/>
                      <a:round/>
                      <a:headEnd len="sm" w="sm" type="none"/>
                      <a:tailEnd len="sm" w="sm" type="none"/>
                    </a:lnR>
                    <a:lnT cap="flat" cmpd="sng" w="9525">
                      <a:solidFill>
                        <a:srgbClr val="00549F"/>
                      </a:solidFill>
                      <a:prstDash val="solid"/>
                      <a:round/>
                      <a:headEnd len="sm" w="sm" type="none"/>
                      <a:tailEnd len="sm" w="sm" type="none"/>
                    </a:lnT>
                    <a:lnB cap="flat" cmpd="sng" w="9525">
                      <a:solidFill>
                        <a:srgbClr val="4058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43</a:t>
                      </a:r>
                      <a:endParaRPr sz="1400" u="none" cap="none" strike="noStrike"/>
                    </a:p>
                  </a:txBody>
                  <a:tcPr marT="42325" marB="42325" marR="42325" marL="42325" anchor="ctr">
                    <a:lnL cap="flat" cmpd="sng" w="9525">
                      <a:solidFill>
                        <a:srgbClr val="D0549F"/>
                      </a:solidFill>
                      <a:prstDash val="solid"/>
                      <a:round/>
                      <a:headEnd len="sm" w="sm" type="none"/>
                      <a:tailEnd len="sm" w="sm" type="none"/>
                    </a:lnL>
                    <a:lnR cap="flat" cmpd="sng" w="9525">
                      <a:solidFill>
                        <a:srgbClr val="B0579F"/>
                      </a:solidFill>
                      <a:prstDash val="solid"/>
                      <a:round/>
                      <a:headEnd len="sm" w="sm" type="none"/>
                      <a:tailEnd len="sm" w="sm" type="none"/>
                    </a:lnR>
                    <a:lnT cap="flat" cmpd="sng" w="9525">
                      <a:solidFill>
                        <a:srgbClr val="A0549F"/>
                      </a:solidFill>
                      <a:prstDash val="solid"/>
                      <a:round/>
                      <a:headEnd len="sm" w="sm" type="none"/>
                      <a:tailEnd len="sm" w="sm" type="none"/>
                    </a:lnT>
                    <a:lnB cap="flat" cmpd="sng" w="9525">
                      <a:solidFill>
                        <a:srgbClr val="A058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53</a:t>
                      </a:r>
                      <a:endParaRPr sz="1400" u="none" cap="none" strike="noStrike"/>
                    </a:p>
                  </a:txBody>
                  <a:tcPr marT="42325" marB="42325" marR="42325" marL="42325" anchor="ctr">
                    <a:lnL cap="flat" cmpd="sng" w="9525">
                      <a:solidFill>
                        <a:srgbClr val="B0579F"/>
                      </a:solidFill>
                      <a:prstDash val="solid"/>
                      <a:round/>
                      <a:headEnd len="sm" w="sm" type="none"/>
                      <a:tailEnd len="sm" w="sm" type="none"/>
                    </a:lnL>
                    <a:lnR cap="flat" cmpd="sng" w="9525">
                      <a:solidFill>
                        <a:srgbClr val="20589F"/>
                      </a:solidFill>
                      <a:prstDash val="solid"/>
                      <a:round/>
                      <a:headEnd len="sm" w="sm" type="none"/>
                      <a:tailEnd len="sm" w="sm" type="none"/>
                    </a:lnR>
                    <a:lnT cap="flat" cmpd="sng" w="9525">
                      <a:solidFill>
                        <a:srgbClr val="A0559F"/>
                      </a:solidFill>
                      <a:prstDash val="solid"/>
                      <a:round/>
                      <a:headEnd len="sm" w="sm" type="none"/>
                      <a:tailEnd len="sm" w="sm" type="none"/>
                    </a:lnT>
                    <a:lnB cap="flat" cmpd="sng" w="9525">
                      <a:solidFill>
                        <a:srgbClr val="30599F"/>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1.23</a:t>
                      </a:r>
                      <a:endParaRPr sz="1400" u="none" cap="none" strike="noStrike"/>
                    </a:p>
                  </a:txBody>
                  <a:tcPr marT="42325" marB="42325" marR="42325" marL="42325" anchor="ctr">
                    <a:lnL cap="flat" cmpd="sng" w="9525">
                      <a:solidFill>
                        <a:srgbClr val="20589F"/>
                      </a:solidFill>
                      <a:prstDash val="solid"/>
                      <a:round/>
                      <a:headEnd len="sm" w="sm" type="none"/>
                      <a:tailEnd len="sm" w="sm" type="none"/>
                    </a:lnL>
                    <a:lnR cap="flat" cmpd="sng" w="9525">
                      <a:solidFill>
                        <a:srgbClr val="F0549F"/>
                      </a:solidFill>
                      <a:prstDash val="solid"/>
                      <a:round/>
                      <a:headEnd len="sm" w="sm" type="none"/>
                      <a:tailEnd len="sm" w="sm" type="none"/>
                    </a:lnR>
                    <a:lnT cap="flat" cmpd="sng" w="9525">
                      <a:solidFill>
                        <a:srgbClr val="E0579F"/>
                      </a:solidFill>
                      <a:prstDash val="solid"/>
                      <a:round/>
                      <a:headEnd len="sm" w="sm" type="none"/>
                      <a:tailEnd len="sm" w="sm" type="none"/>
                    </a:lnT>
                    <a:lnB cap="flat" cmpd="sng" w="9525">
                      <a:solidFill>
                        <a:srgbClr val="90599F"/>
                      </a:solidFill>
                      <a:prstDash val="solid"/>
                      <a:round/>
                      <a:headEnd len="sm" w="sm" type="none"/>
                      <a:tailEnd len="sm" w="sm" type="none"/>
                    </a:lnB>
                    <a:solidFill>
                      <a:srgbClr val="FFFFFF"/>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7</a:t>
                      </a:r>
                      <a:endParaRPr sz="1600" u="none" cap="none" strike="noStrike"/>
                    </a:p>
                  </a:txBody>
                  <a:tcPr marT="42325" marB="42325" marR="42325" marL="42325" anchor="ctr">
                    <a:lnL cap="flat" cmpd="sng" w="9525">
                      <a:solidFill>
                        <a:srgbClr val="80589F"/>
                      </a:solidFill>
                      <a:prstDash val="solid"/>
                      <a:round/>
                      <a:headEnd len="sm" w="sm" type="none"/>
                      <a:tailEnd len="sm" w="sm" type="none"/>
                    </a:lnL>
                    <a:lnR cap="flat" cmpd="sng" w="9525">
                      <a:solidFill>
                        <a:srgbClr val="10599F"/>
                      </a:solidFill>
                      <a:prstDash val="solid"/>
                      <a:round/>
                      <a:headEnd len="sm" w="sm" type="none"/>
                      <a:tailEnd len="sm" w="sm" type="none"/>
                    </a:lnR>
                    <a:lnT cap="flat" cmpd="sng" w="9525">
                      <a:solidFill>
                        <a:srgbClr val="40589F"/>
                      </a:solidFill>
                      <a:prstDash val="solid"/>
                      <a:round/>
                      <a:headEnd len="sm" w="sm" type="none"/>
                      <a:tailEnd len="sm" w="sm" type="none"/>
                    </a:lnT>
                    <a:lnB cap="flat" cmpd="sng" w="9525">
                      <a:solidFill>
                        <a:srgbClr val="F059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45</a:t>
                      </a:r>
                      <a:endParaRPr sz="1400" u="none" cap="none" strike="noStrike"/>
                    </a:p>
                  </a:txBody>
                  <a:tcPr marT="42325" marB="42325" marR="42325" marL="42325" anchor="ctr">
                    <a:lnL cap="flat" cmpd="sng" w="9525">
                      <a:solidFill>
                        <a:srgbClr val="10599F"/>
                      </a:solidFill>
                      <a:prstDash val="solid"/>
                      <a:round/>
                      <a:headEnd len="sm" w="sm" type="none"/>
                      <a:tailEnd len="sm" w="sm" type="none"/>
                    </a:lnL>
                    <a:lnR cap="flat" cmpd="sng" w="9525">
                      <a:solidFill>
                        <a:srgbClr val="70599F"/>
                      </a:solidFill>
                      <a:prstDash val="solid"/>
                      <a:round/>
                      <a:headEnd len="sm" w="sm" type="none"/>
                      <a:tailEnd len="sm" w="sm" type="none"/>
                    </a:lnR>
                    <a:lnT cap="flat" cmpd="sng" w="9525">
                      <a:solidFill>
                        <a:srgbClr val="A0589F"/>
                      </a:solidFill>
                      <a:prstDash val="solid"/>
                      <a:round/>
                      <a:headEnd len="sm" w="sm" type="none"/>
                      <a:tailEnd len="sm" w="sm" type="none"/>
                    </a:lnT>
                    <a:lnB cap="flat" cmpd="sng" w="9525">
                      <a:solidFill>
                        <a:srgbClr val="505A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55</a:t>
                      </a:r>
                      <a:endParaRPr sz="1400" u="none" cap="none" strike="noStrike"/>
                    </a:p>
                  </a:txBody>
                  <a:tcPr marT="42325" marB="42325" marR="42325" marL="42325" anchor="ctr">
                    <a:lnL cap="flat" cmpd="sng" w="9525">
                      <a:solidFill>
                        <a:srgbClr val="70599F"/>
                      </a:solidFill>
                      <a:prstDash val="solid"/>
                      <a:round/>
                      <a:headEnd len="sm" w="sm" type="none"/>
                      <a:tailEnd len="sm" w="sm" type="none"/>
                    </a:lnL>
                    <a:lnR cap="flat" cmpd="sng" w="9525">
                      <a:solidFill>
                        <a:srgbClr val="D0599F"/>
                      </a:solidFill>
                      <a:prstDash val="solid"/>
                      <a:round/>
                      <a:headEnd len="sm" w="sm" type="none"/>
                      <a:tailEnd len="sm" w="sm" type="none"/>
                    </a:lnR>
                    <a:lnT cap="flat" cmpd="sng" w="9525">
                      <a:solidFill>
                        <a:srgbClr val="30599F"/>
                      </a:solidFill>
                      <a:prstDash val="solid"/>
                      <a:round/>
                      <a:headEnd len="sm" w="sm" type="none"/>
                      <a:tailEnd len="sm" w="sm" type="none"/>
                    </a:lnT>
                    <a:lnB cap="flat" cmpd="sng" w="9525">
                      <a:solidFill>
                        <a:srgbClr val="B05A9F"/>
                      </a:solidFill>
                      <a:prstDash val="solid"/>
                      <a:round/>
                      <a:headEnd len="sm" w="sm" type="none"/>
                      <a:tailEnd len="sm" w="sm" type="none"/>
                    </a:lnB>
                    <a:solidFill>
                      <a:srgbClr val="F1F1F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1.22</a:t>
                      </a:r>
                      <a:endParaRPr sz="1400" u="none" cap="none" strike="noStrike"/>
                    </a:p>
                  </a:txBody>
                  <a:tcPr marT="42325" marB="42325" marR="42325" marL="42325" anchor="ctr">
                    <a:lnL cap="flat" cmpd="sng" w="9525">
                      <a:solidFill>
                        <a:srgbClr val="D0599F"/>
                      </a:solidFill>
                      <a:prstDash val="solid"/>
                      <a:round/>
                      <a:headEnd len="sm" w="sm" type="none"/>
                      <a:tailEnd len="sm" w="sm" type="none"/>
                    </a:lnL>
                    <a:lnR cap="flat" cmpd="sng" w="9525">
                      <a:solidFill>
                        <a:srgbClr val="C0589F"/>
                      </a:solidFill>
                      <a:prstDash val="solid"/>
                      <a:round/>
                      <a:headEnd len="sm" w="sm" type="none"/>
                      <a:tailEnd len="sm" w="sm" type="none"/>
                    </a:lnR>
                    <a:lnT cap="flat" cmpd="sng" w="9525">
                      <a:solidFill>
                        <a:srgbClr val="90599F"/>
                      </a:solidFill>
                      <a:prstDash val="solid"/>
                      <a:round/>
                      <a:headEnd len="sm" w="sm" type="none"/>
                      <a:tailEnd len="sm" w="sm" type="none"/>
                    </a:lnT>
                    <a:lnB cap="flat" cmpd="sng" w="9525">
                      <a:solidFill>
                        <a:srgbClr val="205B9F"/>
                      </a:solidFill>
                      <a:prstDash val="solid"/>
                      <a:round/>
                      <a:headEnd len="sm" w="sm" type="none"/>
                      <a:tailEnd len="sm" w="sm" type="none"/>
                    </a:lnB>
                    <a:solidFill>
                      <a:srgbClr val="F1F1F1"/>
                    </a:solidFill>
                  </a:tcPr>
                </a:tc>
              </a:tr>
              <a:tr h="3285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I</a:t>
                      </a:r>
                      <a:r>
                        <a:rPr baseline="-25000" lang="en-US" sz="1600" u="none" cap="none" strike="noStrike">
                          <a:latin typeface="Arial"/>
                          <a:ea typeface="Arial"/>
                          <a:cs typeface="Arial"/>
                          <a:sym typeface="Arial"/>
                        </a:rPr>
                        <a:t>8</a:t>
                      </a:r>
                      <a:endParaRPr sz="1600" u="none" cap="none" strike="noStrike"/>
                    </a:p>
                  </a:txBody>
                  <a:tcPr marT="42325" marB="42325" marR="42325" marL="42325" anchor="ctr">
                    <a:lnL cap="flat" cmpd="sng" w="9525">
                      <a:solidFill>
                        <a:srgbClr val="305A9F"/>
                      </a:solidFill>
                      <a:prstDash val="solid"/>
                      <a:round/>
                      <a:headEnd len="sm" w="sm" type="none"/>
                      <a:tailEnd len="sm" w="sm" type="none"/>
                    </a:lnL>
                    <a:lnR cap="flat" cmpd="sng" w="9525">
                      <a:solidFill>
                        <a:srgbClr val="705A9F"/>
                      </a:solidFill>
                      <a:prstDash val="solid"/>
                      <a:round/>
                      <a:headEnd len="sm" w="sm" type="none"/>
                      <a:tailEnd len="sm" w="sm" type="none"/>
                    </a:lnR>
                    <a:lnT cap="flat" cmpd="sng" w="9525">
                      <a:solidFill>
                        <a:srgbClr val="F0599F"/>
                      </a:solidFill>
                      <a:prstDash val="solid"/>
                      <a:round/>
                      <a:headEnd len="sm" w="sm" type="none"/>
                      <a:tailEnd len="sm" w="sm" type="none"/>
                    </a:lnT>
                    <a:lnB cap="flat" cmpd="sng" w="9525">
                      <a:solidFill>
                        <a:srgbClr val="F1F1F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55</a:t>
                      </a:r>
                      <a:endParaRPr sz="1400" u="none" cap="none" strike="noStrike"/>
                    </a:p>
                  </a:txBody>
                  <a:tcPr marT="42325" marB="42325" marR="42325" marL="42325" anchor="ctr">
                    <a:lnL cap="flat" cmpd="sng" w="9525">
                      <a:solidFill>
                        <a:srgbClr val="705A9F"/>
                      </a:solidFill>
                      <a:prstDash val="solid"/>
                      <a:round/>
                      <a:headEnd len="sm" w="sm" type="none"/>
                      <a:tailEnd len="sm" w="sm" type="none"/>
                    </a:lnL>
                    <a:lnR cap="flat" cmpd="sng" w="9525">
                      <a:solidFill>
                        <a:srgbClr val="005B9F"/>
                      </a:solidFill>
                      <a:prstDash val="solid"/>
                      <a:round/>
                      <a:headEnd len="sm" w="sm" type="none"/>
                      <a:tailEnd len="sm" w="sm" type="none"/>
                    </a:lnR>
                    <a:lnT cap="flat" cmpd="sng" w="9525">
                      <a:solidFill>
                        <a:srgbClr val="505A9F"/>
                      </a:solidFill>
                      <a:prstDash val="solid"/>
                      <a:round/>
                      <a:headEnd len="sm" w="sm" type="none"/>
                      <a:tailEnd len="sm" w="sm" type="none"/>
                    </a:lnT>
                    <a:lnB cap="flat" cmpd="sng" w="9525">
                      <a:solidFill>
                        <a:srgbClr val="F1F1F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65</a:t>
                      </a:r>
                      <a:endParaRPr sz="1400" u="none" cap="none" strike="noStrike"/>
                    </a:p>
                  </a:txBody>
                  <a:tcPr marT="42325" marB="42325" marR="42325" marL="42325" anchor="ctr">
                    <a:lnL cap="flat" cmpd="sng" w="9525">
                      <a:solidFill>
                        <a:srgbClr val="005B9F"/>
                      </a:solidFill>
                      <a:prstDash val="solid"/>
                      <a:round/>
                      <a:headEnd len="sm" w="sm" type="none"/>
                      <a:tailEnd len="sm" w="sm" type="none"/>
                    </a:lnL>
                    <a:lnR cap="flat" cmpd="sng" w="9525">
                      <a:solidFill>
                        <a:srgbClr val="605B9F"/>
                      </a:solidFill>
                      <a:prstDash val="solid"/>
                      <a:round/>
                      <a:headEnd len="sm" w="sm" type="none"/>
                      <a:tailEnd len="sm" w="sm" type="none"/>
                    </a:lnR>
                    <a:lnT cap="flat" cmpd="sng" w="9525">
                      <a:solidFill>
                        <a:srgbClr val="B05A9F"/>
                      </a:solidFill>
                      <a:prstDash val="solid"/>
                      <a:round/>
                      <a:headEnd len="sm" w="sm" type="none"/>
                      <a:tailEnd len="sm" w="sm" type="none"/>
                    </a:lnT>
                    <a:lnB cap="flat" cmpd="sng" w="9525">
                      <a:solidFill>
                        <a:srgbClr val="F1F1F1"/>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1.18</a:t>
                      </a:r>
                      <a:endParaRPr sz="1400" u="none" cap="none" strike="noStrike"/>
                    </a:p>
                  </a:txBody>
                  <a:tcPr marT="42325" marB="42325" marR="42325" marL="42325" anchor="ctr">
                    <a:lnL cap="flat" cmpd="sng" w="9525">
                      <a:solidFill>
                        <a:srgbClr val="605B9F"/>
                      </a:solidFill>
                      <a:prstDash val="solid"/>
                      <a:round/>
                      <a:headEnd len="sm" w="sm" type="none"/>
                      <a:tailEnd len="sm" w="sm" type="none"/>
                    </a:lnL>
                    <a:lnR cap="flat" cmpd="sng" w="9525">
                      <a:solidFill>
                        <a:srgbClr val="905A9F"/>
                      </a:solidFill>
                      <a:prstDash val="solid"/>
                      <a:round/>
                      <a:headEnd len="sm" w="sm" type="none"/>
                      <a:tailEnd len="sm" w="sm" type="none"/>
                    </a:lnR>
                    <a:lnT cap="flat" cmpd="sng" w="9525">
                      <a:solidFill>
                        <a:srgbClr val="205B9F"/>
                      </a:solidFill>
                      <a:prstDash val="solid"/>
                      <a:round/>
                      <a:headEnd len="sm" w="sm" type="none"/>
                      <a:tailEnd len="sm" w="sm" type="none"/>
                    </a:lnT>
                    <a:lnB cap="flat" cmpd="sng" w="9525">
                      <a:solidFill>
                        <a:srgbClr val="F1F1F1"/>
                      </a:solidFill>
                      <a:prstDash val="solid"/>
                      <a:round/>
                      <a:headEnd len="sm" w="sm" type="none"/>
                      <a:tailEnd len="sm" w="sm" type="none"/>
                    </a:lnB>
                    <a:solidFill>
                      <a:srgbClr val="FFFFFF"/>
                    </a:solidFill>
                  </a:tcPr>
                </a:tc>
              </a:tr>
            </a:tbl>
          </a:graphicData>
        </a:graphic>
      </p:graphicFrame>
      <p:sp>
        <p:nvSpPr>
          <p:cNvPr id="345" name="Google Shape;345;p20"/>
          <p:cNvSpPr/>
          <p:nvPr/>
        </p:nvSpPr>
        <p:spPr>
          <a:xfrm>
            <a:off x="264406" y="4770948"/>
            <a:ext cx="7932144" cy="1477328"/>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We shall select one by one item from the above table.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We check the feasibility of item, if the inclusion of an item does not cross the knapsack capacity, then add it.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Otherwise, skip the current item and process the next.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We should stop when knapsack is full or all items are scanned</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1" name="Google Shape;351;p2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52" name="Google Shape;352;p2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53" name="Google Shape;353;p2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54" name="Google Shape;354;p2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55" name="Google Shape;355;p21"/>
          <p:cNvSpPr txBox="1"/>
          <p:nvPr/>
        </p:nvSpPr>
        <p:spPr>
          <a:xfrm>
            <a:off x="450376" y="1501254"/>
            <a:ext cx="8338782" cy="28622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Initialize, Weight = 0, P = 0, knapsack capacity M = 110, Solution set S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1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1</a:t>
            </a:r>
            <a:r>
              <a:rPr b="0" i="0" lang="en-US" sz="1800" u="none" cap="none" strike="noStrike">
                <a:solidFill>
                  <a:schemeClr val="dk1"/>
                </a:solidFill>
                <a:latin typeface="Calibri"/>
                <a:ea typeface="Calibri"/>
                <a:cs typeface="Calibri"/>
                <a:sym typeface="Calibri"/>
              </a:rPr>
              <a:t>) = 0 + 1 =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M, so select I</a:t>
            </a:r>
            <a:r>
              <a:rPr b="0" baseline="-25000" i="0" lang="en-US" sz="1800" u="none" cap="none" strike="noStrike">
                <a:solidFill>
                  <a:schemeClr val="dk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a:t>
            </a:r>
            <a:r>
              <a:rPr b="0" i="0" lang="en-US" sz="1800" u="none" cap="none" strike="noStrike">
                <a:solidFill>
                  <a:schemeClr val="dk1"/>
                </a:solidFill>
                <a:latin typeface="Calibri"/>
                <a:ea typeface="Calibri"/>
                <a:cs typeface="Calibri"/>
                <a:sym typeface="Calibri"/>
              </a:rPr>
              <a:t> }, Weight = 1, P = 0 + 11 = 11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2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 = 1 + 11 =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M, so select I</a:t>
            </a:r>
            <a:r>
              <a:rPr b="0" baseline="-25000" i="0" lang="en-US" sz="1800" u="none" cap="none" strike="noStrike">
                <a:solidFill>
                  <a:schemeClr val="dk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 }, Weight = 12, P = 11 + 21 = 32</a:t>
            </a:r>
            <a:endParaRPr b="0" i="0" sz="1800" u="none" cap="none" strike="noStrike">
              <a:solidFill>
                <a:schemeClr val="dk1"/>
              </a:solidFill>
              <a:latin typeface="Calibri"/>
              <a:ea typeface="Calibri"/>
              <a:cs typeface="Calibri"/>
              <a:sym typeface="Calibri"/>
            </a:endParaRPr>
          </a:p>
        </p:txBody>
      </p:sp>
      <p:sp>
        <p:nvSpPr>
          <p:cNvPr id="356" name="Google Shape;356;p2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57" name="Google Shape;357;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358" name="Google Shape;358;p21"/>
          <p:cNvSpPr/>
          <p:nvPr/>
        </p:nvSpPr>
        <p:spPr>
          <a:xfrm>
            <a:off x="479234" y="4183911"/>
            <a:ext cx="457200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3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 12 + 21= 33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M, so select I</a:t>
            </a:r>
            <a:r>
              <a:rPr b="0" baseline="-25000" i="0" lang="en-US" sz="1800" u="none" cap="none" strike="noStrike">
                <a:solidFill>
                  <a:schemeClr val="dk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 Weight = 33, P = 32 + 31 = 63</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64" name="Google Shape;364;p22"/>
          <p:cNvPicPr preferRelativeResize="0"/>
          <p:nvPr>
            <p:ph idx="1" type="body"/>
          </p:nvPr>
        </p:nvPicPr>
        <p:blipFill rotWithShape="1">
          <a:blip r:embed="rId3">
            <a:alphaModFix/>
          </a:blip>
          <a:srcRect b="0" l="0" r="0" t="0"/>
          <a:stretch/>
        </p:blipFill>
        <p:spPr>
          <a:xfrm>
            <a:off x="0" y="165253"/>
            <a:ext cx="9144000" cy="6858000"/>
          </a:xfrm>
          <a:prstGeom prst="rect">
            <a:avLst/>
          </a:prstGeom>
          <a:noFill/>
          <a:ln>
            <a:noFill/>
          </a:ln>
        </p:spPr>
      </p:pic>
      <p:pic>
        <p:nvPicPr>
          <p:cNvPr id="365" name="Google Shape;365;p2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66" name="Google Shape;366;p2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67" name="Google Shape;367;p2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8" name="Google Shape;368;p2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69" name="Google Shape;369;p2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70" name="Google Shape;370;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371" name="Google Shape;371;p22"/>
          <p:cNvSpPr/>
          <p:nvPr/>
        </p:nvSpPr>
        <p:spPr>
          <a:xfrm>
            <a:off x="578384" y="1464310"/>
            <a:ext cx="8135957"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4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4</a:t>
            </a:r>
            <a:r>
              <a:rPr b="0" i="0" lang="en-US" sz="1800" u="none" cap="none" strike="noStrike">
                <a:solidFill>
                  <a:schemeClr val="dk1"/>
                </a:solidFill>
                <a:latin typeface="Calibri"/>
                <a:ea typeface="Calibri"/>
                <a:cs typeface="Calibri"/>
                <a:sym typeface="Calibri"/>
              </a:rPr>
              <a:t>) = 33 + 23 = 56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M, so select I</a:t>
            </a:r>
            <a:r>
              <a:rPr b="0" baseline="-25000" i="0" lang="en-US" sz="1800" u="none" cap="none" strike="noStrike">
                <a:solidFill>
                  <a:schemeClr val="dk1"/>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a:t>
            </a:r>
            <a:r>
              <a:rPr b="0" i="0" lang="en-US" sz="1800" u="none" cap="none" strike="noStrike">
                <a:solidFill>
                  <a:schemeClr val="dk1"/>
                </a:solidFill>
                <a:latin typeface="Calibri"/>
                <a:ea typeface="Calibri"/>
                <a:cs typeface="Calibri"/>
                <a:sym typeface="Calibri"/>
              </a:rPr>
              <a:t> }, Weight = 56, P = 63 + 33 = 96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5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56 + 33 = 89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M, so select I</a:t>
            </a:r>
            <a:r>
              <a:rPr b="0" baseline="-25000" i="0" lang="en-US" sz="1800" u="none" cap="none" strike="noStrike">
                <a:solidFill>
                  <a:schemeClr val="dk1"/>
                </a:solidFill>
                <a:latin typeface="Calibri"/>
                <a:ea typeface="Calibri"/>
                <a:cs typeface="Calibri"/>
                <a:sym typeface="Calibri"/>
              </a:rPr>
              <a:t>5</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Weight = 89, P = 96 + 43 = 139</a:t>
            </a:r>
            <a:endParaRPr b="0" i="0" sz="1800" u="none" cap="none" strike="noStrike">
              <a:solidFill>
                <a:schemeClr val="dk1"/>
              </a:solidFill>
              <a:latin typeface="Calibri"/>
              <a:ea typeface="Calibri"/>
              <a:cs typeface="Calibri"/>
              <a:sym typeface="Calibri"/>
            </a:endParaRPr>
          </a:p>
        </p:txBody>
      </p:sp>
      <p:sp>
        <p:nvSpPr>
          <p:cNvPr id="372" name="Google Shape;372;p22"/>
          <p:cNvSpPr/>
          <p:nvPr/>
        </p:nvSpPr>
        <p:spPr>
          <a:xfrm>
            <a:off x="732621" y="4070587"/>
            <a:ext cx="45720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6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6</a:t>
            </a:r>
            <a:r>
              <a:rPr b="0" i="0" lang="en-US" sz="1800" u="none" cap="none" strike="noStrike">
                <a:solidFill>
                  <a:schemeClr val="dk1"/>
                </a:solidFill>
                <a:latin typeface="Calibri"/>
                <a:ea typeface="Calibri"/>
                <a:cs typeface="Calibri"/>
                <a:sym typeface="Calibri"/>
              </a:rPr>
              <a:t>) = 89 + 43 = 132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&gt; M, so reject I</a:t>
            </a:r>
            <a:r>
              <a:rPr b="0" baseline="-25000" i="0" lang="en-US" sz="1800" u="none" cap="none" strike="noStrike">
                <a:solidFill>
                  <a:schemeClr val="dk1"/>
                </a:solidFill>
                <a:latin typeface="Calibri"/>
                <a:ea typeface="Calibri"/>
                <a:cs typeface="Calibri"/>
                <a:sym typeface="Calibri"/>
              </a:rPr>
              <a:t>6</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Weight = 89, P =  139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7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 (Weight + w</a:t>
            </a:r>
            <a:r>
              <a:rPr b="0" baseline="-25000" i="0" lang="en-US" sz="1800" u="none" cap="none" strike="noStrike">
                <a:solidFill>
                  <a:schemeClr val="dk1"/>
                </a:solidFill>
                <a:latin typeface="Calibri"/>
                <a:ea typeface="Calibri"/>
                <a:cs typeface="Calibri"/>
                <a:sym typeface="Calibri"/>
              </a:rPr>
              <a:t>7</a:t>
            </a:r>
            <a:r>
              <a:rPr b="0" i="0" lang="en-US" sz="1800" u="none" cap="none" strike="noStrike">
                <a:solidFill>
                  <a:schemeClr val="dk1"/>
                </a:solidFill>
                <a:latin typeface="Calibri"/>
                <a:ea typeface="Calibri"/>
                <a:cs typeface="Calibri"/>
                <a:sym typeface="Calibri"/>
              </a:rPr>
              <a:t>) = 89 + 45= 134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&gt; W, so reject I</a:t>
            </a:r>
            <a:r>
              <a:rPr b="0" baseline="-25000" i="0" lang="en-US" sz="1800" u="none" cap="none" strike="noStrike">
                <a:solidFill>
                  <a:schemeClr val="dk1"/>
                </a:solidFill>
                <a:latin typeface="Calibri"/>
                <a:ea typeface="Calibri"/>
                <a:cs typeface="Calibri"/>
                <a:sym typeface="Calibri"/>
              </a:rPr>
              <a:t>7</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Weight = 89, P = 139</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8" name="Google Shape;378;p2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79" name="Google Shape;379;p2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80" name="Google Shape;380;p2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81" name="Google Shape;381;p2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2" name="Google Shape;382;p23"/>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83" name="Google Shape;383;p23"/>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84" name="Google Shape;384;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385" name="Google Shape;385;p23"/>
          <p:cNvSpPr/>
          <p:nvPr/>
        </p:nvSpPr>
        <p:spPr>
          <a:xfrm>
            <a:off x="396607" y="1619479"/>
            <a:ext cx="756858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Iteration 8 :</a:t>
            </a:r>
            <a:r>
              <a:rPr b="0" i="0" lang="en-US" sz="1800" u="none" cap="none" strike="noStrike">
                <a:solidFill>
                  <a:schemeClr val="dk1"/>
                </a:solidFill>
                <a:latin typeface="Calibri"/>
                <a:ea typeface="Calibri"/>
                <a:cs typeface="Calibri"/>
                <a:sym typeface="Calibri"/>
              </a:rPr>
              <a:t> Weight = (Weight + w</a:t>
            </a:r>
            <a:r>
              <a:rPr b="0" baseline="-25000" i="0" lang="en-US" sz="1800" u="none" cap="none" strike="noStrike">
                <a:solidFill>
                  <a:schemeClr val="dk1"/>
                </a:solidFill>
                <a:latin typeface="Calibri"/>
                <a:ea typeface="Calibri"/>
                <a:cs typeface="Calibri"/>
                <a:sym typeface="Calibri"/>
              </a:rPr>
              <a:t>8</a:t>
            </a:r>
            <a:r>
              <a:rPr b="0" i="0" lang="en-US" sz="1800" u="none" cap="none" strike="noStrike">
                <a:solidFill>
                  <a:schemeClr val="dk1"/>
                </a:solidFill>
                <a:latin typeface="Calibri"/>
                <a:ea typeface="Calibri"/>
                <a:cs typeface="Calibri"/>
                <a:sym typeface="Calibri"/>
              </a:rPr>
              <a:t>) = 89 + 55= 144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Weight &gt; M, so reject I</a:t>
            </a:r>
            <a:r>
              <a:rPr b="0" baseline="-25000" i="0" lang="en-US" sz="1800" u="none" cap="none" strike="noStrike">
                <a:solidFill>
                  <a:schemeClr val="dk1"/>
                </a:solidFill>
                <a:latin typeface="Calibri"/>
                <a:ea typeface="Calibri"/>
                <a:cs typeface="Calibri"/>
                <a:sym typeface="Calibri"/>
              </a:rPr>
              <a:t>8</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Weight = 89, P = 139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All items are tested.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greedy algorithm selects items { I</a:t>
            </a:r>
            <a:r>
              <a:rPr b="0" baseline="-25000" i="0" lang="en-US" sz="1800" u="none" cap="none" strike="noStrike">
                <a:solidFill>
                  <a:schemeClr val="dk1"/>
                </a:solidFill>
                <a:latin typeface="Calibri"/>
                <a:ea typeface="Calibri"/>
                <a:cs typeface="Calibri"/>
                <a:sym typeface="Calibri"/>
              </a:rPr>
              <a:t>1, 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3, 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a:t>
            </a:r>
            <a:r>
              <a:rPr b="0" baseline="-25000" i="0" lang="en-US" sz="1800" u="none" cap="none" strike="noStrike">
                <a:solidFill>
                  <a:schemeClr val="dk1"/>
                </a:solidFill>
                <a:latin typeface="Calibri"/>
                <a:ea typeface="Calibri"/>
                <a:cs typeface="Calibri"/>
                <a:sym typeface="Calibri"/>
              </a:rPr>
              <a:t>5</a:t>
            </a:r>
            <a:r>
              <a:rPr b="0" i="0" lang="en-US" sz="1800" u="none" cap="none" strike="noStrike">
                <a:solidFill>
                  <a:schemeClr val="dk1"/>
                </a:solidFill>
                <a:latin typeface="Calibri"/>
                <a:ea typeface="Calibri"/>
                <a:cs typeface="Calibri"/>
                <a:sym typeface="Calibri"/>
              </a:rPr>
              <a:t> }, and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gives a profit of 139 units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1" name="Google Shape;391;p2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92" name="Google Shape;392;p24"/>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393" name="Google Shape;393;p2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394" name="Google Shape;394;p2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5" name="Google Shape;395;p24"/>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96" name="Google Shape;396;p2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97" name="Google Shape;397;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398" name="Google Shape;398;p24"/>
          <p:cNvSpPr/>
          <p:nvPr/>
        </p:nvSpPr>
        <p:spPr>
          <a:xfrm>
            <a:off x="154235" y="1399142"/>
            <a:ext cx="7910111" cy="33855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Scheduling  Algorithm- Activity  Selection Problem</a:t>
            </a:r>
            <a:endParaRPr b="1" i="0" sz="1600" u="none" cap="none" strike="noStrike">
              <a:solidFill>
                <a:schemeClr val="dk1"/>
              </a:solidFill>
              <a:latin typeface="Arial"/>
              <a:ea typeface="Arial"/>
              <a:cs typeface="Arial"/>
              <a:sym typeface="Arial"/>
            </a:endParaRPr>
          </a:p>
        </p:txBody>
      </p:sp>
      <p:sp>
        <p:nvSpPr>
          <p:cNvPr id="399" name="Google Shape;399;p24"/>
          <p:cNvSpPr/>
          <p:nvPr/>
        </p:nvSpPr>
        <p:spPr>
          <a:xfrm>
            <a:off x="556351" y="1958503"/>
            <a:ext cx="7640197"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Activity Selection problem</a:t>
            </a:r>
            <a:r>
              <a:rPr b="0" i="0" lang="en-US" sz="1800" u="none" cap="none" strike="noStrike">
                <a:solidFill>
                  <a:schemeClr val="dk1"/>
                </a:solidFill>
                <a:latin typeface="Calibri"/>
                <a:ea typeface="Calibri"/>
                <a:cs typeface="Calibri"/>
                <a:sym typeface="Calibri"/>
              </a:rPr>
              <a:t> is a approach of selecting non-conflicting tasks based on start and end time and can be solved in O(N logN) time using a simple greedy approach. </a:t>
            </a:r>
            <a:endParaRPr b="0" i="0" sz="1800" u="none" cap="none" strike="noStrike">
              <a:solidFill>
                <a:schemeClr val="dk1"/>
              </a:solidFill>
              <a:latin typeface="Calibri"/>
              <a:ea typeface="Calibri"/>
              <a:cs typeface="Calibri"/>
              <a:sym typeface="Calibri"/>
            </a:endParaRPr>
          </a:p>
        </p:txBody>
      </p:sp>
      <p:sp>
        <p:nvSpPr>
          <p:cNvPr id="400" name="Google Shape;400;p24"/>
          <p:cNvSpPr/>
          <p:nvPr/>
        </p:nvSpPr>
        <p:spPr>
          <a:xfrm>
            <a:off x="435166" y="3071196"/>
            <a:ext cx="7408844"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problem statement for </a:t>
            </a:r>
            <a:r>
              <a:rPr b="1" i="0" lang="en-US" sz="1800" u="none" cap="none" strike="noStrike">
                <a:solidFill>
                  <a:schemeClr val="dk1"/>
                </a:solidFill>
                <a:latin typeface="Calibri"/>
                <a:ea typeface="Calibri"/>
                <a:cs typeface="Calibri"/>
                <a:sym typeface="Calibri"/>
              </a:rPr>
              <a:t>Activity Selection</a:t>
            </a:r>
            <a:r>
              <a:rPr b="0" i="0" lang="en-US" sz="1800" u="none" cap="none" strike="noStrike">
                <a:solidFill>
                  <a:schemeClr val="dk1"/>
                </a:solidFill>
                <a:latin typeface="Calibri"/>
                <a:ea typeface="Calibri"/>
                <a:cs typeface="Calibri"/>
                <a:sym typeface="Calibri"/>
              </a:rPr>
              <a:t> is that "Given a set of n activities with their start and finish times, we need to select </a:t>
            </a:r>
            <a:r>
              <a:rPr b="1" i="0" lang="en-US" sz="1800" u="none" cap="none" strike="noStrike">
                <a:solidFill>
                  <a:schemeClr val="dk1"/>
                </a:solidFill>
                <a:latin typeface="Calibri"/>
                <a:ea typeface="Calibri"/>
                <a:cs typeface="Calibri"/>
                <a:sym typeface="Calibri"/>
              </a:rPr>
              <a:t>maximum number of non-conflicting activities</a:t>
            </a:r>
            <a:r>
              <a:rPr b="0" i="0" lang="en-US" sz="1800" u="none" cap="none" strike="noStrike">
                <a:solidFill>
                  <a:schemeClr val="dk1"/>
                </a:solidFill>
                <a:latin typeface="Calibri"/>
                <a:ea typeface="Calibri"/>
                <a:cs typeface="Calibri"/>
                <a:sym typeface="Calibri"/>
              </a:rPr>
              <a:t> that can be performed by a single person, given that the person can handle only one activity at a time.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The Activity Selection problem follows </a:t>
            </a:r>
            <a:r>
              <a:rPr b="1" i="0" lang="en-US" sz="1800" u="none" cap="none" strike="noStrike">
                <a:solidFill>
                  <a:schemeClr val="dk1"/>
                </a:solidFill>
                <a:latin typeface="Calibri"/>
                <a:ea typeface="Calibri"/>
                <a:cs typeface="Calibri"/>
                <a:sym typeface="Calibri"/>
              </a:rPr>
              <a:t>Greedy approach.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i.e. at every step, we can make a choice that looks best at the moment to get the optimal solution of the complete problem.</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06" name="Google Shape;406;p2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07" name="Google Shape;407;p25"/>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08" name="Google Shape;408;p25"/>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09" name="Google Shape;409;p25"/>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0" name="Google Shape;410;p25"/>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11" name="Google Shape;411;p25"/>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12" name="Google Shape;412;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13" name="Google Shape;413;p25"/>
          <p:cNvSpPr/>
          <p:nvPr/>
        </p:nvSpPr>
        <p:spPr>
          <a:xfrm>
            <a:off x="649995" y="1380905"/>
            <a:ext cx="8494005" cy="3139321"/>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The Activity selection problem can be solved using </a:t>
            </a:r>
            <a:r>
              <a:rPr b="1" i="0" lang="en-US" sz="1800" u="none" cap="none" strike="noStrike">
                <a:solidFill>
                  <a:schemeClr val="dk1"/>
                </a:solidFill>
                <a:latin typeface="Calibri"/>
                <a:ea typeface="Calibri"/>
                <a:cs typeface="Calibri"/>
                <a:sym typeface="Calibri"/>
              </a:rPr>
              <a:t>Greedy Approach</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Our task is to maximize the number of non-conflicting activities.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Two activities </a:t>
            </a:r>
            <a:r>
              <a:rPr b="1" i="0" lang="en-US" sz="1800" u="none" cap="none" strike="noStrike">
                <a:solidFill>
                  <a:schemeClr val="dk1"/>
                </a:solidFill>
                <a:latin typeface="Calibri"/>
                <a:ea typeface="Calibri"/>
                <a:cs typeface="Calibri"/>
                <a:sym typeface="Calibri"/>
              </a:rPr>
              <a:t>A1</a:t>
            </a:r>
            <a:r>
              <a:rPr b="0" i="0" lang="en-US" sz="1800" u="none" cap="none" strike="noStrike">
                <a:solidFill>
                  <a:schemeClr val="dk1"/>
                </a:solidFill>
                <a:latin typeface="Calibri"/>
                <a:ea typeface="Calibri"/>
                <a:cs typeface="Calibri"/>
                <a:sym typeface="Calibri"/>
              </a:rPr>
              <a:t> and </a:t>
            </a:r>
            <a:r>
              <a:rPr b="1" i="0" lang="en-US" sz="1800" u="none" cap="none" strike="noStrike">
                <a:solidFill>
                  <a:schemeClr val="dk1"/>
                </a:solidFill>
                <a:latin typeface="Calibri"/>
                <a:ea typeface="Calibri"/>
                <a:cs typeface="Calibri"/>
                <a:sym typeface="Calibri"/>
              </a:rPr>
              <a:t>A2</a:t>
            </a:r>
            <a:r>
              <a:rPr b="0" i="0" lang="en-US" sz="1800" u="none" cap="none" strike="noStrike">
                <a:solidFill>
                  <a:schemeClr val="dk1"/>
                </a:solidFill>
                <a:latin typeface="Calibri"/>
                <a:ea typeface="Calibri"/>
                <a:cs typeface="Calibri"/>
                <a:sym typeface="Calibri"/>
              </a:rPr>
              <a:t> are said to be non-conflicting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if </a:t>
            </a:r>
            <a:r>
              <a:rPr b="1" i="0" lang="en-US" sz="1800" u="none" cap="none" strike="noStrike">
                <a:solidFill>
                  <a:schemeClr val="dk1"/>
                </a:solidFill>
                <a:latin typeface="Calibri"/>
                <a:ea typeface="Calibri"/>
                <a:cs typeface="Calibri"/>
                <a:sym typeface="Calibri"/>
              </a:rPr>
              <a:t>S1 &gt;= F2 </a:t>
            </a:r>
            <a:r>
              <a:rPr b="0" i="0" lang="en-US" sz="1800" u="none" cap="none" strike="noStrike">
                <a:solidFill>
                  <a:schemeClr val="dk1"/>
                </a:solidFill>
                <a:latin typeface="Calibri"/>
                <a:ea typeface="Calibri"/>
                <a:cs typeface="Calibri"/>
                <a:sym typeface="Calibri"/>
              </a:rPr>
              <a:t>or </a:t>
            </a:r>
            <a:r>
              <a:rPr b="1" i="0" lang="en-US" sz="1800" u="none" cap="none" strike="noStrike">
                <a:solidFill>
                  <a:schemeClr val="dk1"/>
                </a:solidFill>
                <a:latin typeface="Calibri"/>
                <a:ea typeface="Calibri"/>
                <a:cs typeface="Calibri"/>
                <a:sym typeface="Calibri"/>
              </a:rPr>
              <a:t>S2 &gt;= F1,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114300" lvl="0" marL="0" marR="0" rtl="0" algn="l">
              <a:lnSpc>
                <a:spcPct val="10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alibri"/>
                <a:ea typeface="Calibri"/>
                <a:cs typeface="Calibri"/>
                <a:sym typeface="Calibri"/>
              </a:rPr>
              <a:t>where </a:t>
            </a:r>
            <a:r>
              <a:rPr b="1" i="0" lang="en-US" sz="1800" u="none" cap="none" strike="noStrike">
                <a:solidFill>
                  <a:schemeClr val="dk1"/>
                </a:solidFill>
                <a:latin typeface="Calibri"/>
                <a:ea typeface="Calibri"/>
                <a:cs typeface="Calibri"/>
                <a:sym typeface="Calibri"/>
              </a:rPr>
              <a:t>S</a:t>
            </a:r>
            <a:r>
              <a:rPr b="0" i="0" lang="en-US" sz="1800" u="none" cap="none" strike="noStrike">
                <a:solidFill>
                  <a:schemeClr val="dk1"/>
                </a:solidFill>
                <a:latin typeface="Calibri"/>
                <a:ea typeface="Calibri"/>
                <a:cs typeface="Calibri"/>
                <a:sym typeface="Calibri"/>
              </a:rPr>
              <a:t> and </a:t>
            </a:r>
            <a:r>
              <a:rPr b="1" i="0" lang="en-US" sz="1800" u="none" cap="none" strike="noStrike">
                <a:solidFill>
                  <a:schemeClr val="dk1"/>
                </a:solidFill>
                <a:latin typeface="Calibri"/>
                <a:ea typeface="Calibri"/>
                <a:cs typeface="Calibri"/>
                <a:sym typeface="Calibri"/>
              </a:rPr>
              <a:t>F</a:t>
            </a:r>
            <a:r>
              <a:rPr b="0" i="0" lang="en-US" sz="1800" u="none" cap="none" strike="noStrike">
                <a:solidFill>
                  <a:schemeClr val="dk1"/>
                </a:solidFill>
                <a:latin typeface="Calibri"/>
                <a:ea typeface="Calibri"/>
                <a:cs typeface="Calibri"/>
                <a:sym typeface="Calibri"/>
              </a:rPr>
              <a:t> denote the start and end time respectively.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9" name="Google Shape;419;p2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20" name="Google Shape;420;p26"/>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21" name="Google Shape;421;p26"/>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22" name="Google Shape;422;p26"/>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3" name="Google Shape;423;p26"/>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24" name="Google Shape;424;p26"/>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25" name="Google Shape;425;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26" name="Google Shape;426;p26"/>
          <p:cNvSpPr txBox="1"/>
          <p:nvPr/>
        </p:nvSpPr>
        <p:spPr>
          <a:xfrm>
            <a:off x="506776" y="1553378"/>
            <a:ext cx="27101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Example</a:t>
            </a:r>
            <a:endParaRPr b="1" i="0" sz="1800" u="none" cap="none" strike="noStrike">
              <a:solidFill>
                <a:schemeClr val="dk1"/>
              </a:solidFill>
              <a:latin typeface="Calibri"/>
              <a:ea typeface="Calibri"/>
              <a:cs typeface="Calibri"/>
              <a:sym typeface="Calibri"/>
            </a:endParaRPr>
          </a:p>
        </p:txBody>
      </p:sp>
      <p:pic>
        <p:nvPicPr>
          <p:cNvPr descr="topic of image" id="427" name="Google Shape;427;p26"/>
          <p:cNvPicPr preferRelativeResize="0"/>
          <p:nvPr/>
        </p:nvPicPr>
        <p:blipFill rotWithShape="1">
          <a:blip r:embed="rId5">
            <a:alphaModFix/>
          </a:blip>
          <a:srcRect b="0" l="0" r="0" t="0"/>
          <a:stretch/>
        </p:blipFill>
        <p:spPr>
          <a:xfrm>
            <a:off x="673368" y="1966299"/>
            <a:ext cx="6543675" cy="40874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33" name="Google Shape;433;p2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34" name="Google Shape;434;p27"/>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35" name="Google Shape;435;p27"/>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36" name="Google Shape;436;p27"/>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7" name="Google Shape;437;p27"/>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38" name="Google Shape;438;p27"/>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39" name="Google Shape;439;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descr="topic of image" id="440" name="Google Shape;440;p27"/>
          <p:cNvPicPr preferRelativeResize="0"/>
          <p:nvPr/>
        </p:nvPicPr>
        <p:blipFill rotWithShape="1">
          <a:blip r:embed="rId5">
            <a:alphaModFix/>
          </a:blip>
          <a:srcRect b="0" l="0" r="0" t="0"/>
          <a:stretch/>
        </p:blipFill>
        <p:spPr>
          <a:xfrm>
            <a:off x="539827" y="1421577"/>
            <a:ext cx="8020279" cy="447675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46" name="Google Shape;446;p2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47" name="Google Shape;447;p28"/>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48" name="Google Shape;448;p28"/>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49" name="Google Shape;449;p28"/>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0" name="Google Shape;450;p28"/>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51" name="Google Shape;451;p28"/>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52" name="Google Shape;452;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53" name="Google Shape;453;p28"/>
          <p:cNvSpPr/>
          <p:nvPr/>
        </p:nvSpPr>
        <p:spPr>
          <a:xfrm>
            <a:off x="286439" y="1443841"/>
            <a:ext cx="8218583"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 this example, we take the start and finish time of activities as follows:</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start = [1, 3, 2, 0, 5, 8, 11]</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finish = [3, 4, 5, 7, 9, 10, 12]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1)Sorted by their finish time, the activity 0 gets selected.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2)As the activity 1 has starting time which is equal to the finish time of activity 0, it gets selected.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3)Activities 2 and 3 have smaller starting time than finish time of activity 1, so they get rejected.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4)Based on similar comparisons, activities 4 and 6 also get selected,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whereas activity 5 gets rejected.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5)In this example, in all the activities 0, 1, 4 and 6 get selected, while others get rejected.</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59" name="Google Shape;459;p29"/>
          <p:cNvPicPr preferRelativeResize="0"/>
          <p:nvPr>
            <p:ph idx="1" type="body"/>
          </p:nvPr>
        </p:nvPicPr>
        <p:blipFill rotWithShape="1">
          <a:blip r:embed="rId3">
            <a:alphaModFix/>
          </a:blip>
          <a:srcRect b="0" l="0" r="0" t="0"/>
          <a:stretch/>
        </p:blipFill>
        <p:spPr>
          <a:xfrm>
            <a:off x="0" y="11017"/>
            <a:ext cx="9144000" cy="6858000"/>
          </a:xfrm>
          <a:prstGeom prst="rect">
            <a:avLst/>
          </a:prstGeom>
          <a:noFill/>
          <a:ln>
            <a:noFill/>
          </a:ln>
        </p:spPr>
      </p:pic>
      <p:pic>
        <p:nvPicPr>
          <p:cNvPr id="460" name="Google Shape;460;p29"/>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61" name="Google Shape;461;p29"/>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62" name="Google Shape;462;p29"/>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3" name="Google Shape;463;p29"/>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64" name="Google Shape;464;p29"/>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65" name="Google Shape;465;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66" name="Google Shape;466;p29"/>
          <p:cNvSpPr/>
          <p:nvPr/>
        </p:nvSpPr>
        <p:spPr>
          <a:xfrm>
            <a:off x="216945" y="1123186"/>
            <a:ext cx="6040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Dynamic Programming</a:t>
            </a:r>
            <a:endParaRPr b="0" i="0" sz="2000" u="none" cap="none" strike="noStrike">
              <a:solidFill>
                <a:schemeClr val="dk1"/>
              </a:solidFill>
              <a:latin typeface="Calibri"/>
              <a:ea typeface="Calibri"/>
              <a:cs typeface="Calibri"/>
              <a:sym typeface="Calibri"/>
            </a:endParaRPr>
          </a:p>
        </p:txBody>
      </p:sp>
      <p:sp>
        <p:nvSpPr>
          <p:cNvPr id="467" name="Google Shape;467;p29"/>
          <p:cNvSpPr/>
          <p:nvPr/>
        </p:nvSpPr>
        <p:spPr>
          <a:xfrm>
            <a:off x="253400" y="1501250"/>
            <a:ext cx="8483100" cy="4908600"/>
          </a:xfrm>
          <a:prstGeom prst="rect">
            <a:avLst/>
          </a:prstGeom>
          <a:noFill/>
          <a:ln>
            <a:noFill/>
          </a:ln>
        </p:spPr>
        <p:txBody>
          <a:bodyPr anchorCtr="0" anchor="t" bIns="45700" lIns="91425" spcFirstLastPara="1" rIns="91425" wrap="square" tIns="45700">
            <a:spAutoFit/>
          </a:bodyPr>
          <a:lstStyle/>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Dynamic programming approach is similar to divide and conquer in breaking down the problem into smaller and yet smaller possible sub-problems.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But unlike divide and conquer, these sub-problems are not solved independently. </a:t>
            </a:r>
            <a:endParaRPr b="0" i="0" sz="16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12700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Calibri"/>
                <a:ea typeface="Calibri"/>
                <a:cs typeface="Calibri"/>
                <a:sym typeface="Calibri"/>
              </a:rPr>
              <a:t>Rather, results of these smaller sub-problems are remembered and used for similar or overlapping sub-problems.</a:t>
            </a:r>
            <a:endParaRPr b="0" i="0" sz="2000" u="none" cap="none" strike="noStrike">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The main use of dynamic programming is to solve optimization problems. </a:t>
            </a:r>
            <a:endParaRPr sz="1600">
              <a:solidFill>
                <a:schemeClr val="dk1"/>
              </a:solidFill>
            </a:endParaRPr>
          </a:p>
          <a:p>
            <a:pPr indent="0" lvl="0" marL="9144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Here, optimization problems mean that when we are trying to find out the minimum or the maximum solution of a problem.</a:t>
            </a:r>
            <a:endParaRPr sz="1600">
              <a:solidFill>
                <a:schemeClr val="dk1"/>
              </a:solidFill>
            </a:endParaRPr>
          </a:p>
          <a:p>
            <a:pPr indent="0" lvl="0" marL="914400" rtl="0" algn="l">
              <a:spcBef>
                <a:spcPts val="0"/>
              </a:spcBef>
              <a:spcAft>
                <a:spcPts val="0"/>
              </a:spcAft>
              <a:buNone/>
            </a:pPr>
            <a:r>
              <a:t/>
            </a:r>
            <a:endParaRPr sz="2000">
              <a:solidFill>
                <a:schemeClr val="dk1"/>
              </a:solidFill>
              <a:latin typeface="Calibri"/>
              <a:ea typeface="Calibri"/>
              <a:cs typeface="Calibri"/>
              <a:sym typeface="Calibri"/>
            </a:endParaRPr>
          </a:p>
          <a:p>
            <a:pPr indent="-355600" lvl="0" marL="457200" rtl="0" algn="l">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 The dynamic programming guarantees to find the optimal solution of a problem if the solution exists.</a:t>
            </a:r>
            <a:endParaRPr sz="20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73" name="Google Shape;473;p3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74" name="Google Shape;474;p3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75" name="Google Shape;475;p3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76" name="Google Shape;476;p3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77" name="Google Shape;477;p3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78" name="Google Shape;478;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79" name="Google Shape;479;p30"/>
          <p:cNvSpPr/>
          <p:nvPr/>
        </p:nvSpPr>
        <p:spPr>
          <a:xfrm>
            <a:off x="450375" y="1443850"/>
            <a:ext cx="8440200" cy="4912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The following are the steps that the dynamic programming follows:</a:t>
            </a:r>
            <a:endParaRPr b="1" i="0" sz="1700" u="none" cap="none" strike="noStrike">
              <a:solidFill>
                <a:srgbClr val="000000"/>
              </a:solidFill>
            </a:endParaRPr>
          </a:p>
          <a:p>
            <a:pPr indent="0" lvl="0" marL="0" marR="0" rtl="0" algn="l">
              <a:lnSpc>
                <a:spcPct val="100000"/>
              </a:lnSpc>
              <a:spcBef>
                <a:spcPts val="0"/>
              </a:spcBef>
              <a:spcAft>
                <a:spcPts val="0"/>
              </a:spcAft>
              <a:buClr>
                <a:srgbClr val="000000"/>
              </a:buClr>
              <a:buSzPts val="1800"/>
              <a:buFont typeface="Arial"/>
              <a:buNone/>
            </a:pPr>
            <a:r>
              <a:t/>
            </a:r>
            <a:endParaRPr b="0" i="1" sz="2100" u="none" cap="none" strike="noStrike">
              <a:solidFill>
                <a:schemeClr val="dk1"/>
              </a:solidFill>
              <a:latin typeface="Calibri"/>
              <a:ea typeface="Calibri"/>
              <a:cs typeface="Calibri"/>
              <a:sym typeface="Calibri"/>
            </a:endParaRPr>
          </a:p>
          <a:p>
            <a:pPr indent="-133350" lvl="0" marL="457200" marR="0" rtl="0" algn="l">
              <a:lnSpc>
                <a:spcPct val="100000"/>
              </a:lnSpc>
              <a:spcBef>
                <a:spcPts val="0"/>
              </a:spcBef>
              <a:spcAft>
                <a:spcPts val="0"/>
              </a:spcAft>
              <a:buClr>
                <a:schemeClr val="dk1"/>
              </a:buClr>
              <a:buSzPts val="2100"/>
              <a:buFont typeface="Noto Sans Symbols"/>
              <a:buChar char="➢"/>
            </a:pPr>
            <a:r>
              <a:rPr b="0" i="1" lang="en-US" sz="2100" u="none" cap="none" strike="noStrike">
                <a:solidFill>
                  <a:schemeClr val="dk1"/>
                </a:solidFill>
                <a:latin typeface="Calibri"/>
                <a:ea typeface="Calibri"/>
                <a:cs typeface="Calibri"/>
                <a:sym typeface="Calibri"/>
              </a:rPr>
              <a:t>It breaks down the complex problem into simpler subproblems.</a:t>
            </a:r>
            <a:endParaRPr b="0" i="1"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100" u="none" cap="none" strike="noStrike">
              <a:solidFill>
                <a:schemeClr val="dk1"/>
              </a:solidFill>
              <a:latin typeface="Calibri"/>
              <a:ea typeface="Calibri"/>
              <a:cs typeface="Calibri"/>
              <a:sym typeface="Calibri"/>
            </a:endParaRPr>
          </a:p>
          <a:p>
            <a:pPr indent="-133350" lvl="0" marL="457200" marR="0" rtl="0" algn="l">
              <a:lnSpc>
                <a:spcPct val="100000"/>
              </a:lnSpc>
              <a:spcBef>
                <a:spcPts val="0"/>
              </a:spcBef>
              <a:spcAft>
                <a:spcPts val="0"/>
              </a:spcAft>
              <a:buClr>
                <a:schemeClr val="dk1"/>
              </a:buClr>
              <a:buSzPts val="2100"/>
              <a:buFont typeface="Noto Sans Symbols"/>
              <a:buChar char="➢"/>
            </a:pPr>
            <a:r>
              <a:rPr b="0" i="1" lang="en-US" sz="2100" u="none" cap="none" strike="noStrike">
                <a:solidFill>
                  <a:schemeClr val="dk1"/>
                </a:solidFill>
                <a:latin typeface="Calibri"/>
                <a:ea typeface="Calibri"/>
                <a:cs typeface="Calibri"/>
                <a:sym typeface="Calibri"/>
              </a:rPr>
              <a:t>It finds the optimal solution to these sub-problems.</a:t>
            </a:r>
            <a:endParaRPr b="0" i="1"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100" u="none" cap="none" strike="noStrike">
              <a:solidFill>
                <a:schemeClr val="dk1"/>
              </a:solidFill>
              <a:latin typeface="Calibri"/>
              <a:ea typeface="Calibri"/>
              <a:cs typeface="Calibri"/>
              <a:sym typeface="Calibri"/>
            </a:endParaRPr>
          </a:p>
          <a:p>
            <a:pPr indent="-133350" lvl="0" marL="457200" marR="0" rtl="0" algn="l">
              <a:lnSpc>
                <a:spcPct val="100000"/>
              </a:lnSpc>
              <a:spcBef>
                <a:spcPts val="0"/>
              </a:spcBef>
              <a:spcAft>
                <a:spcPts val="0"/>
              </a:spcAft>
              <a:buClr>
                <a:schemeClr val="dk1"/>
              </a:buClr>
              <a:buSzPts val="2100"/>
              <a:buFont typeface="Noto Sans Symbols"/>
              <a:buChar char="➢"/>
            </a:pPr>
            <a:r>
              <a:rPr b="0" i="1" lang="en-US" sz="2100" u="none" cap="none" strike="noStrike">
                <a:solidFill>
                  <a:schemeClr val="dk1"/>
                </a:solidFill>
                <a:latin typeface="Calibri"/>
                <a:ea typeface="Calibri"/>
                <a:cs typeface="Calibri"/>
                <a:sym typeface="Calibri"/>
              </a:rPr>
              <a:t>It stores the results of subproblems (memoization). The process of storing the results of subproblems is known as memorization.</a:t>
            </a:r>
            <a:endParaRPr b="0" i="1"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100" u="none" cap="none" strike="noStrike">
              <a:solidFill>
                <a:schemeClr val="dk1"/>
              </a:solidFill>
              <a:latin typeface="Calibri"/>
              <a:ea typeface="Calibri"/>
              <a:cs typeface="Calibri"/>
              <a:sym typeface="Calibri"/>
            </a:endParaRPr>
          </a:p>
          <a:p>
            <a:pPr indent="-133350" lvl="0" marL="457200" marR="0" rtl="0" algn="l">
              <a:lnSpc>
                <a:spcPct val="100000"/>
              </a:lnSpc>
              <a:spcBef>
                <a:spcPts val="0"/>
              </a:spcBef>
              <a:spcAft>
                <a:spcPts val="0"/>
              </a:spcAft>
              <a:buClr>
                <a:schemeClr val="dk1"/>
              </a:buClr>
              <a:buSzPts val="2100"/>
              <a:buFont typeface="Noto Sans Symbols"/>
              <a:buChar char="➢"/>
            </a:pPr>
            <a:r>
              <a:rPr b="0" i="1" lang="en-US" sz="2100" u="none" cap="none" strike="noStrike">
                <a:solidFill>
                  <a:schemeClr val="dk1"/>
                </a:solidFill>
                <a:latin typeface="Calibri"/>
                <a:ea typeface="Calibri"/>
                <a:cs typeface="Calibri"/>
                <a:sym typeface="Calibri"/>
              </a:rPr>
              <a:t>It reuses them so that same sub-problem is calculated more than once.</a:t>
            </a:r>
            <a:endParaRPr b="0" i="1"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1" sz="2100" u="none" cap="none" strike="noStrike">
              <a:solidFill>
                <a:schemeClr val="dk1"/>
              </a:solidFill>
              <a:latin typeface="Calibri"/>
              <a:ea typeface="Calibri"/>
              <a:cs typeface="Calibri"/>
              <a:sym typeface="Calibri"/>
            </a:endParaRPr>
          </a:p>
          <a:p>
            <a:pPr indent="-133350" lvl="0" marL="457200" marR="0" rtl="0" algn="l">
              <a:lnSpc>
                <a:spcPct val="100000"/>
              </a:lnSpc>
              <a:spcBef>
                <a:spcPts val="0"/>
              </a:spcBef>
              <a:spcAft>
                <a:spcPts val="0"/>
              </a:spcAft>
              <a:buClr>
                <a:schemeClr val="dk1"/>
              </a:buClr>
              <a:buSzPts val="2100"/>
              <a:buFont typeface="Noto Sans Symbols"/>
              <a:buChar char="➢"/>
            </a:pPr>
            <a:r>
              <a:rPr b="0" i="1" lang="en-US" sz="2100" u="none" cap="none" strike="noStrike">
                <a:solidFill>
                  <a:schemeClr val="dk1"/>
                </a:solidFill>
                <a:latin typeface="Calibri"/>
                <a:ea typeface="Calibri"/>
                <a:cs typeface="Calibri"/>
                <a:sym typeface="Calibri"/>
              </a:rPr>
              <a:t>Finally, calculate the result of the complex problem.</a:t>
            </a:r>
            <a:endParaRPr b="0" i="1" sz="21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85" name="Google Shape;485;p31"/>
          <p:cNvPicPr preferRelativeResize="0"/>
          <p:nvPr>
            <p:ph idx="1" type="body"/>
          </p:nvPr>
        </p:nvPicPr>
        <p:blipFill rotWithShape="1">
          <a:blip r:embed="rId3">
            <a:alphaModFix/>
          </a:blip>
          <a:srcRect b="0" l="0" r="0" t="0"/>
          <a:stretch/>
        </p:blipFill>
        <p:spPr>
          <a:xfrm>
            <a:off x="0" y="12181"/>
            <a:ext cx="9144000" cy="6858000"/>
          </a:xfrm>
          <a:prstGeom prst="rect">
            <a:avLst/>
          </a:prstGeom>
          <a:noFill/>
          <a:ln>
            <a:noFill/>
          </a:ln>
        </p:spPr>
      </p:pic>
      <p:pic>
        <p:nvPicPr>
          <p:cNvPr id="486" name="Google Shape;486;p3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487" name="Google Shape;487;p3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488" name="Google Shape;488;p3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89" name="Google Shape;489;p31"/>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490" name="Google Shape;490;p3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91" name="Google Shape;491;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492" name="Google Shape;492;p31"/>
          <p:cNvSpPr/>
          <p:nvPr/>
        </p:nvSpPr>
        <p:spPr>
          <a:xfrm>
            <a:off x="336013" y="1413956"/>
            <a:ext cx="734274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Approaches of Dynamic Programming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There are two approaches to dynamic programming:</a:t>
            </a:r>
            <a:endParaRPr b="0" i="0" sz="1800" u="none" cap="none" strike="noStrike">
              <a:solidFill>
                <a:schemeClr val="dk1"/>
              </a:solidFill>
              <a:latin typeface="Calibri"/>
              <a:ea typeface="Calibri"/>
              <a:cs typeface="Calibri"/>
              <a:sym typeface="Calibri"/>
            </a:endParaRPr>
          </a:p>
        </p:txBody>
      </p:sp>
      <p:sp>
        <p:nvSpPr>
          <p:cNvPr id="493" name="Google Shape;493;p31"/>
          <p:cNvSpPr/>
          <p:nvPr/>
        </p:nvSpPr>
        <p:spPr>
          <a:xfrm>
            <a:off x="572878" y="2351933"/>
            <a:ext cx="6406308" cy="646331"/>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Top-down approach</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Bottom-up approach</a:t>
            </a:r>
            <a:endParaRPr b="0" i="0" sz="1400" u="none" cap="none" strike="noStrike">
              <a:solidFill>
                <a:srgbClr val="000000"/>
              </a:solidFill>
              <a:latin typeface="Arial"/>
              <a:ea typeface="Arial"/>
              <a:cs typeface="Arial"/>
              <a:sym typeface="Arial"/>
            </a:endParaRPr>
          </a:p>
        </p:txBody>
      </p:sp>
      <p:pic>
        <p:nvPicPr>
          <p:cNvPr descr="Types of the approach of dynamic programming algorithm" id="494" name="Google Shape;494;p31"/>
          <p:cNvPicPr preferRelativeResize="0"/>
          <p:nvPr/>
        </p:nvPicPr>
        <p:blipFill rotWithShape="1">
          <a:blip r:embed="rId5">
            <a:alphaModFix/>
          </a:blip>
          <a:srcRect b="0" l="0" r="0" t="0"/>
          <a:stretch/>
        </p:blipFill>
        <p:spPr>
          <a:xfrm>
            <a:off x="2919469" y="3327094"/>
            <a:ext cx="5950562" cy="294150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00" name="Google Shape;500;p32"/>
          <p:cNvPicPr preferRelativeResize="0"/>
          <p:nvPr>
            <p:ph idx="1" type="body"/>
          </p:nvPr>
        </p:nvPicPr>
        <p:blipFill rotWithShape="1">
          <a:blip r:embed="rId3">
            <a:alphaModFix/>
          </a:blip>
          <a:srcRect b="0" l="0" r="0" t="0"/>
          <a:stretch/>
        </p:blipFill>
        <p:spPr>
          <a:xfrm>
            <a:off x="-14748" y="0"/>
            <a:ext cx="9144000" cy="6858000"/>
          </a:xfrm>
          <a:prstGeom prst="rect">
            <a:avLst/>
          </a:prstGeom>
          <a:noFill/>
          <a:ln>
            <a:noFill/>
          </a:ln>
        </p:spPr>
      </p:pic>
      <p:pic>
        <p:nvPicPr>
          <p:cNvPr id="501" name="Google Shape;501;p3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02" name="Google Shape;502;p3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03" name="Google Shape;503;p3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04" name="Google Shape;504;p3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05" name="Google Shape;505;p3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06" name="Google Shape;506;p32"/>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507" name="Google Shape;507;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08" name="Google Shape;508;p32"/>
          <p:cNvSpPr/>
          <p:nvPr/>
        </p:nvSpPr>
        <p:spPr>
          <a:xfrm>
            <a:off x="450375" y="1135550"/>
            <a:ext cx="8626200" cy="5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Top-down approach</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The top-down approach follows the memorization technique, while bottom-up approach follows the tabulation method.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Here memorization is equal to the sum of recursion and caching.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Recursion means calling the function itself, while caching means storing the intermediate results.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Advantages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It is very easy to understand and implement.</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It solves the subproblems only when it is required.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It is easy to debug.</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20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000" u="none" cap="none" strike="noStrike">
                <a:solidFill>
                  <a:schemeClr val="dk1"/>
                </a:solidFill>
                <a:latin typeface="Calibri"/>
                <a:ea typeface="Calibri"/>
                <a:cs typeface="Calibri"/>
                <a:sym typeface="Calibri"/>
              </a:rPr>
              <a:t>Disadvantages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It uses the recursion technique that occupies more memory in the call stack. Sometimes when the recursion is too deep, the stack overflow condition will occur.</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2000" u="none" cap="none" strike="noStrike">
                <a:solidFill>
                  <a:schemeClr val="dk1"/>
                </a:solidFill>
                <a:latin typeface="Calibri"/>
                <a:ea typeface="Calibri"/>
                <a:cs typeface="Calibri"/>
                <a:sym typeface="Calibri"/>
              </a:rPr>
              <a:t>It occupies more memory that degrades the overall performance.</a:t>
            </a:r>
            <a:endParaRPr b="0" i="0" sz="20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14" name="Google Shape;514;p3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15" name="Google Shape;515;p3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16" name="Google Shape;516;p3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17" name="Google Shape;517;p3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18" name="Google Shape;518;p33"/>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19" name="Google Shape;519;p33"/>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20" name="Google Shape;520;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21" name="Google Shape;521;p33"/>
          <p:cNvSpPr/>
          <p:nvPr/>
        </p:nvSpPr>
        <p:spPr>
          <a:xfrm>
            <a:off x="440675" y="1257375"/>
            <a:ext cx="8338800" cy="5099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200" u="none" cap="none" strike="noStrike">
                <a:solidFill>
                  <a:schemeClr val="dk1"/>
                </a:solidFill>
                <a:latin typeface="Calibri"/>
                <a:ea typeface="Calibri"/>
                <a:cs typeface="Calibri"/>
                <a:sym typeface="Calibri"/>
              </a:rPr>
              <a:t>Bottom-Up approach</a:t>
            </a:r>
            <a:endParaRPr b="1"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sz="2000">
              <a:solidFill>
                <a:schemeClr val="dk1"/>
              </a:solidFill>
              <a:latin typeface="Calibri"/>
              <a:ea typeface="Calibri"/>
              <a:cs typeface="Calibri"/>
              <a:sym typeface="Calibri"/>
            </a:endParaRPr>
          </a:p>
          <a:p>
            <a:pPr indent="-133350" lvl="0" marL="0" marR="0" rtl="0" algn="l">
              <a:lnSpc>
                <a:spcPct val="100000"/>
              </a:lnSpc>
              <a:spcBef>
                <a:spcPts val="0"/>
              </a:spcBef>
              <a:spcAft>
                <a:spcPts val="0"/>
              </a:spcAft>
              <a:buClr>
                <a:schemeClr val="dk1"/>
              </a:buClr>
              <a:buSzPts val="2100"/>
              <a:buFont typeface="Noto Sans Symbols"/>
              <a:buChar char="➢"/>
            </a:pPr>
            <a:r>
              <a:rPr b="0" i="0" lang="en-US" sz="2100" u="none" cap="none" strike="noStrike">
                <a:solidFill>
                  <a:schemeClr val="dk1"/>
                </a:solidFill>
                <a:latin typeface="Calibri"/>
                <a:ea typeface="Calibri"/>
                <a:cs typeface="Calibri"/>
                <a:sym typeface="Calibri"/>
              </a:rPr>
              <a:t>The bottom-up approach is also one of the techniques which can be used to implement the dynamic programming. </a:t>
            </a:r>
            <a:endParaRPr b="0" i="0"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100" u="none" cap="none" strike="noStrike">
              <a:solidFill>
                <a:schemeClr val="dk1"/>
              </a:solidFill>
              <a:latin typeface="Calibri"/>
              <a:ea typeface="Calibri"/>
              <a:cs typeface="Calibri"/>
              <a:sym typeface="Calibri"/>
            </a:endParaRPr>
          </a:p>
          <a:p>
            <a:pPr indent="-133350" lvl="0" marL="0" marR="0" rtl="0" algn="l">
              <a:lnSpc>
                <a:spcPct val="100000"/>
              </a:lnSpc>
              <a:spcBef>
                <a:spcPts val="0"/>
              </a:spcBef>
              <a:spcAft>
                <a:spcPts val="0"/>
              </a:spcAft>
              <a:buClr>
                <a:schemeClr val="dk1"/>
              </a:buClr>
              <a:buSzPts val="2100"/>
              <a:buFont typeface="Noto Sans Symbols"/>
              <a:buChar char="➢"/>
            </a:pPr>
            <a:r>
              <a:rPr b="0" i="0" lang="en-US" sz="2100" u="none" cap="none" strike="noStrike">
                <a:solidFill>
                  <a:schemeClr val="dk1"/>
                </a:solidFill>
                <a:latin typeface="Calibri"/>
                <a:ea typeface="Calibri"/>
                <a:cs typeface="Calibri"/>
                <a:sym typeface="Calibri"/>
              </a:rPr>
              <a:t>It uses the tabulation technique to implement the dynamic programming approach. </a:t>
            </a:r>
            <a:endParaRPr b="0" i="0"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100" u="none" cap="none" strike="noStrike">
              <a:solidFill>
                <a:schemeClr val="dk1"/>
              </a:solidFill>
              <a:latin typeface="Calibri"/>
              <a:ea typeface="Calibri"/>
              <a:cs typeface="Calibri"/>
              <a:sym typeface="Calibri"/>
            </a:endParaRPr>
          </a:p>
          <a:p>
            <a:pPr indent="-133350" lvl="0" marL="0" marR="0" rtl="0" algn="l">
              <a:lnSpc>
                <a:spcPct val="100000"/>
              </a:lnSpc>
              <a:spcBef>
                <a:spcPts val="0"/>
              </a:spcBef>
              <a:spcAft>
                <a:spcPts val="0"/>
              </a:spcAft>
              <a:buClr>
                <a:schemeClr val="dk1"/>
              </a:buClr>
              <a:buSzPts val="2100"/>
              <a:buFont typeface="Noto Sans Symbols"/>
              <a:buChar char="➢"/>
            </a:pPr>
            <a:r>
              <a:rPr b="0" i="0" lang="en-US" sz="2100" u="none" cap="none" strike="noStrike">
                <a:solidFill>
                  <a:schemeClr val="dk1"/>
                </a:solidFill>
                <a:latin typeface="Calibri"/>
                <a:ea typeface="Calibri"/>
                <a:cs typeface="Calibri"/>
                <a:sym typeface="Calibri"/>
              </a:rPr>
              <a:t>It solves the same kind of problems but it removes the recursion. </a:t>
            </a:r>
            <a:endParaRPr b="0" i="0"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100" u="none" cap="none" strike="noStrike">
              <a:solidFill>
                <a:schemeClr val="dk1"/>
              </a:solidFill>
              <a:latin typeface="Calibri"/>
              <a:ea typeface="Calibri"/>
              <a:cs typeface="Calibri"/>
              <a:sym typeface="Calibri"/>
            </a:endParaRPr>
          </a:p>
          <a:p>
            <a:pPr indent="-133350" lvl="0" marL="0" marR="0" rtl="0" algn="l">
              <a:lnSpc>
                <a:spcPct val="100000"/>
              </a:lnSpc>
              <a:spcBef>
                <a:spcPts val="0"/>
              </a:spcBef>
              <a:spcAft>
                <a:spcPts val="0"/>
              </a:spcAft>
              <a:buClr>
                <a:schemeClr val="dk1"/>
              </a:buClr>
              <a:buSzPts val="2100"/>
              <a:buFont typeface="Noto Sans Symbols"/>
              <a:buChar char="➢"/>
            </a:pPr>
            <a:r>
              <a:rPr b="0" i="0" lang="en-US" sz="2100" u="none" cap="none" strike="noStrike">
                <a:solidFill>
                  <a:schemeClr val="dk1"/>
                </a:solidFill>
                <a:latin typeface="Calibri"/>
                <a:ea typeface="Calibri"/>
                <a:cs typeface="Calibri"/>
                <a:sym typeface="Calibri"/>
              </a:rPr>
              <a:t>If we remove the recursion, there is no stack overflow issue and no overhead of the recursive functions. </a:t>
            </a:r>
            <a:endParaRPr b="0" i="0" sz="17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2100" u="none" cap="none" strike="noStrike">
              <a:solidFill>
                <a:schemeClr val="dk1"/>
              </a:solidFill>
              <a:latin typeface="Calibri"/>
              <a:ea typeface="Calibri"/>
              <a:cs typeface="Calibri"/>
              <a:sym typeface="Calibri"/>
            </a:endParaRPr>
          </a:p>
          <a:p>
            <a:pPr indent="-133350" lvl="0" marL="0" marR="0" rtl="0" algn="l">
              <a:lnSpc>
                <a:spcPct val="100000"/>
              </a:lnSpc>
              <a:spcBef>
                <a:spcPts val="0"/>
              </a:spcBef>
              <a:spcAft>
                <a:spcPts val="0"/>
              </a:spcAft>
              <a:buClr>
                <a:schemeClr val="dk1"/>
              </a:buClr>
              <a:buSzPts val="2100"/>
              <a:buFont typeface="Noto Sans Symbols"/>
              <a:buChar char="➢"/>
            </a:pPr>
            <a:r>
              <a:rPr b="0" i="0" lang="en-US" sz="2100" u="none" cap="none" strike="noStrike">
                <a:solidFill>
                  <a:schemeClr val="dk1"/>
                </a:solidFill>
                <a:latin typeface="Calibri"/>
                <a:ea typeface="Calibri"/>
                <a:cs typeface="Calibri"/>
                <a:sym typeface="Calibri"/>
              </a:rPr>
              <a:t>In this tabulation technique, we solve the problems and store the results in a matrix.</a:t>
            </a:r>
            <a:endParaRPr b="0" i="0" sz="21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a:t>
            </a:r>
            <a:endParaRPr/>
          </a:p>
        </p:txBody>
      </p:sp>
      <p:pic>
        <p:nvPicPr>
          <p:cNvPr id="527" name="Google Shape;527;p3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28" name="Google Shape;528;p34"/>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29" name="Google Shape;529;p3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30" name="Google Shape;530;p3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1" name="Google Shape;531;p34"/>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32" name="Google Shape;532;p3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33" name="Google Shape;533;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34" name="Google Shape;534;p34"/>
          <p:cNvSpPr/>
          <p:nvPr/>
        </p:nvSpPr>
        <p:spPr>
          <a:xfrm>
            <a:off x="567147" y="1437575"/>
            <a:ext cx="8222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Algorithms: 0/1 Knapsack  Problem using Dynamic Programming</a:t>
            </a:r>
            <a:endParaRPr b="1" i="0" sz="2100" u="none" cap="none" strike="noStrike">
              <a:solidFill>
                <a:schemeClr val="dk1"/>
              </a:solidFill>
              <a:latin typeface="Calibri"/>
              <a:ea typeface="Calibri"/>
              <a:cs typeface="Calibri"/>
              <a:sym typeface="Calibri"/>
            </a:endParaRPr>
          </a:p>
        </p:txBody>
      </p:sp>
      <p:sp>
        <p:nvSpPr>
          <p:cNvPr id="535" name="Google Shape;535;p34"/>
          <p:cNvSpPr/>
          <p:nvPr/>
        </p:nvSpPr>
        <p:spPr>
          <a:xfrm>
            <a:off x="338125" y="1999425"/>
            <a:ext cx="8222100" cy="412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Algorithm </a:t>
            </a:r>
            <a:r>
              <a:rPr b="0" i="0" lang="en-US" sz="1800" u="none" cap="none" strike="noStrike">
                <a:solidFill>
                  <a:schemeClr val="dk1"/>
                </a:solidFill>
                <a:latin typeface="Calibri"/>
                <a:ea typeface="Calibri"/>
                <a:cs typeface="Calibri"/>
                <a:sym typeface="Calibri"/>
              </a:rPr>
              <a:t>DP_BINARY_KNAPSACK (V, W, M) // Description: Solve binary knapsack problem using dynamic programming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 Input: </a:t>
            </a:r>
            <a:r>
              <a:rPr b="0" i="0" lang="en-US" sz="1800" u="none" cap="none" strike="noStrike">
                <a:solidFill>
                  <a:schemeClr val="dk1"/>
                </a:solidFill>
                <a:latin typeface="Calibri"/>
                <a:ea typeface="Calibri"/>
                <a:cs typeface="Calibri"/>
                <a:sym typeface="Calibri"/>
              </a:rPr>
              <a:t>Set of items X, set of weight W, profit of items V and knapsack capacity M</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 Output: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Array V, which holds the solution of problem </a:t>
            </a:r>
            <a:endParaRPr b="0" i="0" sz="1400" u="none" cap="none" strike="noStrike">
              <a:solidFill>
                <a:srgbClr val="000000"/>
              </a:solidFill>
              <a:latin typeface="Arial"/>
              <a:ea typeface="Arial"/>
              <a:cs typeface="Arial"/>
              <a:sym typeface="Arial"/>
            </a:endParaRPr>
          </a:p>
          <a:p>
            <a:pPr indent="457200" lvl="0" marL="91440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for </a:t>
            </a:r>
            <a:r>
              <a:rPr b="0" i="0" lang="en-US" sz="1800" u="none" cap="none" strike="noStrike">
                <a:solidFill>
                  <a:schemeClr val="dk1"/>
                </a:solidFill>
                <a:latin typeface="Calibri"/>
                <a:ea typeface="Calibri"/>
                <a:cs typeface="Calibri"/>
                <a:sym typeface="Calibri"/>
              </a:rPr>
              <a:t>i ← 1 to n </a:t>
            </a:r>
            <a:r>
              <a:rPr b="1" i="0" lang="en-US" sz="1800" u="none" cap="none" strike="noStrike">
                <a:solidFill>
                  <a:schemeClr val="dk1"/>
                </a:solidFill>
                <a:latin typeface="Calibri"/>
                <a:ea typeface="Calibri"/>
                <a:cs typeface="Calibri"/>
                <a:sym typeface="Calibri"/>
              </a:rPr>
              <a:t>do</a:t>
            </a:r>
            <a:r>
              <a:rPr b="0" i="0" lang="en-US" sz="1800" u="none" cap="none" strike="noStrike">
                <a:solidFill>
                  <a:schemeClr val="dk1"/>
                </a:solidFill>
                <a:latin typeface="Calibri"/>
                <a:ea typeface="Calibri"/>
                <a:cs typeface="Calibri"/>
                <a:sym typeface="Calibri"/>
              </a:rPr>
              <a:t> V[i, 0] ← 0 </a:t>
            </a:r>
            <a:r>
              <a:rPr b="1" i="0" lang="en-US" sz="1800" u="none" cap="none" strike="noStrike">
                <a:solidFill>
                  <a:schemeClr val="dk1"/>
                </a:solidFill>
                <a:latin typeface="Calibri"/>
                <a:ea typeface="Calibri"/>
                <a:cs typeface="Calibri"/>
                <a:sym typeface="Calibri"/>
              </a:rPr>
              <a:t>end</a:t>
            </a:r>
            <a:r>
              <a:rPr b="0" i="0" lang="en-US" sz="1800" u="none" cap="none" strike="noStrike">
                <a:solidFill>
                  <a:schemeClr val="dk1"/>
                </a:solidFill>
                <a:latin typeface="Calibri"/>
                <a:ea typeface="Calibri"/>
                <a:cs typeface="Calibri"/>
                <a:sym typeface="Calibri"/>
              </a:rPr>
              <a:t> </a:t>
            </a:r>
            <a:br>
              <a:rPr b="0" i="0" lang="en-US" sz="1800" u="none" cap="none" strike="noStrike">
                <a:solidFill>
                  <a:schemeClr val="dk1"/>
                </a:solidFill>
                <a:latin typeface="Calibri"/>
                <a:ea typeface="Calibri"/>
                <a:cs typeface="Calibri"/>
                <a:sym typeface="Calibri"/>
              </a:rPr>
            </a:br>
            <a:r>
              <a:rPr b="0" i="0" lang="en-US" sz="1800" u="none" cap="none" strike="noStrike">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for </a:t>
            </a:r>
            <a:r>
              <a:rPr lang="en-US" sz="1800">
                <a:solidFill>
                  <a:schemeClr val="dk1"/>
                </a:solidFill>
                <a:latin typeface="Calibri"/>
                <a:ea typeface="Calibri"/>
                <a:cs typeface="Calibri"/>
                <a:sym typeface="Calibri"/>
              </a:rPr>
              <a:t>i ← 1 to M </a:t>
            </a:r>
            <a:r>
              <a:rPr b="1" lang="en-US" sz="1800">
                <a:solidFill>
                  <a:schemeClr val="dk1"/>
                </a:solidFill>
                <a:latin typeface="Calibri"/>
                <a:ea typeface="Calibri"/>
                <a:cs typeface="Calibri"/>
                <a:sym typeface="Calibri"/>
              </a:rPr>
              <a:t>do</a:t>
            </a:r>
            <a:r>
              <a:rPr lang="en-US" sz="1800">
                <a:solidFill>
                  <a:schemeClr val="dk1"/>
                </a:solidFill>
                <a:latin typeface="Calibri"/>
                <a:ea typeface="Calibri"/>
                <a:cs typeface="Calibri"/>
                <a:sym typeface="Calibri"/>
              </a:rPr>
              <a:t> V[0, i] ← 0 </a:t>
            </a:r>
            <a:r>
              <a:rPr b="1" lang="en-US" sz="1800">
                <a:solidFill>
                  <a:schemeClr val="dk1"/>
                </a:solidFill>
                <a:latin typeface="Calibri"/>
                <a:ea typeface="Calibri"/>
                <a:cs typeface="Calibri"/>
                <a:sym typeface="Calibri"/>
              </a:rPr>
              <a:t>end</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for </a:t>
            </a:r>
            <a:r>
              <a:rPr lang="en-US" sz="1800">
                <a:solidFill>
                  <a:schemeClr val="dk1"/>
                </a:solidFill>
                <a:latin typeface="Calibri"/>
                <a:ea typeface="Calibri"/>
                <a:cs typeface="Calibri"/>
                <a:sym typeface="Calibri"/>
              </a:rPr>
              <a:t>V[0, i] ← 0</a:t>
            </a:r>
            <a:endParaRPr sz="1800">
              <a:solidFill>
                <a:schemeClr val="dk1"/>
              </a:solidFill>
              <a:latin typeface="Calibri"/>
              <a:ea typeface="Calibri"/>
              <a:cs typeface="Calibri"/>
              <a:sym typeface="Calibri"/>
            </a:endParaRPr>
          </a:p>
          <a:p>
            <a:pPr indent="0" lvl="0" marL="91440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457200" lvl="0" marL="91440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do</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for </a:t>
            </a:r>
            <a:r>
              <a:rPr lang="en-US" sz="1800">
                <a:solidFill>
                  <a:schemeClr val="dk1"/>
                </a:solidFill>
                <a:latin typeface="Calibri"/>
                <a:ea typeface="Calibri"/>
                <a:cs typeface="Calibri"/>
                <a:sym typeface="Calibri"/>
              </a:rPr>
              <a:t>j ← 0 to M </a:t>
            </a:r>
            <a:r>
              <a:rPr b="1" lang="en-US" sz="1800">
                <a:solidFill>
                  <a:schemeClr val="dk1"/>
                </a:solidFill>
                <a:latin typeface="Calibri"/>
                <a:ea typeface="Calibri"/>
                <a:cs typeface="Calibri"/>
                <a:sym typeface="Calibri"/>
              </a:rPr>
              <a:t>do</a:t>
            </a:r>
            <a:r>
              <a:rPr lang="en-US" sz="1800">
                <a:solidFill>
                  <a:schemeClr val="dk1"/>
                </a:solidFill>
                <a:latin typeface="Calibri"/>
                <a:ea typeface="Calibri"/>
                <a:cs typeface="Calibri"/>
                <a:sym typeface="Calibri"/>
              </a:rPr>
              <a:t> </a:t>
            </a:r>
            <a:r>
              <a:rPr b="1" lang="en-US" sz="1800">
                <a:solidFill>
                  <a:schemeClr val="dk1"/>
                </a:solidFill>
                <a:latin typeface="Calibri"/>
                <a:ea typeface="Calibri"/>
                <a:cs typeface="Calibri"/>
                <a:sym typeface="Calibri"/>
              </a:rPr>
              <a:t>if </a:t>
            </a:r>
            <a:r>
              <a:rPr lang="en-US" sz="1800">
                <a:solidFill>
                  <a:schemeClr val="dk1"/>
                </a:solidFill>
                <a:latin typeface="Calibri"/>
                <a:ea typeface="Calibri"/>
                <a:cs typeface="Calibri"/>
                <a:sym typeface="Calibri"/>
              </a:rPr>
              <a:t>w[i] ≤ j </a:t>
            </a:r>
            <a:r>
              <a:rPr b="1" lang="en-US" sz="1800">
                <a:solidFill>
                  <a:schemeClr val="dk1"/>
                </a:solidFill>
                <a:latin typeface="Calibri"/>
                <a:ea typeface="Calibri"/>
                <a:cs typeface="Calibri"/>
                <a:sym typeface="Calibri"/>
              </a:rPr>
              <a:t>then</a:t>
            </a:r>
            <a:r>
              <a:rPr lang="en-US" sz="1800">
                <a:solidFill>
                  <a:schemeClr val="dk1"/>
                </a:solidFill>
                <a:latin typeface="Calibri"/>
                <a:ea typeface="Calibri"/>
                <a:cs typeface="Calibri"/>
                <a:sym typeface="Calibri"/>
              </a:rPr>
              <a:t> V[i, j] ← max{V[i-1, j], v[i] + V[i – 1, j</a:t>
            </a:r>
            <a:endParaRPr sz="1800">
              <a:solidFill>
                <a:schemeClr val="dk1"/>
              </a:solidFill>
              <a:latin typeface="Calibri"/>
              <a:ea typeface="Calibri"/>
              <a:cs typeface="Calibri"/>
              <a:sym typeface="Calibri"/>
            </a:endParaRPr>
          </a:p>
          <a:p>
            <a:pPr indent="457200" lvl="0" marL="91440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w[i]]} </a:t>
            </a:r>
            <a:r>
              <a:rPr b="1" lang="en-US" sz="1800">
                <a:solidFill>
                  <a:schemeClr val="dk1"/>
                </a:solidFill>
                <a:latin typeface="Calibri"/>
                <a:ea typeface="Calibri"/>
                <a:cs typeface="Calibri"/>
                <a:sym typeface="Calibri"/>
              </a:rPr>
              <a:t>else</a:t>
            </a:r>
            <a:r>
              <a:rPr lang="en-US" sz="1800">
                <a:solidFill>
                  <a:schemeClr val="dk1"/>
                </a:solidFill>
                <a:latin typeface="Calibri"/>
                <a:ea typeface="Calibri"/>
                <a:cs typeface="Calibri"/>
                <a:sym typeface="Calibri"/>
              </a:rPr>
              <a:t> V[i, j] ← V[i – 1, j] // w[i]&gt;j </a:t>
            </a:r>
            <a:r>
              <a:rPr b="1" lang="en-US" sz="1800">
                <a:solidFill>
                  <a:schemeClr val="dk1"/>
                </a:solidFill>
                <a:latin typeface="Calibri"/>
                <a:ea typeface="Calibri"/>
                <a:cs typeface="Calibri"/>
                <a:sym typeface="Calibri"/>
              </a:rPr>
              <a:t>end</a:t>
            </a:r>
            <a:r>
              <a:rPr lang="en-US" sz="1800">
                <a:solidFill>
                  <a:schemeClr val="dk1"/>
                </a:solidFill>
                <a:latin typeface="Calibri"/>
                <a:ea typeface="Calibri"/>
                <a:cs typeface="Calibri"/>
                <a:sym typeface="Calibri"/>
              </a:rPr>
              <a:t> </a:t>
            </a:r>
            <a:endParaRPr>
              <a:solidFill>
                <a:schemeClr val="dk1"/>
              </a:solidFill>
            </a:endParaRPr>
          </a:p>
          <a:p>
            <a:pPr indent="0" lvl="0" marL="91440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end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41" name="Google Shape;541;p3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42" name="Google Shape;542;p35"/>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43" name="Google Shape;543;p35"/>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44" name="Google Shape;544;p35"/>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45" name="Google Shape;545;p35"/>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46" name="Google Shape;546;p35"/>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47" name="Google Shape;547;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48" name="Google Shape;548;p35"/>
          <p:cNvSpPr/>
          <p:nvPr/>
        </p:nvSpPr>
        <p:spPr>
          <a:xfrm>
            <a:off x="457750" y="1289875"/>
            <a:ext cx="8594100" cy="74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000" cap="none" strike="noStrike">
                <a:solidFill>
                  <a:schemeClr val="dk1"/>
                </a:solidFill>
                <a:latin typeface="Calibri"/>
                <a:ea typeface="Calibri"/>
                <a:cs typeface="Calibri"/>
                <a:sym typeface="Calibri"/>
              </a:rPr>
              <a:t>Dynamic Programming Approach for 0/1 Knapsack Problem</a:t>
            </a:r>
            <a:endParaRPr b="0" i="0" sz="1600"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2000" cap="none" strike="noStrike">
                <a:solidFill>
                  <a:schemeClr val="dk1"/>
                </a:solidFill>
                <a:latin typeface="Calibri"/>
                <a:ea typeface="Calibri"/>
                <a:cs typeface="Calibri"/>
                <a:sym typeface="Calibri"/>
              </a:rPr>
              <a:t>Memoization Approach for 0/1 Knapsack Problem using Dynamic Programming:</a:t>
            </a:r>
            <a:endParaRPr b="1" i="0" sz="2000" cap="none" strike="noStrike">
              <a:solidFill>
                <a:schemeClr val="dk1"/>
              </a:solidFill>
              <a:latin typeface="Calibri"/>
              <a:ea typeface="Calibri"/>
              <a:cs typeface="Calibri"/>
              <a:sym typeface="Calibri"/>
            </a:endParaRPr>
          </a:p>
        </p:txBody>
      </p:sp>
      <p:sp>
        <p:nvSpPr>
          <p:cNvPr id="549" name="Google Shape;549;p35"/>
          <p:cNvSpPr/>
          <p:nvPr/>
        </p:nvSpPr>
        <p:spPr>
          <a:xfrm>
            <a:off x="330500" y="2225400"/>
            <a:ext cx="8458500" cy="4247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alibri"/>
                <a:ea typeface="Calibri"/>
                <a:cs typeface="Calibri"/>
                <a:sym typeface="Calibri"/>
              </a:rPr>
              <a:t>In the following recursion tree, </a:t>
            </a:r>
            <a:r>
              <a:rPr b="1" i="1" lang="en-US" sz="1800" u="none" cap="none" strike="noStrike">
                <a:solidFill>
                  <a:schemeClr val="dk1"/>
                </a:solidFill>
                <a:latin typeface="Calibri"/>
                <a:ea typeface="Calibri"/>
                <a:cs typeface="Calibri"/>
                <a:sym typeface="Calibri"/>
              </a:rPr>
              <a:t>K()</a:t>
            </a:r>
            <a:r>
              <a:rPr b="0" i="1" lang="en-US" sz="1800" u="none" cap="none" strike="noStrike">
                <a:solidFill>
                  <a:schemeClr val="dk1"/>
                </a:solidFill>
                <a:latin typeface="Calibri"/>
                <a:ea typeface="Calibri"/>
                <a:cs typeface="Calibri"/>
                <a:sym typeface="Calibri"/>
              </a:rPr>
              <a:t> refers  to knapSack(). The two parameters indicated in the following recursion tree are n and W.</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The recursion tree is for following sample inputs.</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weight[] = {1, 1, 1}, W = 2, profit[] = {10, 20, 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alibri"/>
                <a:ea typeface="Calibri"/>
                <a:cs typeface="Calibri"/>
                <a:sym typeface="Calibri"/>
              </a:rPr>
              <a:t>                                                     K(3, 2)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K(2, 2)                                K(2, 1)</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K(1, 2)               K(1, 1)            K(1, 1)       K(1, 0)</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        /         \              /           \            /                      \</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K(0, 2)  K(0, 1)  K(0, 1)  K(0, 0)  K(0, 1)          K(0,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chemeClr val="dk1"/>
                </a:solidFill>
                <a:latin typeface="Calibri"/>
                <a:ea typeface="Calibri"/>
                <a:cs typeface="Calibri"/>
                <a:sym typeface="Calibri"/>
              </a:rPr>
              <a:t>Recursion tree for Knapsack capacity 2 units and 3 items of 1 unit weight.</a:t>
            </a:r>
            <a:endParaRPr b="0" i="1"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55" name="Google Shape;555;p36"/>
          <p:cNvPicPr preferRelativeResize="0"/>
          <p:nvPr>
            <p:ph idx="1" type="body"/>
          </p:nvPr>
        </p:nvPicPr>
        <p:blipFill rotWithShape="1">
          <a:blip r:embed="rId3">
            <a:alphaModFix/>
          </a:blip>
          <a:srcRect b="0" l="0" r="0" t="0"/>
          <a:stretch/>
        </p:blipFill>
        <p:spPr>
          <a:xfrm>
            <a:off x="0" y="-264406"/>
            <a:ext cx="9144000" cy="6858000"/>
          </a:xfrm>
          <a:prstGeom prst="rect">
            <a:avLst/>
          </a:prstGeom>
          <a:noFill/>
          <a:ln>
            <a:noFill/>
          </a:ln>
        </p:spPr>
      </p:pic>
      <p:pic>
        <p:nvPicPr>
          <p:cNvPr id="556" name="Google Shape;556;p36"/>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57" name="Google Shape;557;p36"/>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58" name="Google Shape;558;p36"/>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59" name="Google Shape;559;p36"/>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60" name="Google Shape;560;p36"/>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61" name="Google Shape;561;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62" name="Google Shape;562;p36"/>
          <p:cNvSpPr txBox="1"/>
          <p:nvPr/>
        </p:nvSpPr>
        <p:spPr>
          <a:xfrm>
            <a:off x="429650" y="1207849"/>
            <a:ext cx="8097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Example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 thief is robbing a store and can carry a maximal weight of </a:t>
            </a:r>
            <a:r>
              <a:rPr b="1" i="1" lang="en-US" sz="1800" u="none" cap="none" strike="noStrike">
                <a:solidFill>
                  <a:schemeClr val="dk1"/>
                </a:solidFill>
                <a:latin typeface="Calibri"/>
                <a:ea typeface="Calibri"/>
                <a:cs typeface="Calibri"/>
                <a:sym typeface="Calibri"/>
              </a:rPr>
              <a:t>W</a:t>
            </a:r>
            <a:r>
              <a:rPr b="0" i="0" lang="en-US" sz="1800" u="none" cap="none" strike="noStrike">
                <a:solidFill>
                  <a:schemeClr val="dk1"/>
                </a:solidFill>
                <a:latin typeface="Calibri"/>
                <a:ea typeface="Calibri"/>
                <a:cs typeface="Calibri"/>
                <a:sym typeface="Calibri"/>
              </a:rPr>
              <a:t> into his knapsack. There are </a:t>
            </a:r>
            <a:r>
              <a:rPr b="1" i="1" lang="en-US" sz="1800" u="none" cap="none" strike="noStrike">
                <a:solidFill>
                  <a:schemeClr val="dk1"/>
                </a:solidFill>
                <a:latin typeface="Calibri"/>
                <a:ea typeface="Calibri"/>
                <a:cs typeface="Calibri"/>
                <a:sym typeface="Calibri"/>
              </a:rPr>
              <a:t>n</a:t>
            </a:r>
            <a:r>
              <a:rPr b="0" i="0" lang="en-US" sz="1800" u="none" cap="none" strike="noStrike">
                <a:solidFill>
                  <a:schemeClr val="dk1"/>
                </a:solidFill>
                <a:latin typeface="Calibri"/>
                <a:ea typeface="Calibri"/>
                <a:cs typeface="Calibri"/>
                <a:sym typeface="Calibri"/>
              </a:rPr>
              <a:t> items and weight of i</a:t>
            </a:r>
            <a:r>
              <a:rPr b="0" baseline="30000" i="0" lang="en-US" sz="1800" u="none" cap="none" strike="noStrike">
                <a:solidFill>
                  <a:schemeClr val="dk1"/>
                </a:solidFill>
                <a:latin typeface="Calibri"/>
                <a:ea typeface="Calibri"/>
                <a:cs typeface="Calibri"/>
                <a:sym typeface="Calibri"/>
              </a:rPr>
              <a:t>th</a:t>
            </a:r>
            <a:r>
              <a:rPr b="0" i="0" lang="en-US" sz="1800" u="none" cap="none" strike="noStrike">
                <a:solidFill>
                  <a:schemeClr val="dk1"/>
                </a:solidFill>
                <a:latin typeface="Calibri"/>
                <a:ea typeface="Calibri"/>
                <a:cs typeface="Calibri"/>
                <a:sym typeface="Calibri"/>
              </a:rPr>
              <a:t> item is wi and the profit of selecting this item is </a:t>
            </a:r>
            <a:r>
              <a:rPr b="1" i="1" lang="en-US" sz="1800" u="none" cap="none" strike="noStrike">
                <a:solidFill>
                  <a:schemeClr val="dk1"/>
                </a:solidFill>
                <a:latin typeface="Calibri"/>
                <a:ea typeface="Calibri"/>
                <a:cs typeface="Calibri"/>
                <a:sym typeface="Calibri"/>
              </a:rPr>
              <a:t>pi</a:t>
            </a:r>
            <a:r>
              <a:rPr b="0" i="0" lang="en-US" sz="1800" u="none" cap="none" strike="noStrike">
                <a:solidFill>
                  <a:schemeClr val="dk1"/>
                </a:solidFill>
                <a:latin typeface="Calibri"/>
                <a:ea typeface="Calibri"/>
                <a:cs typeface="Calibri"/>
                <a:sym typeface="Calibri"/>
              </a:rPr>
              <a:t>. What items should the thief take?</a:t>
            </a:r>
            <a:endParaRPr b="0" i="0" sz="1800" u="none" cap="none" strike="noStrike">
              <a:solidFill>
                <a:schemeClr val="dk1"/>
              </a:solidFill>
              <a:latin typeface="Calibri"/>
              <a:ea typeface="Calibri"/>
              <a:cs typeface="Calibri"/>
              <a:sym typeface="Calibri"/>
            </a:endParaRPr>
          </a:p>
        </p:txBody>
      </p:sp>
      <p:sp>
        <p:nvSpPr>
          <p:cNvPr id="563" name="Google Shape;563;p36"/>
          <p:cNvSpPr/>
          <p:nvPr/>
        </p:nvSpPr>
        <p:spPr>
          <a:xfrm>
            <a:off x="347030" y="2888640"/>
            <a:ext cx="7794434"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The algorithm takes the following inputs </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1)The maximum weight </a:t>
            </a:r>
            <a:r>
              <a:rPr b="1" i="0" lang="en-US" sz="1800" u="none" cap="none" strike="noStrike">
                <a:solidFill>
                  <a:schemeClr val="dk1"/>
                </a:solidFill>
                <a:latin typeface="Calibri"/>
                <a:ea typeface="Calibri"/>
                <a:cs typeface="Calibri"/>
                <a:sym typeface="Calibri"/>
              </a:rPr>
              <a:t>W</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2)The number of items </a:t>
            </a:r>
            <a:r>
              <a:rPr b="1" i="0" lang="en-US" sz="1800" u="none" cap="none" strike="noStrike">
                <a:solidFill>
                  <a:schemeClr val="dk1"/>
                </a:solidFill>
                <a:latin typeface="Calibri"/>
                <a:ea typeface="Calibri"/>
                <a:cs typeface="Calibri"/>
                <a:sym typeface="Calibri"/>
              </a:rPr>
              <a:t>n</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3)The two sequences </a:t>
            </a:r>
            <a:r>
              <a:rPr b="1" i="0" lang="en-US" sz="1800" u="none" cap="none" strike="noStrike">
                <a:solidFill>
                  <a:schemeClr val="dk1"/>
                </a:solidFill>
                <a:latin typeface="Calibri"/>
                <a:ea typeface="Calibri"/>
                <a:cs typeface="Calibri"/>
                <a:sym typeface="Calibri"/>
              </a:rPr>
              <a:t>v = &lt;v1, v2, …, vn&gt; and w = &lt;w1, w2, …, wn&gt;</a:t>
            </a:r>
            <a:endParaRPr b="0" i="0" sz="1800" u="none" cap="none" strike="noStrike">
              <a:solidFill>
                <a:schemeClr val="dk1"/>
              </a:solidFill>
              <a:latin typeface="Calibri"/>
              <a:ea typeface="Calibri"/>
              <a:cs typeface="Calibri"/>
              <a:sym typeface="Calibri"/>
            </a:endParaRPr>
          </a:p>
        </p:txBody>
      </p:sp>
      <p:sp>
        <p:nvSpPr>
          <p:cNvPr id="564" name="Google Shape;564;p36"/>
          <p:cNvSpPr/>
          <p:nvPr/>
        </p:nvSpPr>
        <p:spPr>
          <a:xfrm>
            <a:off x="347030" y="4470349"/>
            <a:ext cx="770629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set of items to take can be deduced from the table, starting at </a:t>
            </a:r>
            <a:r>
              <a:rPr b="1" i="0" lang="en-US" sz="1800" u="none" cap="none" strike="noStrike">
                <a:solidFill>
                  <a:schemeClr val="dk1"/>
                </a:solidFill>
                <a:latin typeface="Calibri"/>
                <a:ea typeface="Calibri"/>
                <a:cs typeface="Calibri"/>
                <a:sym typeface="Calibri"/>
              </a:rPr>
              <a:t>c[n, w]</a:t>
            </a:r>
            <a:r>
              <a:rPr b="0" i="0" lang="en-US" sz="1800" u="none" cap="none" strike="noStrike">
                <a:solidFill>
                  <a:schemeClr val="dk1"/>
                </a:solidFill>
                <a:latin typeface="Calibri"/>
                <a:ea typeface="Calibri"/>
                <a:cs typeface="Calibri"/>
                <a:sym typeface="Calibri"/>
              </a:rPr>
              <a:t> and tracing backwards where the optimal values came from.</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70" name="Google Shape;570;p3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71" name="Google Shape;571;p37"/>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72" name="Google Shape;572;p37"/>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73" name="Google Shape;573;p37"/>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74" name="Google Shape;574;p37"/>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75" name="Google Shape;575;p37"/>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76" name="Google Shape;576;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77" name="Google Shape;577;p37"/>
          <p:cNvSpPr/>
          <p:nvPr/>
        </p:nvSpPr>
        <p:spPr>
          <a:xfrm>
            <a:off x="258897" y="1226670"/>
            <a:ext cx="788256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 us consider that the capacity of the knapsack is W = 8 and the items are as shown in the following table</a:t>
            </a:r>
            <a:endParaRPr b="0" i="0" sz="1800" u="none" cap="none" strike="noStrike">
              <a:solidFill>
                <a:schemeClr val="dk1"/>
              </a:solidFill>
              <a:latin typeface="Calibri"/>
              <a:ea typeface="Calibri"/>
              <a:cs typeface="Calibri"/>
              <a:sym typeface="Calibri"/>
            </a:endParaRPr>
          </a:p>
        </p:txBody>
      </p:sp>
      <p:graphicFrame>
        <p:nvGraphicFramePr>
          <p:cNvPr id="578" name="Google Shape;578;p37"/>
          <p:cNvGraphicFramePr/>
          <p:nvPr/>
        </p:nvGraphicFramePr>
        <p:xfrm>
          <a:off x="1006207" y="2284591"/>
          <a:ext cx="3000000" cy="3000000"/>
        </p:xfrm>
        <a:graphic>
          <a:graphicData uri="http://schemas.openxmlformats.org/drawingml/2006/table">
            <a:tbl>
              <a:tblPr>
                <a:noFill/>
                <a:tableStyleId>{0DA54B31-570E-4EE2-90CD-0D424257A100}</a:tableStyleId>
              </a:tblPr>
              <a:tblGrid>
                <a:gridCol w="1219200"/>
                <a:gridCol w="1219200"/>
                <a:gridCol w="1219200"/>
                <a:gridCol w="1219200"/>
                <a:gridCol w="1219200"/>
              </a:tblGrid>
              <a:tr h="366325">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Item</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A</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B</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C</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D</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EEEEEE"/>
                    </a:solidFill>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t>Profit</a:t>
                      </a:r>
                      <a:endParaRPr sz="15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2</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4</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7</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10</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366325">
                <a:tc>
                  <a:txBody>
                    <a:bodyPr/>
                    <a:lstStyle/>
                    <a:p>
                      <a:pPr indent="0" lvl="0" marL="0" marR="0" rtl="0" algn="l">
                        <a:lnSpc>
                          <a:spcPct val="100000"/>
                        </a:lnSpc>
                        <a:spcBef>
                          <a:spcPts val="0"/>
                        </a:spcBef>
                        <a:spcAft>
                          <a:spcPts val="0"/>
                        </a:spcAft>
                        <a:buClr>
                          <a:srgbClr val="000000"/>
                        </a:buClr>
                        <a:buSzPts val="1500"/>
                        <a:buFont typeface="Arial"/>
                        <a:buNone/>
                      </a:pPr>
                      <a:r>
                        <a:rPr b="1" lang="en-US" sz="1500" u="none" cap="none" strike="noStrike"/>
                        <a:t>Weight</a:t>
                      </a:r>
                      <a:endParaRPr sz="15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1</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3</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5</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t>7</a:t>
                      </a:r>
                      <a:endParaRPr sz="1400" u="none" cap="none" strike="noStrike"/>
                    </a:p>
                  </a:txBody>
                  <a:tcPr marT="65425" marB="65425" marR="65425" marL="65425">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84" name="Google Shape;584;p3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85" name="Google Shape;585;p38"/>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586" name="Google Shape;586;p38"/>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587" name="Google Shape;587;p38"/>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88" name="Google Shape;588;p38"/>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589" name="Google Shape;589;p38"/>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90" name="Google Shape;590;p3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591" name="Google Shape;591;p38"/>
          <p:cNvSpPr/>
          <p:nvPr/>
        </p:nvSpPr>
        <p:spPr>
          <a:xfrm>
            <a:off x="534317" y="1240818"/>
            <a:ext cx="7761383"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1</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Construct an adjacency table with maximum weight of knapsack as rows and items with respective weights and profits as columns.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Values to be stored in the table are cumulative profits of the items whose weights do not exceed the maximum weight of the knapsack (designated values of each row)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pic>
        <p:nvPicPr>
          <p:cNvPr descr="0-1_knapsack_problems" id="592" name="Google Shape;592;p38"/>
          <p:cNvPicPr preferRelativeResize="0"/>
          <p:nvPr/>
        </p:nvPicPr>
        <p:blipFill rotWithShape="1">
          <a:blip r:embed="rId5">
            <a:alphaModFix/>
          </a:blip>
          <a:srcRect b="0" l="0" r="0" t="0"/>
          <a:stretch/>
        </p:blipFill>
        <p:spPr>
          <a:xfrm>
            <a:off x="1983036" y="3278207"/>
            <a:ext cx="5003799" cy="290225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98" name="Google Shape;598;p39"/>
          <p:cNvPicPr preferRelativeResize="0"/>
          <p:nvPr>
            <p:ph idx="1" type="body"/>
          </p:nvPr>
        </p:nvPicPr>
        <p:blipFill rotWithShape="1">
          <a:blip r:embed="rId3">
            <a:alphaModFix/>
          </a:blip>
          <a:srcRect b="0" l="0" r="0" t="0"/>
          <a:stretch/>
        </p:blipFill>
        <p:spPr>
          <a:xfrm>
            <a:off x="-165253" y="143219"/>
            <a:ext cx="9144000" cy="6858000"/>
          </a:xfrm>
          <a:prstGeom prst="rect">
            <a:avLst/>
          </a:prstGeom>
          <a:noFill/>
          <a:ln>
            <a:noFill/>
          </a:ln>
        </p:spPr>
      </p:pic>
      <p:pic>
        <p:nvPicPr>
          <p:cNvPr id="599" name="Google Shape;599;p39"/>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00" name="Google Shape;600;p39"/>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01" name="Google Shape;601;p39"/>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02" name="Google Shape;602;p39"/>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03" name="Google Shape;603;p39"/>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04" name="Google Shape;604;p3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05" name="Google Shape;605;p39"/>
          <p:cNvSpPr/>
          <p:nvPr/>
        </p:nvSpPr>
        <p:spPr>
          <a:xfrm>
            <a:off x="236861" y="1418677"/>
            <a:ext cx="8235109"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2)The remaining values are filled with the maximum profit achievable with respect to the items and weight per column that can be stored in the knapsack.</a:t>
            </a:r>
            <a:endParaRPr b="0" i="0" sz="1800" u="none" cap="none" strike="noStrike">
              <a:solidFill>
                <a:schemeClr val="dk1"/>
              </a:solidFill>
              <a:latin typeface="Calibri"/>
              <a:ea typeface="Calibri"/>
              <a:cs typeface="Calibri"/>
              <a:sym typeface="Calibri"/>
            </a:endParaRPr>
          </a:p>
        </p:txBody>
      </p:sp>
      <p:sp>
        <p:nvSpPr>
          <p:cNvPr id="606" name="Google Shape;606;p39"/>
          <p:cNvSpPr/>
          <p:nvPr/>
        </p:nvSpPr>
        <p:spPr>
          <a:xfrm>
            <a:off x="276779" y="2230782"/>
            <a:ext cx="484606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formula to store the profit values is −</a:t>
            </a:r>
            <a:endParaRPr b="0" i="0" sz="1800" u="none" cap="none" strike="noStrike">
              <a:solidFill>
                <a:schemeClr val="dk1"/>
              </a:solidFill>
              <a:latin typeface="Calibri"/>
              <a:ea typeface="Calibri"/>
              <a:cs typeface="Calibri"/>
              <a:sym typeface="Calibri"/>
            </a:endParaRPr>
          </a:p>
        </p:txBody>
      </p:sp>
      <p:sp>
        <p:nvSpPr>
          <p:cNvPr id="607" name="Google Shape;607;p39"/>
          <p:cNvSpPr/>
          <p:nvPr/>
        </p:nvSpPr>
        <p:spPr>
          <a:xfrm>
            <a:off x="2462270" y="2753295"/>
            <a:ext cx="4572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c[i,w]=max{c[i−1,w−w[i]]+P[i]}</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p:txBody>
      </p:sp>
      <p:pic>
        <p:nvPicPr>
          <p:cNvPr descr="maximum_weight" id="608" name="Google Shape;608;p39"/>
          <p:cNvPicPr preferRelativeResize="0"/>
          <p:nvPr/>
        </p:nvPicPr>
        <p:blipFill rotWithShape="1">
          <a:blip r:embed="rId5">
            <a:alphaModFix/>
          </a:blip>
          <a:srcRect b="0" l="0" r="0" t="0"/>
          <a:stretch/>
        </p:blipFill>
        <p:spPr>
          <a:xfrm>
            <a:off x="407624" y="3102423"/>
            <a:ext cx="7910110" cy="37677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14" name="Google Shape;614;p4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15" name="Google Shape;615;p4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16" name="Google Shape;616;p4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17" name="Google Shape;617;p4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18" name="Google Shape;618;p4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19" name="Google Shape;619;p4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20" name="Google Shape;620;p4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21" name="Google Shape;621;p40"/>
          <p:cNvSpPr/>
          <p:nvPr/>
        </p:nvSpPr>
        <p:spPr>
          <a:xfrm>
            <a:off x="468217" y="1319525"/>
            <a:ext cx="784951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To find the items to be added in the knapsack, recognize the maximum profit from the table and identify the items that make up the profit, in this example, its {1, 7}.</a:t>
            </a:r>
            <a:endParaRPr b="0" i="0" sz="1800" u="none" cap="none" strike="noStrike">
              <a:solidFill>
                <a:schemeClr val="dk1"/>
              </a:solidFill>
              <a:latin typeface="Calibri"/>
              <a:ea typeface="Calibri"/>
              <a:cs typeface="Calibri"/>
              <a:sym typeface="Calibri"/>
            </a:endParaRPr>
          </a:p>
        </p:txBody>
      </p:sp>
      <p:pic>
        <p:nvPicPr>
          <p:cNvPr descr="maximum_profit_12" id="622" name="Google Shape;622;p40"/>
          <p:cNvPicPr preferRelativeResize="0"/>
          <p:nvPr/>
        </p:nvPicPr>
        <p:blipFill rotWithShape="1">
          <a:blip r:embed="rId5">
            <a:alphaModFix/>
          </a:blip>
          <a:srcRect b="0" l="0" r="0" t="0"/>
          <a:stretch/>
        </p:blipFill>
        <p:spPr>
          <a:xfrm>
            <a:off x="761502" y="2052024"/>
            <a:ext cx="6667500" cy="3886201"/>
          </a:xfrm>
          <a:prstGeom prst="rect">
            <a:avLst/>
          </a:prstGeom>
          <a:noFill/>
          <a:ln>
            <a:noFill/>
          </a:ln>
        </p:spPr>
      </p:pic>
      <p:sp>
        <p:nvSpPr>
          <p:cNvPr id="623" name="Google Shape;623;p40"/>
          <p:cNvSpPr/>
          <p:nvPr/>
        </p:nvSpPr>
        <p:spPr>
          <a:xfrm>
            <a:off x="853807" y="6036322"/>
            <a:ext cx="72656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optimal solution is {1, 7} with the maximum profit is 12.</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29" name="Google Shape;629;p4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30" name="Google Shape;630;p4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31" name="Google Shape;631;p4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32" name="Google Shape;632;p4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3" name="Google Shape;633;p41"/>
          <p:cNvSpPr txBox="1"/>
          <p:nvPr/>
        </p:nvSpPr>
        <p:spPr>
          <a:xfrm>
            <a:off x="450376" y="1309530"/>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34" name="Google Shape;634;p4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35" name="Google Shape;635;p41"/>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636" name="Google Shape;636;p4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37" name="Google Shape;637;p41"/>
          <p:cNvSpPr/>
          <p:nvPr/>
        </p:nvSpPr>
        <p:spPr>
          <a:xfrm>
            <a:off x="554534" y="1569770"/>
            <a:ext cx="4546275" cy="36933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The Traveling Salespersons Problem</a:t>
            </a:r>
            <a:endParaRPr b="1" i="0" sz="1800" u="none" cap="none" strike="noStrike">
              <a:solidFill>
                <a:schemeClr val="dk1"/>
              </a:solidFill>
              <a:latin typeface="Calibri"/>
              <a:ea typeface="Calibri"/>
              <a:cs typeface="Calibri"/>
              <a:sym typeface="Calibri"/>
            </a:endParaRPr>
          </a:p>
        </p:txBody>
      </p:sp>
      <p:sp>
        <p:nvSpPr>
          <p:cNvPr id="638" name="Google Shape;638;p41"/>
          <p:cNvSpPr/>
          <p:nvPr/>
        </p:nvSpPr>
        <p:spPr>
          <a:xfrm>
            <a:off x="242371" y="1997839"/>
            <a:ext cx="7821976"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travelling salesman problem is a graph computational problem where the salesman needs to visit all cities (represented using nodes in a graph) in a list just once and the distances (represented using edges in the graph) between all these cities are known.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solution that is needed to be found for this problem is the shortest possible route in which the salesman visits all the cities and returns to the origin city.</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44" name="Google Shape;644;p4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45" name="Google Shape;645;p4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46" name="Google Shape;646;p4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47" name="Google Shape;647;p4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48" name="Google Shape;648;p4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49" name="Google Shape;649;p4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50" name="Google Shape;650;p4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51" name="Google Shape;651;p42"/>
          <p:cNvSpPr/>
          <p:nvPr/>
        </p:nvSpPr>
        <p:spPr>
          <a:xfrm>
            <a:off x="330506" y="1177846"/>
            <a:ext cx="8119431"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Algorithm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1)Travelling salesman problem</a:t>
            </a:r>
            <a:r>
              <a:rPr b="0" i="0" lang="en-US" sz="1800" u="none" cap="none" strike="noStrike">
                <a:solidFill>
                  <a:schemeClr val="dk1"/>
                </a:solidFill>
                <a:latin typeface="Calibri"/>
                <a:ea typeface="Calibri"/>
                <a:cs typeface="Calibri"/>
                <a:sym typeface="Calibri"/>
              </a:rPr>
              <a:t> takes a graph G {V, E} as an input and declare another graph as the output (say G’) which will record the path the salesman is going to take from one node to another.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2)The algorithm begins by sorting </a:t>
            </a:r>
            <a:r>
              <a:rPr b="0" i="0" lang="en-US" sz="1800" u="none" cap="none" strike="noStrike">
                <a:solidFill>
                  <a:schemeClr val="dk1"/>
                </a:solidFill>
                <a:latin typeface="Calibri"/>
                <a:ea typeface="Calibri"/>
                <a:cs typeface="Calibri"/>
                <a:sym typeface="Calibri"/>
              </a:rPr>
              <a:t>all the edges in the input graph G from the least distance to the largest distance.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3)The first edge selected is the edge with least distance</a:t>
            </a:r>
            <a:r>
              <a:rPr b="0" i="0" lang="en-US" sz="1800" u="none" cap="none" strike="noStrike">
                <a:solidFill>
                  <a:schemeClr val="dk1"/>
                </a:solidFill>
                <a:latin typeface="Calibri"/>
                <a:ea typeface="Calibri"/>
                <a:cs typeface="Calibri"/>
                <a:sym typeface="Calibri"/>
              </a:rPr>
              <a:t>, and one of the two vertices (say A and B) being the origin node (say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4)Then among the adjacent edges</a:t>
            </a:r>
            <a:r>
              <a:rPr b="0" i="0" lang="en-US" sz="1800" u="none" cap="none" strike="noStrike">
                <a:solidFill>
                  <a:schemeClr val="dk1"/>
                </a:solidFill>
                <a:latin typeface="Calibri"/>
                <a:ea typeface="Calibri"/>
                <a:cs typeface="Calibri"/>
                <a:sym typeface="Calibri"/>
              </a:rPr>
              <a:t> of the node other than the origin node (B), find the least cost edge and add it onto the output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5)Continue the process</a:t>
            </a:r>
            <a:r>
              <a:rPr b="0" i="0" lang="en-US" sz="1800" u="none" cap="none" strike="noStrike">
                <a:solidFill>
                  <a:schemeClr val="dk1"/>
                </a:solidFill>
                <a:latin typeface="Calibri"/>
                <a:ea typeface="Calibri"/>
                <a:cs typeface="Calibri"/>
                <a:sym typeface="Calibri"/>
              </a:rPr>
              <a:t> with further nodes making sure there are no cycles in the output graph and the path reaches back to the origin node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6)However, if the origin is mentioned</a:t>
            </a:r>
            <a:r>
              <a:rPr b="0" i="0" lang="en-US" sz="1800" u="none" cap="none" strike="noStrike">
                <a:solidFill>
                  <a:schemeClr val="dk1"/>
                </a:solidFill>
                <a:latin typeface="Calibri"/>
                <a:ea typeface="Calibri"/>
                <a:cs typeface="Calibri"/>
                <a:sym typeface="Calibri"/>
              </a:rPr>
              <a:t> in the given problem, then the solution must always start from that node only.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4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57" name="Google Shape;657;p43"/>
          <p:cNvPicPr preferRelativeResize="0"/>
          <p:nvPr>
            <p:ph idx="1" type="body"/>
          </p:nvPr>
        </p:nvPicPr>
        <p:blipFill rotWithShape="1">
          <a:blip r:embed="rId3">
            <a:alphaModFix/>
          </a:blip>
          <a:srcRect b="0" l="0" r="0" t="0"/>
          <a:stretch/>
        </p:blipFill>
        <p:spPr>
          <a:xfrm>
            <a:off x="0" y="-143220"/>
            <a:ext cx="9144000" cy="6858000"/>
          </a:xfrm>
          <a:prstGeom prst="rect">
            <a:avLst/>
          </a:prstGeom>
          <a:noFill/>
          <a:ln>
            <a:noFill/>
          </a:ln>
        </p:spPr>
      </p:pic>
      <p:pic>
        <p:nvPicPr>
          <p:cNvPr id="658" name="Google Shape;658;p4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59" name="Google Shape;659;p4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60" name="Google Shape;660;p4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61" name="Google Shape;661;p43"/>
          <p:cNvSpPr txBox="1"/>
          <p:nvPr/>
        </p:nvSpPr>
        <p:spPr>
          <a:xfrm>
            <a:off x="450376" y="1309530"/>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62" name="Google Shape;662;p43"/>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63" name="Google Shape;663;p43"/>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664" name="Google Shape;664;p4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65" name="Google Shape;665;p43"/>
          <p:cNvSpPr/>
          <p:nvPr/>
        </p:nvSpPr>
        <p:spPr>
          <a:xfrm>
            <a:off x="214828" y="1270738"/>
            <a:ext cx="758511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Example</a:t>
            </a:r>
            <a:r>
              <a:rPr b="0" i="0" lang="en-US" sz="1800" u="none" cap="none" strike="noStrike">
                <a:solidFill>
                  <a:schemeClr val="dk1"/>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666" name="Google Shape;666;p43"/>
          <p:cNvSpPr/>
          <p:nvPr/>
        </p:nvSpPr>
        <p:spPr>
          <a:xfrm>
            <a:off x="291947" y="1807410"/>
            <a:ext cx="8102906"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Let’s assume S is the subset of cities and belongs to {1, 2, 3, …, n} where 1, 2, 3…n are the cities and i, j are two cities in that subset.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Now cost(i, S, j) is defined in such a way as the length of the shortest path visiting node in S, which is exactly once having the starting and ending point as i and j respectively.</a:t>
            </a:r>
            <a:endParaRPr b="0" i="0" sz="1800" u="none" cap="none" strike="noStrike">
              <a:solidFill>
                <a:schemeClr val="dk1"/>
              </a:solidFill>
              <a:latin typeface="Calibri"/>
              <a:ea typeface="Calibri"/>
              <a:cs typeface="Calibri"/>
              <a:sym typeface="Calibri"/>
            </a:endParaRPr>
          </a:p>
        </p:txBody>
      </p:sp>
      <p:sp>
        <p:nvSpPr>
          <p:cNvPr id="667" name="Google Shape;667;p43"/>
          <p:cNvSpPr/>
          <p:nvPr/>
        </p:nvSpPr>
        <p:spPr>
          <a:xfrm>
            <a:off x="297456" y="3532327"/>
            <a:ext cx="8130447"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The dynamic programming algorithm would be: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Set cost(i, , i) = 0, which means we start and end at i, and the cost is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When |S| &gt; 1, we define cost(i, S, 1) = ∝ where i !=1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Because initially, we do not know the exact cost to reach city i to city 1 through other cities.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Now, we need to start at 1 and complete the tour.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 need to select the next city in such a way-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cost(i, S, j)=min cost (i, S−{i}, j)+dist(i,j) where i∈S and i≠j</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4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73" name="Google Shape;673;p4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674" name="Google Shape;674;p44"/>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75" name="Google Shape;675;p4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76" name="Google Shape;676;p4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77" name="Google Shape;677;p44"/>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78" name="Google Shape;678;p4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79" name="Google Shape;679;p44"/>
          <p:cNvSpPr txBox="1"/>
          <p:nvPr/>
        </p:nvSpPr>
        <p:spPr>
          <a:xfrm>
            <a:off x="429904" y="1194620"/>
            <a:ext cx="8229600" cy="483600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680" name="Google Shape;680;p4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descr="Travelling Salesman Problem (TSP)" id="681" name="Google Shape;681;p44"/>
          <p:cNvPicPr preferRelativeResize="0"/>
          <p:nvPr/>
        </p:nvPicPr>
        <p:blipFill rotWithShape="1">
          <a:blip r:embed="rId5">
            <a:alphaModFix/>
          </a:blip>
          <a:srcRect b="0" l="0" r="0" t="0"/>
          <a:stretch/>
        </p:blipFill>
        <p:spPr>
          <a:xfrm>
            <a:off x="2369966" y="1240124"/>
            <a:ext cx="3019425" cy="3122556"/>
          </a:xfrm>
          <a:prstGeom prst="rect">
            <a:avLst/>
          </a:prstGeom>
          <a:noFill/>
          <a:ln>
            <a:noFill/>
          </a:ln>
        </p:spPr>
      </p:pic>
      <p:graphicFrame>
        <p:nvGraphicFramePr>
          <p:cNvPr id="682" name="Google Shape;682;p44"/>
          <p:cNvGraphicFramePr/>
          <p:nvPr/>
        </p:nvGraphicFramePr>
        <p:xfrm>
          <a:off x="984175" y="3954724"/>
          <a:ext cx="3000000" cy="3000000"/>
        </p:xfrm>
        <a:graphic>
          <a:graphicData uri="http://schemas.openxmlformats.org/drawingml/2006/table">
            <a:tbl>
              <a:tblPr>
                <a:noFill/>
                <a:tableStyleId>{0DA54B31-570E-4EE2-90CD-0D424257A100}</a:tableStyleId>
              </a:tblPr>
              <a:tblGrid>
                <a:gridCol w="1570275"/>
                <a:gridCol w="1570275"/>
                <a:gridCol w="1570275"/>
                <a:gridCol w="1570275"/>
                <a:gridCol w="1570275"/>
              </a:tblGrid>
              <a:tr h="412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dist(i,j)</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r>
              <a:tr h="412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412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9F9F9"/>
                    </a:solidFill>
                  </a:tcPr>
                </a:tc>
              </a:tr>
              <a:tr h="412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15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4121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25</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30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0</a:t>
                      </a:r>
                      <a:endParaRPr sz="1400" u="none" cap="none" strike="noStrike"/>
                    </a:p>
                  </a:txBody>
                  <a:tcPr marT="34950" marB="34950" marR="69900" marL="699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9F9F9"/>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88" name="Google Shape;688;p45"/>
          <p:cNvPicPr preferRelativeResize="0"/>
          <p:nvPr>
            <p:ph idx="1" type="body"/>
          </p:nvPr>
        </p:nvPicPr>
        <p:blipFill rotWithShape="1">
          <a:blip r:embed="rId3">
            <a:alphaModFix/>
          </a:blip>
          <a:srcRect b="0" l="0" r="0" t="0"/>
          <a:stretch/>
        </p:blipFill>
        <p:spPr>
          <a:xfrm>
            <a:off x="0" y="58992"/>
            <a:ext cx="9144000" cy="6858000"/>
          </a:xfrm>
          <a:prstGeom prst="rect">
            <a:avLst/>
          </a:prstGeom>
          <a:noFill/>
          <a:ln>
            <a:noFill/>
          </a:ln>
        </p:spPr>
      </p:pic>
      <p:pic>
        <p:nvPicPr>
          <p:cNvPr id="689" name="Google Shape;689;p45"/>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690" name="Google Shape;690;p45"/>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691" name="Google Shape;691;p45"/>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92" name="Google Shape;692;p45"/>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693" name="Google Shape;693;p45"/>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94" name="Google Shape;694;p45"/>
          <p:cNvSpPr txBox="1"/>
          <p:nvPr/>
        </p:nvSpPr>
        <p:spPr>
          <a:xfrm>
            <a:off x="429904" y="958645"/>
            <a:ext cx="8229600" cy="569287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695" name="Google Shape;695;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696" name="Google Shape;696;p45"/>
          <p:cNvSpPr/>
          <p:nvPr/>
        </p:nvSpPr>
        <p:spPr>
          <a:xfrm>
            <a:off x="308473" y="1225688"/>
            <a:ext cx="8152482" cy="5078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Let’s see how our algorithm works: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1)</a:t>
            </a: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 are considering our journey starting at city 1, visit other cities once and return to city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2)</a:t>
            </a: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 is the subset of cities. According to our algorithm, for all |S| &gt; 1, we will set the distance cost(i, S, 1) =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Here cost(i, S, j) means we are starting at city i, visiting the cities of S once, and now we are at city 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We set this path cost as infinity because we do not know the distance yet.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So the values will be the following: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Cost (2, {3, 4}, 1) = ∝ ; the notation denotes we are starting at city 2, going through cities 3, 4, and reaching 1. And the path cost is infinity.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02" name="Google Shape;702;p46"/>
          <p:cNvPicPr preferRelativeResize="0"/>
          <p:nvPr>
            <p:ph idx="1" type="body"/>
          </p:nvPr>
        </p:nvPicPr>
        <p:blipFill rotWithShape="1">
          <a:blip r:embed="rId3">
            <a:alphaModFix/>
          </a:blip>
          <a:srcRect b="0" l="0" r="0" t="0"/>
          <a:stretch/>
        </p:blipFill>
        <p:spPr>
          <a:xfrm>
            <a:off x="0" y="-239529"/>
            <a:ext cx="9144000" cy="6858000"/>
          </a:xfrm>
          <a:prstGeom prst="rect">
            <a:avLst/>
          </a:prstGeom>
          <a:noFill/>
          <a:ln>
            <a:noFill/>
          </a:ln>
        </p:spPr>
      </p:pic>
      <p:pic>
        <p:nvPicPr>
          <p:cNvPr id="703" name="Google Shape;703;p46"/>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04" name="Google Shape;704;p46"/>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05" name="Google Shape;705;p46"/>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06" name="Google Shape;706;p46"/>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07" name="Google Shape;707;p46"/>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08" name="Google Shape;708;p46"/>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709" name="Google Shape;709;p4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1200"/>
              <a:buFont typeface="Calibri"/>
              <a:buNone/>
            </a:pPr>
            <a:r>
              <a:rPr lang="en-US"/>
              <a:t>Internet of Thnigs by Amol Dande</a:t>
            </a:r>
            <a:endParaRPr/>
          </a:p>
        </p:txBody>
      </p:sp>
      <p:sp>
        <p:nvSpPr>
          <p:cNvPr id="710" name="Google Shape;710;p4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11" name="Google Shape;711;p46"/>
          <p:cNvSpPr/>
          <p:nvPr/>
        </p:nvSpPr>
        <p:spPr>
          <a:xfrm>
            <a:off x="710588" y="2841418"/>
            <a:ext cx="7541046"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Step 3)</a:t>
            </a:r>
            <a:r>
              <a:rPr b="0" i="0" lang="en-US" sz="1800" u="none" cap="none" strike="noStrike">
                <a:solidFill>
                  <a:schemeClr val="dk1"/>
                </a:solidFill>
                <a:latin typeface="Calibri"/>
                <a:ea typeface="Calibri"/>
                <a:cs typeface="Calibri"/>
                <a:sym typeface="Calibri"/>
              </a:rPr>
              <a:t> Now, for all subsets of S, we need to find the following: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cost(i, S, j)=min cost (i, S−{i}, j)+dist(i,j), where j∈S and i≠j</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That means the minimum cost path for starting at i, going through the subset of cities once, and returning to city j.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Considering that the journey starts at city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optimal path cost would be= cost(1, {other cities}, 1).</a:t>
            </a:r>
            <a:endParaRPr b="0" i="0" sz="1800" u="none" cap="none" strike="noStrike">
              <a:solidFill>
                <a:schemeClr val="dk1"/>
              </a:solidFill>
              <a:latin typeface="Calibri"/>
              <a:ea typeface="Calibri"/>
              <a:cs typeface="Calibri"/>
              <a:sym typeface="Calibri"/>
            </a:endParaRPr>
          </a:p>
        </p:txBody>
      </p:sp>
      <p:sp>
        <p:nvSpPr>
          <p:cNvPr id="712" name="Google Shape;712;p46"/>
          <p:cNvSpPr/>
          <p:nvPr/>
        </p:nvSpPr>
        <p:spPr>
          <a:xfrm>
            <a:off x="545334" y="1480058"/>
            <a:ext cx="6494443"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Similarly-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cost(3, {2, 4}, 1)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cost(4, {2, 3}, 1) =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18" name="Google Shape;718;p4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19" name="Google Shape;719;p47"/>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20" name="Google Shape;720;p47"/>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21" name="Google Shape;721;p47"/>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22" name="Google Shape;722;p47"/>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23" name="Google Shape;723;p47"/>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24" name="Google Shape;724;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25" name="Google Shape;725;p47"/>
          <p:cNvSpPr/>
          <p:nvPr/>
        </p:nvSpPr>
        <p:spPr>
          <a:xfrm>
            <a:off x="455125" y="1138500"/>
            <a:ext cx="8280000" cy="64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700" u="none" cap="none" strike="noStrike">
                <a:solidFill>
                  <a:schemeClr val="dk1"/>
                </a:solidFill>
                <a:latin typeface="Calibri"/>
                <a:ea typeface="Calibri"/>
                <a:cs typeface="Calibri"/>
                <a:sym typeface="Calibri"/>
              </a:rPr>
              <a:t>Warshall’s  Algorithm </a:t>
            </a:r>
            <a:endParaRPr b="1" i="0" sz="2700" u="none" cap="none" strike="noStrike">
              <a:solidFill>
                <a:schemeClr val="dk1"/>
              </a:solidFill>
              <a:latin typeface="Calibri"/>
              <a:ea typeface="Calibri"/>
              <a:cs typeface="Calibri"/>
              <a:sym typeface="Calibri"/>
            </a:endParaRPr>
          </a:p>
        </p:txBody>
      </p:sp>
      <p:sp>
        <p:nvSpPr>
          <p:cNvPr id="726" name="Google Shape;726;p47"/>
          <p:cNvSpPr/>
          <p:nvPr/>
        </p:nvSpPr>
        <p:spPr>
          <a:xfrm>
            <a:off x="402125" y="1920727"/>
            <a:ext cx="7915500" cy="314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Calibri"/>
                <a:ea typeface="Calibri"/>
                <a:cs typeface="Calibri"/>
                <a:sym typeface="Calibri"/>
              </a:rPr>
              <a:t>The </a:t>
            </a:r>
            <a:r>
              <a:rPr b="0" i="0" lang="en-US" sz="1800" u="sng" cap="none" strike="noStrike">
                <a:solidFill>
                  <a:schemeClr val="dk1"/>
                </a:solidFill>
                <a:latin typeface="Calibri"/>
                <a:ea typeface="Calibri"/>
                <a:cs typeface="Calibri"/>
                <a:sym typeface="Calibri"/>
                <a:hlinkClick r:id="rId5">
                  <a:extLst>
                    <a:ext uri="{A12FA001-AC4F-418D-AE19-62706E023703}">
                      <ahyp:hlinkClr val="tx"/>
                    </a:ext>
                  </a:extLst>
                </a:hlinkClick>
              </a:rPr>
              <a:t>Floyd Warshall Algorithm</a:t>
            </a:r>
            <a:r>
              <a:rPr b="0" i="0" lang="en-US" sz="1800" u="none" cap="none" strike="noStrike">
                <a:solidFill>
                  <a:schemeClr val="dk1"/>
                </a:solidFill>
                <a:latin typeface="Calibri"/>
                <a:ea typeface="Calibri"/>
                <a:cs typeface="Calibri"/>
                <a:sym typeface="Calibri"/>
              </a:rPr>
              <a:t> is for solving all pairs of shortest-path problems.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It is an algorithm for finding the shortest path between all the pairs of vertices in a weighted graph.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Noto Sans Symbols"/>
              <a:buNone/>
            </a:pPr>
            <a:r>
              <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This algorithm follows the dynamic programming approach to find the shortest path.</a:t>
            </a:r>
            <a:endParaRPr b="0" i="0" sz="1800" u="none" cap="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Floyd-Warhshall algorithm is also called as Floyd's algorithm, Roy-Floyd algorithm, Roy-Warshall algorithm, or WFI algorithm.</a:t>
            </a:r>
            <a:endParaRPr sz="1800">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32" name="Google Shape;732;p4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33" name="Google Shape;733;p48"/>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34" name="Google Shape;734;p48"/>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35" name="Google Shape;735;p48"/>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36" name="Google Shape;736;p48"/>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37" name="Google Shape;737;p48"/>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38" name="Google Shape;738;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39" name="Google Shape;739;p48"/>
          <p:cNvSpPr/>
          <p:nvPr/>
        </p:nvSpPr>
        <p:spPr>
          <a:xfrm>
            <a:off x="410741" y="1228248"/>
            <a:ext cx="497650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How Floyd-Warshall Algorithm Works?</a:t>
            </a:r>
            <a:endParaRPr b="1" i="0" sz="1800" u="none" cap="none" strike="noStrike">
              <a:solidFill>
                <a:schemeClr val="dk1"/>
              </a:solidFill>
              <a:latin typeface="Calibri"/>
              <a:ea typeface="Calibri"/>
              <a:cs typeface="Calibri"/>
              <a:sym typeface="Calibri"/>
            </a:endParaRPr>
          </a:p>
        </p:txBody>
      </p:sp>
      <p:sp>
        <p:nvSpPr>
          <p:cNvPr id="740" name="Google Shape;740;p48"/>
          <p:cNvSpPr/>
          <p:nvPr/>
        </p:nvSpPr>
        <p:spPr>
          <a:xfrm>
            <a:off x="769514" y="1735023"/>
            <a:ext cx="23389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Let the given graph be:</a:t>
            </a:r>
            <a:endParaRPr b="0" i="0" sz="1800" u="none" cap="none" strike="noStrike">
              <a:solidFill>
                <a:schemeClr val="dk1"/>
              </a:solidFill>
              <a:latin typeface="Calibri"/>
              <a:ea typeface="Calibri"/>
              <a:cs typeface="Calibri"/>
              <a:sym typeface="Calibri"/>
            </a:endParaRPr>
          </a:p>
        </p:txBody>
      </p:sp>
      <p:pic>
        <p:nvPicPr>
          <p:cNvPr descr="graph" id="741" name="Google Shape;741;p48"/>
          <p:cNvPicPr preferRelativeResize="0"/>
          <p:nvPr/>
        </p:nvPicPr>
        <p:blipFill rotWithShape="1">
          <a:blip r:embed="rId5">
            <a:alphaModFix/>
          </a:blip>
          <a:srcRect b="0" l="0" r="0" t="0"/>
          <a:stretch/>
        </p:blipFill>
        <p:spPr>
          <a:xfrm>
            <a:off x="2336915" y="1977394"/>
            <a:ext cx="3657600" cy="32766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47" name="Google Shape;747;p4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48" name="Google Shape;748;p49"/>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49" name="Google Shape;749;p49"/>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50" name="Google Shape;750;p49"/>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51" name="Google Shape;751;p49"/>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52" name="Google Shape;752;p49"/>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53" name="Google Shape;753;p49"/>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754" name="Google Shape;754;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55" name="Google Shape;755;p49"/>
          <p:cNvSpPr/>
          <p:nvPr/>
        </p:nvSpPr>
        <p:spPr>
          <a:xfrm>
            <a:off x="192794" y="1332120"/>
            <a:ext cx="8620700"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Follow the steps below to find the shortest path between all the pairs of vertices.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US" sz="1800" u="none" cap="none" strike="noStrike">
                <a:solidFill>
                  <a:schemeClr val="dk1"/>
                </a:solidFill>
                <a:latin typeface="Calibri"/>
                <a:ea typeface="Calibri"/>
                <a:cs typeface="Calibri"/>
                <a:sym typeface="Calibri"/>
              </a:rPr>
              <a:t>Create a matrix  A^0 of dimension n*n where n is the number of vertices.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US" sz="1800" u="none" cap="none" strike="noStrike">
                <a:solidFill>
                  <a:schemeClr val="dk1"/>
                </a:solidFill>
                <a:latin typeface="Calibri"/>
                <a:ea typeface="Calibri"/>
                <a:cs typeface="Calibri"/>
                <a:sym typeface="Calibri"/>
              </a:rPr>
              <a:t>The row and the column are indexed as I &amp; j respectively.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US" sz="1800" u="none" cap="none" strike="noStrike">
                <a:solidFill>
                  <a:schemeClr val="dk1"/>
                </a:solidFill>
                <a:latin typeface="Calibri"/>
                <a:ea typeface="Calibri"/>
                <a:cs typeface="Calibri"/>
                <a:sym typeface="Calibri"/>
              </a:rPr>
              <a:t>I &amp; j are the vertices of the graph.</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US" sz="1800" u="none" cap="none" strike="noStrike">
                <a:solidFill>
                  <a:schemeClr val="dk1"/>
                </a:solidFill>
                <a:latin typeface="Calibri"/>
                <a:ea typeface="Calibri"/>
                <a:cs typeface="Calibri"/>
                <a:sym typeface="Calibri"/>
              </a:rPr>
              <a:t>Each cell A[i] [j] is filled with the distance from the ith vertex to the jth vertex.</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Calibri"/>
              <a:buAutoNum type="arabicParenR"/>
            </a:pPr>
            <a:r>
              <a:rPr b="0" i="0" lang="en-US" sz="1800" u="none" cap="none" strike="noStrike">
                <a:solidFill>
                  <a:schemeClr val="dk1"/>
                </a:solidFill>
                <a:latin typeface="Calibri"/>
                <a:ea typeface="Calibri"/>
                <a:cs typeface="Calibri"/>
                <a:sym typeface="Calibri"/>
              </a:rPr>
              <a:t>If there is no path from the ith vertex to the jth vertex , the cell is left as infinity.</a:t>
            </a:r>
            <a:endParaRPr b="0" i="0" sz="1400" u="none" cap="none" strike="noStrike">
              <a:solidFill>
                <a:srgbClr val="000000"/>
              </a:solidFill>
              <a:latin typeface="Arial"/>
              <a:ea typeface="Arial"/>
              <a:cs typeface="Arial"/>
              <a:sym typeface="Arial"/>
            </a:endParaRPr>
          </a:p>
        </p:txBody>
      </p:sp>
      <p:pic>
        <p:nvPicPr>
          <p:cNvPr descr="matrix floyd warshall algorithm" id="756" name="Google Shape;756;p49"/>
          <p:cNvPicPr preferRelativeResize="0"/>
          <p:nvPr/>
        </p:nvPicPr>
        <p:blipFill rotWithShape="1">
          <a:blip r:embed="rId5">
            <a:alphaModFix/>
          </a:blip>
          <a:srcRect b="0" l="0" r="0" t="0"/>
          <a:stretch/>
        </p:blipFill>
        <p:spPr>
          <a:xfrm>
            <a:off x="2886419" y="3822853"/>
            <a:ext cx="3353450" cy="23025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5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62" name="Google Shape;762;p5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63" name="Google Shape;763;p5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64" name="Google Shape;764;p5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65" name="Google Shape;765;p5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66" name="Google Shape;766;p5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67" name="Google Shape;767;p5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68" name="Google Shape;768;p5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69" name="Google Shape;769;p50"/>
          <p:cNvSpPr/>
          <p:nvPr/>
        </p:nvSpPr>
        <p:spPr>
          <a:xfrm>
            <a:off x="185962" y="1481634"/>
            <a:ext cx="8319060" cy="50783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6)Now, create a matrix A^1 using matrix A^0.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7)The elements in the first column and the first row are left as they are.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8)The remaining cells are filled in the following way.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9) Let k be the intermediate vertex in the shortest path from source to destination.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10)In this step k is the first vertex.</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11) A[i][j] is filled with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(A[i][k] + A[k][j]) if (A[i][j] &gt; A[i][k] + A[k][j])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That is, if the direct distance from the source to the destination is greater than the path through the vertex k then the cell is filled with A[i][k] + A[k][j].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12) In this step, k is vertex 1. We calculate the distance from source vertex to destination vertex through this vertex k.</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75" name="Google Shape;775;p5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76" name="Google Shape;776;p5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77" name="Google Shape;777;p5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78" name="Google Shape;778;p5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79" name="Google Shape;779;p51"/>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80" name="Google Shape;780;p5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81" name="Google Shape;781;p51"/>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782" name="Google Shape;782;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pic>
        <p:nvPicPr>
          <p:cNvPr descr="matrix floyd warshall algorithm" id="783" name="Google Shape;783;p51"/>
          <p:cNvPicPr preferRelativeResize="0"/>
          <p:nvPr/>
        </p:nvPicPr>
        <p:blipFill rotWithShape="1">
          <a:blip r:embed="rId5">
            <a:alphaModFix/>
          </a:blip>
          <a:srcRect b="0" l="0" r="0" t="0"/>
          <a:stretch/>
        </p:blipFill>
        <p:spPr>
          <a:xfrm>
            <a:off x="1729648" y="936433"/>
            <a:ext cx="4605051" cy="2214391"/>
          </a:xfrm>
          <a:prstGeom prst="rect">
            <a:avLst/>
          </a:prstGeom>
          <a:noFill/>
          <a:ln>
            <a:noFill/>
          </a:ln>
        </p:spPr>
      </p:pic>
      <p:sp>
        <p:nvSpPr>
          <p:cNvPr id="784" name="Google Shape;784;p51"/>
          <p:cNvSpPr/>
          <p:nvPr/>
        </p:nvSpPr>
        <p:spPr>
          <a:xfrm>
            <a:off x="909623" y="3284856"/>
            <a:ext cx="6945000" cy="147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Similarly, A</a:t>
            </a:r>
            <a:r>
              <a:rPr b="0" baseline="30000" i="0" lang="en-US" sz="1800" u="none" cap="none" strike="noStrike">
                <a:solidFill>
                  <a:schemeClr val="dk1"/>
                </a:solidFill>
                <a:latin typeface="Calibri"/>
                <a:ea typeface="Calibri"/>
                <a:cs typeface="Calibri"/>
                <a:sym typeface="Calibri"/>
              </a:rPr>
              <a:t>2 </a:t>
            </a:r>
            <a:r>
              <a:rPr b="0" i="0" lang="en-US" sz="1800" u="none" cap="none" strike="noStrike">
                <a:solidFill>
                  <a:schemeClr val="dk1"/>
                </a:solidFill>
                <a:latin typeface="Calibri"/>
                <a:ea typeface="Calibri"/>
                <a:cs typeface="Calibri"/>
                <a:sym typeface="Calibri"/>
              </a:rPr>
              <a:t> is created using A</a:t>
            </a:r>
            <a:r>
              <a:rPr b="0" baseline="30000" i="0" lang="en-US" sz="1800" u="none" cap="none" strike="noStrike">
                <a:solidFill>
                  <a:schemeClr val="dk1"/>
                </a:solidFill>
                <a:latin typeface="Calibri"/>
                <a:ea typeface="Calibri"/>
                <a:cs typeface="Calibri"/>
                <a:sym typeface="Calibri"/>
              </a:rPr>
              <a:t>1 . </a:t>
            </a:r>
            <a:r>
              <a:rPr b="0" i="0" lang="en-US" sz="1800" u="none" cap="none" strike="noStrike">
                <a:solidFill>
                  <a:schemeClr val="dk1"/>
                </a:solidFill>
                <a:latin typeface="Calibri"/>
                <a:ea typeface="Calibri"/>
                <a:cs typeface="Calibri"/>
                <a:sym typeface="Calibri"/>
              </a:rPr>
              <a:t>The elements in the second column and the second row are left as they are.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 this step k is is the second vertex (i.e. vertex 2). The remaining steps are the same as mentioned above.  </a:t>
            </a:r>
            <a:endParaRPr b="0" i="0" sz="1800" u="none" cap="none" strike="noStrike">
              <a:solidFill>
                <a:schemeClr val="dk1"/>
              </a:solidFill>
              <a:latin typeface="Calibri"/>
              <a:ea typeface="Calibri"/>
              <a:cs typeface="Calibri"/>
              <a:sym typeface="Calibri"/>
            </a:endParaRPr>
          </a:p>
        </p:txBody>
      </p:sp>
      <p:pic>
        <p:nvPicPr>
          <p:cNvPr descr="matrix floyd warshall algorithm" id="785" name="Google Shape;785;p51"/>
          <p:cNvPicPr preferRelativeResize="0"/>
          <p:nvPr/>
        </p:nvPicPr>
        <p:blipFill rotWithShape="1">
          <a:blip r:embed="rId6">
            <a:alphaModFix/>
          </a:blip>
          <a:srcRect b="0" l="0" r="0" t="0"/>
          <a:stretch/>
        </p:blipFill>
        <p:spPr>
          <a:xfrm>
            <a:off x="1487275" y="4830896"/>
            <a:ext cx="5563519" cy="202710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91" name="Google Shape;791;p5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792" name="Google Shape;792;p5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793" name="Google Shape;793;p5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794" name="Google Shape;794;p52"/>
          <p:cNvSpPr/>
          <p:nvPr/>
        </p:nvSpPr>
        <p:spPr>
          <a:xfrm>
            <a:off x="197794" y="1322773"/>
            <a:ext cx="457251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95" name="Google Shape;795;p5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96" name="Google Shape;796;p5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97" name="Google Shape;797;p52"/>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0" lvl="0" marL="0" marR="0" rtl="0" algn="just">
              <a:lnSpc>
                <a:spcPct val="12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798" name="Google Shape;798;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799" name="Google Shape;799;p52"/>
          <p:cNvSpPr/>
          <p:nvPr/>
        </p:nvSpPr>
        <p:spPr>
          <a:xfrm>
            <a:off x="447174" y="1503669"/>
            <a:ext cx="7727342"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Similarly, A</a:t>
            </a:r>
            <a:r>
              <a:rPr b="0" baseline="30000" i="0" lang="en-US" sz="1800" u="none" cap="none" strike="noStrike">
                <a:solidFill>
                  <a:schemeClr val="dk1"/>
                </a:solidFill>
                <a:latin typeface="Calibri"/>
                <a:ea typeface="Calibri"/>
                <a:cs typeface="Calibri"/>
                <a:sym typeface="Calibri"/>
              </a:rPr>
              <a:t>3  and </a:t>
            </a:r>
            <a:r>
              <a:rPr b="0" i="0" lang="en-US" sz="1800" u="none" cap="none" strike="noStrike">
                <a:solidFill>
                  <a:schemeClr val="dk1"/>
                </a:solidFill>
                <a:latin typeface="Calibri"/>
                <a:ea typeface="Calibri"/>
                <a:cs typeface="Calibri"/>
                <a:sym typeface="Calibri"/>
              </a:rPr>
              <a:t>A</a:t>
            </a:r>
            <a:r>
              <a:rPr b="0" baseline="30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is also created.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baseline="3000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baseline="3000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pic>
        <p:nvPicPr>
          <p:cNvPr descr="matrix floyd warshall algorithm" id="800" name="Google Shape;800;p52"/>
          <p:cNvPicPr preferRelativeResize="0"/>
          <p:nvPr/>
        </p:nvPicPr>
        <p:blipFill rotWithShape="1">
          <a:blip r:embed="rId5">
            <a:alphaModFix/>
          </a:blip>
          <a:srcRect b="0" l="0" r="0" t="0"/>
          <a:stretch/>
        </p:blipFill>
        <p:spPr>
          <a:xfrm>
            <a:off x="1355074" y="1795751"/>
            <a:ext cx="5816907" cy="1839816"/>
          </a:xfrm>
          <a:prstGeom prst="rect">
            <a:avLst/>
          </a:prstGeom>
          <a:noFill/>
          <a:ln>
            <a:noFill/>
          </a:ln>
        </p:spPr>
      </p:pic>
      <p:pic>
        <p:nvPicPr>
          <p:cNvPr descr="matrix floyd warshall algorithm" id="801" name="Google Shape;801;p52"/>
          <p:cNvPicPr preferRelativeResize="0"/>
          <p:nvPr/>
        </p:nvPicPr>
        <p:blipFill rotWithShape="1">
          <a:blip r:embed="rId6">
            <a:alphaModFix/>
          </a:blip>
          <a:srcRect b="0" l="0" r="0" t="0"/>
          <a:stretch/>
        </p:blipFill>
        <p:spPr>
          <a:xfrm>
            <a:off x="1333041" y="3657603"/>
            <a:ext cx="5497419" cy="2313542"/>
          </a:xfrm>
          <a:prstGeom prst="rect">
            <a:avLst/>
          </a:prstGeom>
          <a:noFill/>
          <a:ln>
            <a:noFill/>
          </a:ln>
        </p:spPr>
      </p:pic>
      <p:sp>
        <p:nvSpPr>
          <p:cNvPr id="802" name="Google Shape;802;p52"/>
          <p:cNvSpPr/>
          <p:nvPr/>
        </p:nvSpPr>
        <p:spPr>
          <a:xfrm>
            <a:off x="980673" y="6262955"/>
            <a:ext cx="719384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A</a:t>
            </a:r>
            <a:r>
              <a:rPr b="0" baseline="30000" i="0" lang="en-US" sz="1800" u="none" cap="none" strike="noStrike">
                <a:solidFill>
                  <a:schemeClr val="dk1"/>
                </a:solidFill>
                <a:latin typeface="Calibri"/>
                <a:ea typeface="Calibri"/>
                <a:cs typeface="Calibri"/>
                <a:sym typeface="Calibri"/>
              </a:rPr>
              <a:t>4 </a:t>
            </a:r>
            <a:r>
              <a:rPr b="0" i="0" lang="en-US" sz="1800" u="none" cap="none" strike="noStrike">
                <a:solidFill>
                  <a:schemeClr val="dk1"/>
                </a:solidFill>
                <a:latin typeface="Calibri"/>
                <a:ea typeface="Calibri"/>
                <a:cs typeface="Calibri"/>
                <a:sym typeface="Calibri"/>
              </a:rPr>
              <a:t>gives the shortest path between each pair of vertices.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5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08" name="Google Shape;808;p5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09" name="Google Shape;809;p53"/>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810" name="Google Shape;810;p53"/>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811" name="Google Shape;811;p53"/>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12" name="Google Shape;812;p53"/>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13" name="Google Shape;813;p53"/>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14" name="Google Shape;814;p53"/>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815" name="Google Shape;815;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816" name="Google Shape;816;p53"/>
          <p:cNvSpPr/>
          <p:nvPr/>
        </p:nvSpPr>
        <p:spPr>
          <a:xfrm>
            <a:off x="457199" y="1489497"/>
            <a:ext cx="8686801" cy="2862322"/>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Floyd Warshall Algorithm Complexity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1)Time Complexity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There are three loops. Each loop has constant complexities. So, the time complexity of the Floyd-Warshall algorithm is O(n</a:t>
            </a:r>
            <a:r>
              <a:rPr b="0" baseline="30000" i="0" lang="en-US" sz="1800" u="none" cap="none" strike="noStrike">
                <a:solidFill>
                  <a:schemeClr val="dk1"/>
                </a:solidFill>
                <a:latin typeface="Calibri"/>
                <a:ea typeface="Calibri"/>
                <a:cs typeface="Calibri"/>
                <a:sym typeface="Calibri"/>
              </a:rPr>
              <a:t>3</a:t>
            </a:r>
            <a:r>
              <a:rPr b="0" i="0" lang="en-US"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2)Space Complexity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space complexity of the Floyd-Warshall algorithm is O(n</a:t>
            </a:r>
            <a:r>
              <a:rPr b="0" baseline="30000" i="0" lang="en-US" sz="1800" u="none" cap="none" strike="noStrike">
                <a:solidFill>
                  <a:schemeClr val="dk1"/>
                </a:solidFill>
                <a:latin typeface="Calibri"/>
                <a:ea typeface="Calibri"/>
                <a:cs typeface="Calibri"/>
                <a:sym typeface="Calibri"/>
              </a:rPr>
              <a:t>2</a:t>
            </a:r>
            <a:r>
              <a:rPr b="0" i="0" lang="en-US"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7" name="Google Shape;817;p53"/>
          <p:cNvSpPr/>
          <p:nvPr/>
        </p:nvSpPr>
        <p:spPr>
          <a:xfrm>
            <a:off x="446183" y="4316113"/>
            <a:ext cx="9325778" cy="1200329"/>
          </a:xfrm>
          <a:prstGeom prst="rect">
            <a:avLst/>
          </a:prstGeom>
          <a:noFill/>
          <a:ln>
            <a:noFill/>
          </a:ln>
        </p:spPr>
        <p:txBody>
          <a:bodyPr anchorCtr="0" anchor="t" bIns="45700" lIns="91425" spcFirstLastPara="1" rIns="91425" wrap="square" tIns="45700">
            <a:spAutoFit/>
          </a:bodyPr>
          <a:lstStyle/>
          <a:p>
            <a:pPr indent="-114300" lvl="0" marL="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Floyd Warshall Algorithm Applications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1)To find the shortest path is a directed graph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2) To find the transitive closure of directed graphs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3)To find the Inversion of real matrices.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23" name="Google Shape;823;p5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24" name="Google Shape;824;p54"/>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825" name="Google Shape;825;p54"/>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826" name="Google Shape;826;p54"/>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27" name="Google Shape;827;p54"/>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28" name="Google Shape;828;p54"/>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29" name="Google Shape;829;p54"/>
          <p:cNvSpPr txBox="1"/>
          <p:nvPr/>
        </p:nvSpPr>
        <p:spPr>
          <a:xfrm>
            <a:off x="429904" y="1504664"/>
            <a:ext cx="8229600" cy="4525963"/>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0" lvl="0" marL="0" marR="0" rtl="0" algn="just">
              <a:lnSpc>
                <a:spcPct val="12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830" name="Google Shape;830;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831" name="Google Shape;831;p54"/>
          <p:cNvSpPr txBox="1"/>
          <p:nvPr/>
        </p:nvSpPr>
        <p:spPr>
          <a:xfrm>
            <a:off x="771171" y="1300000"/>
            <a:ext cx="82296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500" u="none" cap="none" strike="noStrike">
                <a:solidFill>
                  <a:schemeClr val="dk1"/>
                </a:solidFill>
                <a:latin typeface="Calibri"/>
                <a:ea typeface="Calibri"/>
                <a:cs typeface="Calibri"/>
                <a:sym typeface="Calibri"/>
              </a:rPr>
              <a:t>                                  Assignment Questions </a:t>
            </a:r>
            <a:endParaRPr b="1" i="0" sz="2500" u="none" cap="none" strike="noStrike">
              <a:solidFill>
                <a:schemeClr val="dk1"/>
              </a:solidFill>
              <a:latin typeface="Calibri"/>
              <a:ea typeface="Calibri"/>
              <a:cs typeface="Calibri"/>
              <a:sym typeface="Calibri"/>
            </a:endParaRPr>
          </a:p>
        </p:txBody>
      </p:sp>
      <p:sp>
        <p:nvSpPr>
          <p:cNvPr id="832" name="Google Shape;832;p54"/>
          <p:cNvSpPr txBox="1"/>
          <p:nvPr/>
        </p:nvSpPr>
        <p:spPr>
          <a:xfrm>
            <a:off x="374573" y="1894899"/>
            <a:ext cx="8053200" cy="48024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Write an algorithm for Knapsack problem using Greedy strategy.</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Write an algorithm for Knapsack greedy problem. Find an optimal solution for following knapsack problem: n=4, M=70, w= {10, 20, 30, 40}, P = {20, 30, 40, 50}</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State and explain the principle of dynamic programming. Name the elements of dynamic programming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Differentiate between dynamic programming and Greedy method.</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Apply Warshall’s Algorithm to find the transitive closure of the digraph defined by the following adjacency matrix.</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0   1   0    0</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0   0   1    0</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0   0   0    1</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0   0    0   0</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g3f34cb5792c_0_6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38" name="Google Shape;838;g3f34cb5792c_0_6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39" name="Google Shape;839;g3f34cb5792c_0_6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40" name="Google Shape;840;g3f34cb5792c_0_6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841" name="Google Shape;841;g3f34cb5792c_0_6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42" name="Google Shape;842;g3f34cb5792c_0_6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43" name="Google Shape;843;g3f34cb5792c_0_6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44" name="Google Shape;844;g3f34cb5792c_0_62"/>
          <p:cNvSpPr txBox="1"/>
          <p:nvPr/>
        </p:nvSpPr>
        <p:spPr>
          <a:xfrm>
            <a:off x="429904" y="1504664"/>
            <a:ext cx="8229600" cy="45261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0" lvl="0" marL="0" marR="0" rtl="0" algn="just">
              <a:lnSpc>
                <a:spcPct val="12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845" name="Google Shape;845;g3f34cb5792c_0_6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846" name="Google Shape;846;g3f34cb5792c_0_62"/>
          <p:cNvSpPr txBox="1"/>
          <p:nvPr/>
        </p:nvSpPr>
        <p:spPr>
          <a:xfrm>
            <a:off x="771171" y="1300000"/>
            <a:ext cx="8229600" cy="477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500" u="none" cap="none" strike="noStrike">
                <a:solidFill>
                  <a:schemeClr val="dk1"/>
                </a:solidFill>
                <a:latin typeface="Calibri"/>
                <a:ea typeface="Calibri"/>
                <a:cs typeface="Calibri"/>
                <a:sym typeface="Calibri"/>
              </a:rPr>
              <a:t>                                  Assignment Questions </a:t>
            </a:r>
            <a:endParaRPr b="1" i="0" sz="2500" u="none" cap="none" strike="noStrike">
              <a:solidFill>
                <a:schemeClr val="dk1"/>
              </a:solidFill>
              <a:latin typeface="Calibri"/>
              <a:ea typeface="Calibri"/>
              <a:cs typeface="Calibri"/>
              <a:sym typeface="Calibri"/>
            </a:endParaRPr>
          </a:p>
        </p:txBody>
      </p:sp>
      <p:sp>
        <p:nvSpPr>
          <p:cNvPr id="847" name="Google Shape;847;g3f34cb5792c_0_62"/>
          <p:cNvSpPr txBox="1"/>
          <p:nvPr/>
        </p:nvSpPr>
        <p:spPr>
          <a:xfrm>
            <a:off x="374575" y="1894900"/>
            <a:ext cx="8414700" cy="3694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US" sz="1800">
                <a:solidFill>
                  <a:schemeClr val="dk1"/>
                </a:solidFill>
                <a:latin typeface="Calibri"/>
                <a:ea typeface="Calibri"/>
                <a:cs typeface="Calibri"/>
                <a:sym typeface="Calibri"/>
              </a:rPr>
              <a:t>6. </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Write the algorithm to compute 0/1 Knapsack problem using dynamic </a:t>
            </a:r>
            <a:endParaRPr sz="1800">
              <a:solidFill>
                <a:schemeClr val="dk1"/>
              </a:solidFill>
              <a:latin typeface="Calibri"/>
              <a:ea typeface="Calibri"/>
              <a:cs typeface="Calibri"/>
              <a:sym typeface="Calibri"/>
            </a:endParaRPr>
          </a:p>
          <a:p>
            <a:pPr indent="457200" lvl="0" marL="0" rtl="0" algn="l">
              <a:spcBef>
                <a:spcPts val="0"/>
              </a:spcBef>
              <a:spcAft>
                <a:spcPts val="0"/>
              </a:spcAft>
              <a:buNone/>
            </a:pPr>
            <a:r>
              <a:rPr lang="en-US" sz="1800">
                <a:solidFill>
                  <a:schemeClr val="dk1"/>
                </a:solidFill>
                <a:latin typeface="Calibri"/>
                <a:ea typeface="Calibri"/>
                <a:cs typeface="Calibri"/>
                <a:sym typeface="Calibri"/>
              </a:rPr>
              <a:t>programming and explain it.</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US" sz="1800">
                <a:solidFill>
                  <a:schemeClr val="dk1"/>
                </a:solidFill>
                <a:latin typeface="Calibri"/>
                <a:ea typeface="Calibri"/>
                <a:cs typeface="Calibri"/>
                <a:sym typeface="Calibri"/>
              </a:rPr>
              <a:t>7. </a:t>
            </a:r>
            <a:r>
              <a:rPr lang="en-US" sz="1800">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Explain the Travelling salesman problem .</a:t>
            </a:r>
            <a:endParaRPr>
              <a:solidFill>
                <a:schemeClr val="dk1"/>
              </a:solidFill>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800">
                <a:solidFill>
                  <a:schemeClr val="dk1"/>
                </a:solidFill>
                <a:latin typeface="Calibri"/>
                <a:ea typeface="Calibri"/>
                <a:cs typeface="Calibri"/>
                <a:sym typeface="Calibri"/>
              </a:rPr>
              <a:t>8.</a:t>
            </a:r>
            <a:r>
              <a:rPr lang="en-US" sz="1800">
                <a:solidFill>
                  <a:schemeClr val="dk1"/>
                </a:solidFill>
                <a:latin typeface="Calibri"/>
                <a:ea typeface="Calibri"/>
                <a:cs typeface="Calibri"/>
                <a:sym typeface="Calibri"/>
              </a:rPr>
              <a:t> 	 Explain dynamic programming strategy? Enlist few applications which can be </a:t>
            </a:r>
            <a:endParaRPr sz="1800">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None/>
            </a:pPr>
            <a:r>
              <a:rPr lang="en-US" sz="1800">
                <a:solidFill>
                  <a:schemeClr val="dk1"/>
                </a:solidFill>
                <a:latin typeface="Calibri"/>
                <a:ea typeface="Calibri"/>
                <a:cs typeface="Calibri"/>
                <a:sym typeface="Calibri"/>
              </a:rPr>
              <a:t>solved by using dynamic programming.</a:t>
            </a:r>
            <a:endParaRPr>
              <a:solidFill>
                <a:schemeClr val="dk1"/>
              </a:solidFill>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rPr b="1" lang="en-US" sz="1800">
                <a:solidFill>
                  <a:schemeClr val="dk1"/>
                </a:solidFill>
                <a:latin typeface="Calibri"/>
                <a:ea typeface="Calibri"/>
                <a:cs typeface="Calibri"/>
                <a:sym typeface="Calibri"/>
              </a:rPr>
              <a:t>9.</a:t>
            </a:r>
            <a:r>
              <a:rPr lang="en-US" sz="1800">
                <a:solidFill>
                  <a:schemeClr val="dk1"/>
                </a:solidFill>
                <a:latin typeface="Calibri"/>
                <a:ea typeface="Calibri"/>
                <a:cs typeface="Calibri"/>
                <a:sym typeface="Calibri"/>
              </a:rPr>
              <a:t> 	Explain activity selection problem in detail with example.</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800">
              <a:solidFill>
                <a:schemeClr val="dk1"/>
              </a:solidFill>
              <a:latin typeface="Calibri"/>
              <a:ea typeface="Calibri"/>
              <a:cs typeface="Calibri"/>
              <a:sym typeface="Calibri"/>
            </a:endParaRPr>
          </a:p>
          <a:p>
            <a:pPr indent="-342900" lvl="0" marL="342900" rtl="0" algn="l">
              <a:spcBef>
                <a:spcPts val="0"/>
              </a:spcBef>
              <a:spcAft>
                <a:spcPts val="0"/>
              </a:spcAft>
              <a:buClr>
                <a:schemeClr val="dk1"/>
              </a:buClr>
              <a:buSzPts val="1800"/>
              <a:buFont typeface="Arial"/>
              <a:buNone/>
            </a:pPr>
            <a:r>
              <a:rPr b="1" lang="en-US" sz="1800">
                <a:solidFill>
                  <a:schemeClr val="dk1"/>
                </a:solidFill>
                <a:latin typeface="Calibri"/>
                <a:ea typeface="Calibri"/>
                <a:cs typeface="Calibri"/>
                <a:sym typeface="Calibri"/>
              </a:rPr>
              <a:t>10. 	</a:t>
            </a:r>
            <a:r>
              <a:rPr lang="en-US" sz="1800">
                <a:solidFill>
                  <a:schemeClr val="dk1"/>
                </a:solidFill>
                <a:latin typeface="Calibri"/>
                <a:ea typeface="Calibri"/>
                <a:cs typeface="Calibri"/>
                <a:sym typeface="Calibri"/>
              </a:rPr>
              <a:t>Explain Floyd’s Algorithm for all pair shortest path algorithm with example and </a:t>
            </a:r>
            <a:endParaRPr sz="1800">
              <a:solidFill>
                <a:schemeClr val="dk1"/>
              </a:solidFill>
              <a:latin typeface="Calibri"/>
              <a:ea typeface="Calibri"/>
              <a:cs typeface="Calibri"/>
              <a:sym typeface="Calibri"/>
            </a:endParaRPr>
          </a:p>
          <a:p>
            <a:pPr indent="-342900" lvl="0" marL="800100" rtl="0" algn="l">
              <a:spcBef>
                <a:spcPts val="0"/>
              </a:spcBef>
              <a:spcAft>
                <a:spcPts val="0"/>
              </a:spcAft>
              <a:buClr>
                <a:schemeClr val="dk1"/>
              </a:buClr>
              <a:buSzPts val="1800"/>
              <a:buFont typeface="Arial"/>
              <a:buNone/>
            </a:pPr>
            <a:r>
              <a:rPr lang="en-US" sz="1800">
                <a:solidFill>
                  <a:schemeClr val="dk1"/>
                </a:solidFill>
                <a:latin typeface="Calibri"/>
                <a:ea typeface="Calibri"/>
                <a:cs typeface="Calibri"/>
                <a:sym typeface="Calibri"/>
              </a:rPr>
              <a:t>analyze its efficiency.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g3f34cb5792c_0_7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53" name="Google Shape;853;g3f34cb5792c_0_7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54" name="Google Shape;854;g3f34cb5792c_0_7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55" name="Google Shape;855;g3f34cb5792c_0_7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Dept. of Computer Science &amp; Engineering</a:t>
            </a:r>
            <a:r>
              <a:rPr b="1" i="0" lang="en-US" sz="2300" u="none" cap="none" strike="noStrike">
                <a:solidFill>
                  <a:schemeClr val="lt1"/>
                </a:solidFill>
                <a:latin typeface="Arial"/>
                <a:ea typeface="Arial"/>
                <a:cs typeface="Arial"/>
                <a:sym typeface="Arial"/>
              </a:rPr>
              <a:t>. </a:t>
            </a:r>
            <a:endParaRPr b="1" i="0" sz="2300" u="none" cap="none" strike="noStrike">
              <a:solidFill>
                <a:schemeClr val="lt1"/>
              </a:solidFill>
              <a:latin typeface="Arial"/>
              <a:ea typeface="Arial"/>
              <a:cs typeface="Arial"/>
              <a:sym typeface="Arial"/>
            </a:endParaRPr>
          </a:p>
        </p:txBody>
      </p:sp>
      <p:sp>
        <p:nvSpPr>
          <p:cNvPr id="856" name="Google Shape;856;g3f34cb5792c_0_7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57" name="Google Shape;857;g3f34cb5792c_0_7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858" name="Google Shape;858;g3f34cb5792c_0_7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Cambria"/>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59" name="Google Shape;859;g3f34cb5792c_0_76"/>
          <p:cNvSpPr txBox="1"/>
          <p:nvPr/>
        </p:nvSpPr>
        <p:spPr>
          <a:xfrm>
            <a:off x="429904" y="1504664"/>
            <a:ext cx="8229600" cy="45261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0" lvl="0" marL="0" marR="0" rtl="0" algn="just">
              <a:lnSpc>
                <a:spcPct val="120000"/>
              </a:lnSpc>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Calibri"/>
              <a:buNone/>
            </a:pPr>
            <a:r>
              <a:t/>
            </a:r>
            <a:endParaRPr b="1" i="0" sz="2800" u="none" cap="none" strike="noStrike">
              <a:solidFill>
                <a:srgbClr val="F58634"/>
              </a:solidFill>
              <a:latin typeface="Arial"/>
              <a:ea typeface="Arial"/>
              <a:cs typeface="Arial"/>
              <a:sym typeface="Arial"/>
            </a:endParaRPr>
          </a:p>
        </p:txBody>
      </p:sp>
      <p:sp>
        <p:nvSpPr>
          <p:cNvPr id="860" name="Google Shape;860;g3f34cb5792c_0_7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88888"/>
              </a:buClr>
              <a:buSzPts val="1200"/>
              <a:buFont typeface="Calibri"/>
              <a:buNone/>
            </a:pPr>
            <a:fld id="{00000000-1234-1234-1234-123412341234}" type="slidenum">
              <a:rPr lang="en-US"/>
              <a:t>‹#›</a:t>
            </a:fld>
            <a:endParaRPr/>
          </a:p>
        </p:txBody>
      </p:sp>
      <p:sp>
        <p:nvSpPr>
          <p:cNvPr id="861" name="Google Shape;861;g3f34cb5792c_0_76"/>
          <p:cNvSpPr/>
          <p:nvPr/>
        </p:nvSpPr>
        <p:spPr>
          <a:xfrm>
            <a:off x="0" y="2653483"/>
            <a:ext cx="9144000" cy="9234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chemeClr val="dk1"/>
                </a:solidFill>
                <a:latin typeface="Calibri"/>
                <a:ea typeface="Calibri"/>
                <a:cs typeface="Calibri"/>
                <a:sym typeface="Calibri"/>
              </a:rPr>
              <a:t>THANK YOU</a:t>
            </a:r>
            <a:endParaRPr b="0" i="0" sz="1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2018-03-07T17:43:46Z</dcterms:created>
  <dc:creator>User</dc:creator>
</cp:coreProperties>
</file>